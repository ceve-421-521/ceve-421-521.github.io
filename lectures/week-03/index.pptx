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gif" ContentType="image/gi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notesMaster" Target="notesMasters/notesMaster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lecture around these two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Flash the equations—don’t derive them. Point is: this is physics, not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explain the equations. Just show that climate models solve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ARs are narrow corridors of concentrated moisture transport. They cause extreme precipitation when they make landfall.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TCs are organized vortices that convert ocean heat to kinetic energy. Harvey, Maria, Katrina—these are the billion-dollar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MCS are clusters of thunderstorms that organize and persist. They cause flash floods and severe weather.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Blocking = persistent high pressure that diverts the jet stream. Causes both heat waves and cold snaps depending on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insight: climate risk is not white noise. Temporal clustering = compound risk. Use the megadrought figure to show multi-decade droughts.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Bonnafous figure to show correlated risk across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wavelet analysis—variability at multiple timescales.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Drive home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GCMs actually do—numerical physics on a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schematic to show grid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for understanding what models can and cannot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approaches, each with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distinction is CRITICAL for Lab 3. Make sure students understand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RCP 8.5 ≠ business as usual. This sets up Wednesday’s IPCC reading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SLR is the Lab 3 topic—apply all the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41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figure to explain multiple contributors.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42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Thermal expansion vs ice melt have very different uncertainty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43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MISI/MICI are the “synoptic generators” of SLR tail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45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Norfolk sees faster rise than global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46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Summarize the five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48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 to Wednesday’s discussion and Friday’s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svs.gsfc.nasa.gov/3251/" TargetMode="External" /><Relationship Id="rId2" Type="http://schemas.openxmlformats.org/officeDocument/2006/relationships/image" Target="../media/image5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cimss.ssec.wisc.edu/goes/misc/970708.html" TargetMode="External" /><Relationship Id="rId2" Type="http://schemas.openxmlformats.org/officeDocument/2006/relationships/image" Target="../media/image6.gif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en.wikipedia.org/wiki/Block_(meteorology)" TargetMode="Externa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11.jpg" /><Relationship Id="rId2" Type="http://schemas.openxmlformats.org/officeDocument/2006/relationships/image" Target="../media/image10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12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13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7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jp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15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/f96k67" TargetMode="External" /><Relationship Id="rId3" Type="http://schemas.openxmlformats.org/officeDocument/2006/relationships/hyperlink" Target="https://doi.org/10.1002/jqs.1303" TargetMode="External" /><Relationship Id="rId4" Type="http://schemas.openxmlformats.org/officeDocument/2006/relationships/hyperlink" Target="https://doi.org/10.1029/2019ef001154" TargetMode="External" /><Relationship Id="rId5" Type="http://schemas.openxmlformats.org/officeDocument/2006/relationships/hyperlink" Target="https://doi.org/10.3389/feart.2014.00002" TargetMode="External" /><Relationship Id="rId6" Type="http://schemas.openxmlformats.org/officeDocument/2006/relationships/hyperlink" Target="https://doi.org/10.1002/2015rg000509" TargetMode="External" /><Relationship Id="rId7" Type="http://schemas.openxmlformats.org/officeDocument/2006/relationships/hyperlink" Target="https://doi.org/10.1038/d41586-020-00177-3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Climate Science and Scenarios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Motivating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What causes climate hazards?</a:t>
            </a:r>
          </a:p>
          <a:p>
            <a:pPr lvl="0" indent="-342900" marL="342900">
              <a:buAutoNum type="arabicPeriod"/>
            </a:pPr>
            <a:r>
              <a:rPr/>
              <a:t>What have we </a:t>
            </a:r>
            <a:r>
              <a:rPr i="1"/>
              <a:t>not</a:t>
            </a:r>
            <a:r>
              <a:rPr/>
              <a:t> observed that is still possible?</a:t>
            </a:r>
          </a:p>
          <a:p>
            <a:pPr lvl="0" indent="-342900" marL="342900">
              <a:buAutoNum type="arabicPeriod"/>
            </a:pPr>
            <a:r>
              <a:rPr/>
              <a:t>How might these pattern change in the future?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Climate System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Fluid on a Rotating 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Climate is governed by the Navier-Stokes equations on a rotating sphere, heated unevenly by the sun.</a:t>
            </a:r>
          </a:p>
          <a:p>
            <a:pPr lvl="0"/>
            <a:r>
              <a:rPr/>
              <a:t>Conservation of mass, momentum, energy</a:t>
            </a:r>
          </a:p>
          <a:p>
            <a:pPr lvl="0"/>
            <a:r>
              <a:rPr/>
              <a:t>Ocean + atmosphere + land + ice + water cycle</a:t>
            </a:r>
          </a:p>
          <a:p>
            <a:pPr lvl="0"/>
            <a:r>
              <a:rPr/>
              <a:t>Nonlinear interactions across scales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Equations of Motion</a:t>
            </a:r>
          </a:p>
        </p:txBody>
      </p:sp>
      <p:pic>
        <p:nvPicPr>
          <p:cNvPr descr="vallis_textbook_20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92700" y="1193800"/>
            <a:ext cx="313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Vallis (2006)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nnachi_review_20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3937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Hannachi et al. (2017)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Chaos and regimes</a:t>
            </a:r>
          </a:p>
          <a:p>
            <a:pPr lvl="0" indent="0" marL="0">
              <a:buNone/>
            </a:pPr>
            <a:r>
              <a:rPr/>
              <a:t>The climate behaves as a </a:t>
            </a:r>
            <a:r>
              <a:rPr i="1"/>
              <a:t>nonlinear dynamical system</a:t>
            </a:r>
            <a:r>
              <a:rPr/>
              <a:t> with characteristic </a:t>
            </a:r>
            <a:r>
              <a:rPr i="1"/>
              <a:t>modes</a:t>
            </a:r>
            <a:r>
              <a:rPr/>
              <a:t> or </a:t>
            </a:r>
            <a:r>
              <a:rPr i="1"/>
              <a:t>regimes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Weather vs. Climate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Weather Prediction</a:t>
            </a:r>
          </a:p>
          <a:p>
            <a:pPr lvl="0" indent="0" marL="0">
              <a:buNone/>
            </a:pPr>
            <a:r>
              <a:rPr/>
              <a:t>An </a:t>
            </a:r>
            <a:r>
              <a:rPr i="1"/>
              <a:t>initial value problem</a:t>
            </a:r>
          </a:p>
          <a:p>
            <a:pPr lvl="0"/>
            <a:r>
              <a:rPr/>
              <a:t>Sensitive to starting conditions</a:t>
            </a:r>
          </a:p>
          <a:p>
            <a:pPr lvl="0"/>
            <a:r>
              <a:rPr/>
              <a:t>Errors grow exponentially</a:t>
            </a:r>
          </a:p>
          <a:p>
            <a:pPr lvl="0"/>
            <a:r>
              <a:rPr/>
              <a:t>Predictability limit: ~2 weeks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Climate Projection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i="1"/>
              <a:t>boundary value problem</a:t>
            </a:r>
          </a:p>
          <a:p>
            <a:pPr lvl="0"/>
            <a:r>
              <a:rPr/>
              <a:t>Driven by energy inputs/outputs</a:t>
            </a:r>
          </a:p>
          <a:p>
            <a:pPr lvl="0"/>
            <a:r>
              <a:rPr/>
              <a:t>Shape of the attractor</a:t>
            </a:r>
          </a:p>
          <a:p>
            <a:pPr lvl="0"/>
            <a:r>
              <a:rPr/>
              <a:t>Statistics over decades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Means for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cannot predict what the weather will be on January 26, 2100. We </a:t>
            </a:r>
            <a:r>
              <a:rPr i="1"/>
              <a:t>can</a:t>
            </a:r>
            <a:r>
              <a:rPr/>
              <a:t> project the statistical properties:</a:t>
            </a:r>
          </a:p>
          <a:p>
            <a:pPr lvl="0"/>
            <a:r>
              <a:rPr/>
              <a:t>What temperature will it be on average?</a:t>
            </a:r>
          </a:p>
          <a:p>
            <a:pPr lvl="0"/>
            <a:r>
              <a:rPr/>
              <a:t>How likely is it that we get at least 2” of rain?</a:t>
            </a:r>
          </a:p>
          <a:p>
            <a:pPr lvl="0"/>
            <a:r>
              <a:rPr/>
              <a:t>What is the probability distribution of maximum wind speeds?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Generates Extremes?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Billion Dollar Disasters</a:t>
            </a:r>
          </a:p>
        </p:txBody>
      </p:sp>
      <p:pic>
        <p:nvPicPr>
          <p:cNvPr descr="billion_dollar_disasters_20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17700" y="1193800"/>
            <a:ext cx="530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U.S. billion-dollar weather and climate disasters. Source: NOAA NCEI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imeno_review_2014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1193800"/>
            <a:ext cx="236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Gimeno et al. (2014)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Atmospheric Rivers</a:t>
            </a:r>
          </a:p>
          <a:p>
            <a:pPr lvl="0" indent="0" marL="0">
              <a:buNone/>
            </a:pPr>
            <a:r>
              <a:rPr/>
              <a:t>Organized </a:t>
            </a:r>
            <a:r>
              <a:rPr i="1"/>
              <a:t>moisture transport</a:t>
            </a:r>
            <a:r>
              <a:rPr/>
              <a:t> from warm tropical and subtropical oceans drives a large fraction of midlatitude rainfall.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Tropical Cyclones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_katrina_2005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Hurricane Katrina (2005) from GOES-12 infrared satellite. Source: </a:t>
            </a:r>
            <a:r>
              <a:rPr>
                <a:hlinkClick r:id="rId3"/>
              </a:rPr>
              <a:t>NASA/NOAA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Organized vortices that convert ocean heat to kinetic energy:</a:t>
            </a:r>
          </a:p>
          <a:p>
            <a:pPr lvl="0"/>
            <a:r>
              <a:rPr/>
              <a:t>Require warm SSTs (&gt; 26°C) and low wind shear</a:t>
            </a:r>
          </a:p>
          <a:p>
            <a:pPr lvl="0"/>
            <a:r>
              <a:rPr/>
              <a:t>Strongest at landfall → storm surge, wind, rainfall</a:t>
            </a:r>
          </a:p>
          <a:p>
            <a:pPr lvl="0"/>
            <a:r>
              <a:rPr/>
              <a:t>Examples: Harvey (2017), Maria (2017), Katrina (2005)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Mesoscale Convective Systems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cs_goes8_1997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Mesoscale convective complex over the Great Plains (July 8, 1997). Source: </a:t>
            </a:r>
            <a:r>
              <a:rPr>
                <a:hlinkClick r:id="rId3"/>
              </a:rPr>
              <a:t>CIMSS Wisconsin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Organized clusters of thunderstorms (10–100 km):</a:t>
            </a:r>
          </a:p>
          <a:p>
            <a:pPr lvl="0"/>
            <a:r>
              <a:rPr/>
              <a:t>Persist longer than individual cells</a:t>
            </a:r>
          </a:p>
          <a:p>
            <a:pPr lvl="0"/>
            <a:r>
              <a:rPr/>
              <a:t>Responsible for most warm-season extreme rainfall</a:t>
            </a:r>
          </a:p>
          <a:p>
            <a:pPr lvl="0"/>
            <a:r>
              <a:rPr/>
              <a:t>Flash floods, derechos, hail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Blocking Patterns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_wikipedi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500 hPa geopotential height showing omega block over North America. Source: </a:t>
            </a:r>
            <a:r>
              <a:rPr>
                <a:hlinkClick r:id="rId3"/>
              </a:rPr>
              <a:t>Wikipedia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Persistent high-pressure systems that “block” normal flow:</a:t>
            </a:r>
          </a:p>
          <a:p>
            <a:pPr lvl="0"/>
            <a:r>
              <a:rPr/>
              <a:t>Divert the jet stream for days to weeks</a:t>
            </a:r>
          </a:p>
          <a:p>
            <a:pPr lvl="0"/>
            <a:r>
              <a:rPr/>
              <a:t>Heat waves (2021 Pacific Northwest, 2003 Europe)</a:t>
            </a:r>
          </a:p>
          <a:p>
            <a:pPr lvl="0"/>
            <a:r>
              <a:rPr/>
              <a:t>Can also cause persistent cold (Polar vortex disruptions)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Variability and Persistence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Climate Risks Cluster in Time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ok_megadroughts_20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1193800"/>
            <a:ext cx="236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Megadroughts in North America over the past 1200 years. Cook et al. (2010)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Climate extremes are not independent events.</a:t>
            </a:r>
          </a:p>
          <a:p>
            <a:pPr lvl="0"/>
            <a:r>
              <a:rPr/>
              <a:t>Droughts persist for years</a:t>
            </a:r>
          </a:p>
          <a:p>
            <a:pPr lvl="0"/>
            <a:r>
              <a:rPr/>
              <a:t>Wet periods cluster together</a:t>
            </a:r>
          </a:p>
          <a:p>
            <a:pPr lvl="0"/>
            <a:r>
              <a:rPr/>
              <a:t>Hurricane seasons vary dramatically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Climate Risks Cluster in Space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nnafous_waterrisk_20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40386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Spatial clustering of water risk exposure. Bonnafous et al. (2017)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Extremes are spatially correlated.</a:t>
            </a:r>
          </a:p>
          <a:p>
            <a:pPr lvl="0"/>
            <a:r>
              <a:rPr/>
              <a:t>Regional droughts affect portfolios</a:t>
            </a:r>
          </a:p>
          <a:p>
            <a:pPr lvl="0"/>
            <a:r>
              <a:rPr/>
              <a:t>Flood losses cluster geographically</a:t>
            </a:r>
          </a:p>
          <a:p>
            <a:pPr lvl="0"/>
            <a:r>
              <a:rPr/>
              <a:t>Insurance and infrastructure implications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so_global_impac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44600" y="1625600"/>
            <a:ext cx="24511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NOAA </a:t>
            </a:r>
            <a:r>
              <a:rPr>
                <a:latin typeface="Courier"/>
              </a:rPr>
              <a:t>climate.gov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ENSO</a:t>
            </a:r>
          </a:p>
          <a:p>
            <a:pPr lvl="0" indent="0" marL="0">
              <a:buNone/>
            </a:pPr>
            <a:r>
              <a:rPr/>
              <a:t>The El Niño-Southern Oscillation (ENSO) is the leading mode of variability of the tropical Pacific, with global teleconnections.</a:t>
            </a:r>
          </a:p>
        </p:txBody>
      </p:sp>
      <p:pic>
        <p:nvPicPr>
          <p:cNvPr descr="enso_what_is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13300" y="1625600"/>
            <a:ext cx="36830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355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NOAA </a:t>
            </a:r>
            <a:r>
              <a:rPr>
                <a:latin typeface="Courier"/>
              </a:rPr>
              <a:t>climate.gov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Modes of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Large-scale patterns organize climate variability:</a:t>
            </a:r>
          </a:p>
          <a:p>
            <a:pPr lvl="0"/>
            <a:r>
              <a:rPr b="1"/>
              <a:t>PDO:</a:t>
            </a:r>
            <a:r>
              <a:rPr/>
              <a:t> Pacific Decadal Oscillation (20–30 years)</a:t>
            </a:r>
          </a:p>
          <a:p>
            <a:pPr lvl="0"/>
            <a:r>
              <a:rPr b="1"/>
              <a:t>NAO:</a:t>
            </a:r>
            <a:r>
              <a:rPr/>
              <a:t> North Atlantic Oscillation</a:t>
            </a:r>
          </a:p>
          <a:p>
            <a:pPr lvl="0"/>
            <a:r>
              <a:rPr b="1"/>
              <a:t>AMO:</a:t>
            </a:r>
            <a:r>
              <a:rPr/>
              <a:t> Atlantic Multidecadal Oscillation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Multiscale Variability</a:t>
            </a:r>
          </a:p>
        </p:txBody>
      </p:sp>
      <p:pic>
        <p:nvPicPr>
          <p:cNvPr descr="doss-gollin_robustadaptation_201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Wavelet analysis reveals variability at multiple timescales. Doss-Gollin et al. (2019)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just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paleo record shows:</a:t>
            </a:r>
          </a:p>
          <a:p>
            <a:pPr lvl="0"/>
            <a:r>
              <a:rPr/>
              <a:t>Multi-decade droughts occurred without human influence</a:t>
            </a:r>
          </a:p>
          <a:p>
            <a:pPr lvl="0"/>
            <a:r>
              <a:rPr/>
              <a:t>The instrumental record (150 years) is a small sample</a:t>
            </a:r>
          </a:p>
          <a:p>
            <a:pPr lvl="0"/>
            <a:r>
              <a:rPr i="1"/>
              <a:t>Even without climate change</a:t>
            </a:r>
            <a:r>
              <a:rPr/>
              <a:t>, the recent past is a flawed predictor of future hazard.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Models and Their Limits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 Circulation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General Circulation Models (GCMs)</a:t>
            </a:r>
            <a:r>
              <a:rPr/>
              <a:t> solve physics on a 3D grid:</a:t>
            </a:r>
          </a:p>
          <a:p>
            <a:pPr lvl="0"/>
            <a:r>
              <a:rPr/>
              <a:t>Conservation equations for mass, energy, momentum</a:t>
            </a:r>
          </a:p>
          <a:p>
            <a:pPr lvl="0"/>
            <a:r>
              <a:rPr/>
              <a:t>Atmosphere, ocean, land, ice components</a:t>
            </a:r>
          </a:p>
          <a:p>
            <a:pPr lvl="0"/>
            <a:r>
              <a:rPr/>
              <a:t>Typical resolution: ~100 km grid cells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GCMs Work</a:t>
            </a:r>
          </a:p>
        </p:txBody>
      </p:sp>
      <p:pic>
        <p:nvPicPr>
          <p:cNvPr descr="climate_model_schematic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48000" y="1193800"/>
            <a:ext cx="3035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Climate models divide Earth into a 3D grid of cells. Source: NOAA Climate.gov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Resolution Limits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GCMs resolve features larger than ~100 km.</a:t>
            </a:r>
          </a:p>
          <a:p>
            <a:pPr lvl="0" indent="0" marL="0">
              <a:buNone/>
            </a:pPr>
            <a:r>
              <a:rPr/>
              <a:t>Many hazards are smaller: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Typical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Tropical cyclones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~50 km eye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Thunderstorms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Tornadoes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 km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Sub-grid processes must be </a:t>
            </a:r>
            <a:r>
              <a:rPr i="1"/>
              <a:t>parameterized</a:t>
            </a:r>
            <a:r>
              <a:rPr/>
              <a:t>, not resolved.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Translating GCM output to local scales: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Statistical Downscaling</a:t>
            </a:r>
          </a:p>
          <a:p>
            <a:pPr lvl="0"/>
            <a:r>
              <a:rPr/>
              <a:t>Empirical relationships</a:t>
            </a:r>
          </a:p>
          <a:p>
            <a:pPr lvl="0"/>
            <a:r>
              <a:rPr/>
              <a:t>Assumes stationarity of relationships</a:t>
            </a:r>
          </a:p>
          <a:p>
            <a:pPr lvl="0"/>
            <a:r>
              <a:rPr/>
              <a:t>Computationally cheap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Dynamical Downscaling</a:t>
            </a:r>
          </a:p>
          <a:p>
            <a:pPr lvl="0"/>
            <a:r>
              <a:rPr/>
              <a:t>Higher-resolution physics models</a:t>
            </a:r>
          </a:p>
          <a:p>
            <a:pPr lvl="0"/>
            <a:r>
              <a:rPr/>
              <a:t>Computationally expensive</a:t>
            </a:r>
          </a:p>
          <a:p>
            <a:pPr lvl="0"/>
            <a:r>
              <a:rPr/>
              <a:t>Inherits GCM biases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Distinction: Scenarios vs. Projections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Prediction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WILL happen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Tomorrow’s weather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Projection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WOULD happen IF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Temperature if CO₂ doubles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Scenario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Plausible pathway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RCP 8.5 emissions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Confusing these leads to poor decisions.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usfather_scenarios_202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168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Hausfather and Peters (2020)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Scenarios Are Not Predictions</a:t>
            </a:r>
          </a:p>
          <a:p>
            <a:pPr lvl="0"/>
            <a:r>
              <a:rPr/>
              <a:t>Scenarios are “what if” storylines</a:t>
            </a:r>
          </a:p>
          <a:p>
            <a:pPr lvl="0"/>
            <a:r>
              <a:rPr/>
              <a:t>They bracket human choices</a:t>
            </a:r>
          </a:p>
          <a:p>
            <a:pPr lvl="0"/>
            <a:r>
              <a:rPr/>
              <a:t>No probabilities attached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Sea Level Rise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Integrating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Sea level rise integrates everything we’ve discussed:</a:t>
            </a:r>
          </a:p>
          <a:p>
            <a:pPr lvl="0"/>
            <a:r>
              <a:rPr/>
              <a:t>Physical system (thermal expansion, ice dynamics)</a:t>
            </a:r>
          </a:p>
          <a:p>
            <a:pPr lvl="0"/>
            <a:r>
              <a:rPr/>
              <a:t>Variability (interannual, decadal)</a:t>
            </a:r>
          </a:p>
          <a:p>
            <a:pPr lvl="0"/>
            <a:r>
              <a:rPr/>
              <a:t>Model limitations (ice sheet uncertainty)</a:t>
            </a:r>
          </a:p>
          <a:p>
            <a:pPr lvl="0"/>
            <a:r>
              <a:rPr/>
              <a:t>Scenarios vs. projections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Components of Sea Level Rise</a:t>
            </a:r>
          </a:p>
        </p:txBody>
      </p:sp>
      <p:pic>
        <p:nvPicPr>
          <p:cNvPr descr="lsl-evolut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65200" y="1193800"/>
            <a:ext cx="7200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Local sea level is affected by multiple processes. Source: NOAA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Very Different Sources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Thermal Expansion</a:t>
            </a:r>
          </a:p>
          <a:p>
            <a:pPr lvl="0"/>
            <a:r>
              <a:rPr/>
              <a:t>Simple physics (warmer water expands)</a:t>
            </a:r>
          </a:p>
          <a:p>
            <a:pPr lvl="0"/>
            <a:r>
              <a:rPr/>
              <a:t>Well-constrained</a:t>
            </a:r>
          </a:p>
          <a:p>
            <a:pPr lvl="0"/>
            <a:r>
              <a:rPr/>
              <a:t>Scenario-driven uncertainty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Ice Sheet Melt</a:t>
            </a:r>
          </a:p>
          <a:p>
            <a:pPr lvl="0"/>
            <a:r>
              <a:rPr/>
              <a:t>Complex, threshold behaviors</a:t>
            </a:r>
          </a:p>
          <a:p>
            <a:pPr lvl="0"/>
            <a:r>
              <a:rPr/>
              <a:t>MISI/MICI processes</a:t>
            </a:r>
          </a:p>
          <a:p>
            <a:pPr lvl="0"/>
            <a:r>
              <a:rPr/>
              <a:t>Structural uncertainty dominates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Ice Sheet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Marine Ice Sheet Instability (MISI) and Marine Ice Cliff Instability (MICI):</a:t>
            </a:r>
          </a:p>
          <a:p>
            <a:pPr lvl="0"/>
            <a:r>
              <a:rPr/>
              <a:t>Potential for rapid, irreversible ice loss</a:t>
            </a:r>
          </a:p>
          <a:p>
            <a:pPr lvl="0"/>
            <a:r>
              <a:rPr/>
              <a:t>Physical processes are real but poorly constrained</a:t>
            </a:r>
          </a:p>
          <a:p>
            <a:pPr lvl="0"/>
            <a:r>
              <a:rPr/>
              <a:t>This is the tail risk for SLR</a:t>
            </a:r>
          </a:p>
          <a:p>
            <a:pPr lvl="0" indent="0" marL="0">
              <a:buNone/>
            </a:pPr>
            <a:r>
              <a:rPr/>
              <a:t>These processes are the “synoptic generators” of the SLR tail.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sea level ≠ global mean:</a:t>
            </a:r>
          </a:p>
          <a:p>
            <a:pPr lvl="0"/>
            <a:r>
              <a:rPr b="1"/>
              <a:t>Land subsidence:</a:t>
            </a:r>
            <a:r>
              <a:rPr/>
              <a:t> The ground is sinking</a:t>
            </a:r>
          </a:p>
          <a:p>
            <a:pPr lvl="0"/>
            <a:r>
              <a:rPr b="1"/>
              <a:t>Ocean circulation:</a:t>
            </a:r>
            <a:r>
              <a:rPr/>
              <a:t> Gulf Stream effects</a:t>
            </a:r>
          </a:p>
          <a:p>
            <a:pPr lvl="0"/>
            <a:r>
              <a:rPr b="1"/>
              <a:t>Gravitational fingerprints:</a:t>
            </a:r>
            <a:r>
              <a:rPr/>
              <a:t> Ice mass redistribution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Wrap Up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The System:</a:t>
            </a:r>
            <a:r>
              <a:rPr/>
              <a:t> Climate is chaotic physics; weather ≠ climate</a:t>
            </a:r>
          </a:p>
          <a:p>
            <a:pPr lvl="0" indent="-342900" marL="342900">
              <a:buAutoNum type="arabicPeriod"/>
            </a:pPr>
            <a:r>
              <a:rPr b="1"/>
              <a:t>Synoptic Generators:</a:t>
            </a:r>
            <a:r>
              <a:rPr/>
              <a:t> Extremes come from organized structures</a:t>
            </a:r>
          </a:p>
          <a:p>
            <a:pPr lvl="0" indent="-342900" marL="342900">
              <a:buAutoNum type="arabicPeriod"/>
            </a:pPr>
            <a:r>
              <a:rPr b="1"/>
              <a:t>Variability:</a:t>
            </a:r>
            <a:r>
              <a:rPr/>
              <a:t> Risk clusters in time and space; paleo shows what’s possible</a:t>
            </a:r>
          </a:p>
          <a:p>
            <a:pPr lvl="0" indent="-342900" marL="342900">
              <a:buAutoNum type="arabicPeriod"/>
            </a:pPr>
            <a:r>
              <a:rPr b="1"/>
              <a:t>Model Limits:</a:t>
            </a:r>
            <a:r>
              <a:rPr/>
              <a:t> GCMs are useful but not magic; resolution matters</a:t>
            </a:r>
          </a:p>
          <a:p>
            <a:pPr lvl="0" indent="-342900" marL="342900">
              <a:buAutoNum type="arabicPeriod"/>
            </a:pPr>
            <a:r>
              <a:rPr b="1"/>
              <a:t>Sea Level Rise:</a:t>
            </a:r>
            <a:r>
              <a:rPr/>
              <a:t> Integrates all uncertainties; Lab 3 case study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Wednesday:</a:t>
            </a:r>
            <a:r>
              <a:rPr/>
              <a:t> IPCC reading discussion on observed and projected changes</a:t>
            </a:r>
          </a:p>
          <a:p>
            <a:pPr lvl="0" indent="0" marL="0">
              <a:buNone/>
            </a:pPr>
            <a:r>
              <a:rPr b="1"/>
              <a:t>Friday (Lab 3):</a:t>
            </a:r>
          </a:p>
          <a:p>
            <a:pPr lvl="0"/>
            <a:r>
              <a:rPr/>
              <a:t>Load NOAA scenarios and BRICK projections for Sewells Point</a:t>
            </a:r>
          </a:p>
          <a:p>
            <a:pPr lvl="0"/>
            <a:r>
              <a:rPr/>
              <a:t>Compare scenario uncertainty vs. structural uncertainty</a:t>
            </a:r>
          </a:p>
          <a:p>
            <a:pPr lvl="0"/>
            <a:r>
              <a:rPr/>
              <a:t>Ask: Which matters more for the tail?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Bonnafous, Luc, Upmanu Lall, and Jason Siegel. 2017. “A Water Risk Index for Portfolio Exposure to Climatic Extremes: Conceptualization and an Application to the Mining Industry.” </a:t>
            </a:r>
            <a:r>
              <a:rPr i="1"/>
              <a:t>Hydrology and Earth System Sciences</a:t>
            </a:r>
            <a:r>
              <a:rPr/>
              <a:t> 21 (4): 2075–106. </a:t>
            </a:r>
            <a:r>
              <a:rPr>
                <a:hlinkClick r:id="rId2"/>
              </a:rPr>
              <a:t>https://doi.org/10/f96k67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Cook, Edward R, Richard Seager, Richard R Heim Jr, Russell S Vose, Celine Herweijer, and Connie Woodhouse. 2010. “Megadroughts in North America: Placing IPCC Projections of Hydroclimatic Change in a Long-Term Palaeoclimate Context.” </a:t>
            </a:r>
            <a:r>
              <a:rPr i="1"/>
              <a:t>Journal of Quaternary Science</a:t>
            </a:r>
            <a:r>
              <a:rPr/>
              <a:t> 25 (1): 48–61. </a:t>
            </a:r>
            <a:r>
              <a:rPr>
                <a:hlinkClick r:id="rId3"/>
              </a:rPr>
              <a:t>https://doi.org/10.1002/jqs.1303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Doss-Gollin, James, David J. Farnham, Scott Steinschneider, and Upmanu Lall. 2019. “Robust Adaptation to Multiscale Climate Variability.” </a:t>
            </a:r>
            <a:r>
              <a:rPr i="1"/>
              <a:t>Earth’s Future</a:t>
            </a:r>
            <a:r>
              <a:rPr/>
              <a:t> 7 (7): 734–47. </a:t>
            </a:r>
            <a:r>
              <a:rPr>
                <a:hlinkClick r:id="rId4"/>
              </a:rPr>
              <a:t>https://doi.org/10.1029/2019ef001154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Gimeno, Luis, Raquel Nieto, Marta Vázquez, and David A Lavers. 2014. “Atmospheric Rivers: A Mini-Review.” </a:t>
            </a:r>
            <a:r>
              <a:rPr i="1"/>
              <a:t>Frontiers in Earth Science</a:t>
            </a:r>
            <a:r>
              <a:rPr/>
              <a:t> 2 (March): 1063. </a:t>
            </a:r>
            <a:r>
              <a:rPr>
                <a:hlinkClick r:id="rId5"/>
              </a:rPr>
              <a:t>https://doi.org/10.3389/feart.2014.00002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Hannachi, Abdel, David M Straus, Christian L E Franzke, Susanna Corti, and Tim Woollings. 2017. “Low-Frequency Nonlinearity and Regime Behavior in the Northern Hemisphere Extratropical Atmosphere.” </a:t>
            </a:r>
            <a:r>
              <a:rPr i="1"/>
              <a:t>Reviews of Geophysics</a:t>
            </a:r>
            <a:r>
              <a:rPr/>
              <a:t> 55 (1): 199–234. </a:t>
            </a:r>
            <a:r>
              <a:rPr>
                <a:hlinkClick r:id="rId6"/>
              </a:rPr>
              <a:t>https://doi.org/10.1002/2015rg000509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Hausfather, Zeke, and Glen P. Peters. 2020. “Emissions – the ’Business as Usual’ Story Is Misleading.” </a:t>
            </a:r>
            <a:r>
              <a:rPr i="1"/>
              <a:t>Nature</a:t>
            </a:r>
            <a:r>
              <a:rPr/>
              <a:t> 577 (7792, 7792): 618–20. </a:t>
            </a:r>
            <a:r>
              <a:rPr>
                <a:hlinkClick r:id="rId7"/>
              </a:rPr>
              <a:t>https://doi.org/10.1038/d41586-020-00177-3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Vallis, Geoffrey K. 2006. </a:t>
            </a:r>
            <a:r>
              <a:rPr i="1"/>
              <a:t>Atmospheric and Oceanic Fluid Dynamics: Fundamentals and Large-Scale Circulation</a:t>
            </a:r>
            <a:r>
              <a:rPr/>
              <a:t>. Cambridge University Press.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Science and Scenarios</dc:title>
  <dc:creator>James Doss-Gollin</dc:creator>
  <cp:keywords/>
  <dcterms:created xsi:type="dcterms:W3CDTF">2026-04-06T19:29:11Z</dcterms:created>
  <dcterms:modified xsi:type="dcterms:W3CDTF">2026-04-06T19:29:11Z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>../../references.bib</vt:lpwstr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2026-01-26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institution">
    <vt:lpwstr>Rice University</vt:lpwstr>
  </property>
  <property fmtid="{D5CDD505-2E9C-101B-9397-08002B2CF9AE}" pid="15" name="labels">
    <vt:lpwstr/>
  </property>
  <property fmtid="{D5CDD505-2E9C-101B-9397-08002B2CF9AE}" pid="16" name="status">
    <vt:lpwstr>published</vt:lpwstr>
  </property>
  <property fmtid="{D5CDD505-2E9C-101B-9397-08002B2CF9AE}" pid="17" name="subtitle">
    <vt:lpwstr>Lecture</vt:lpwstr>
  </property>
  <property fmtid="{D5CDD505-2E9C-101B-9397-08002B2CF9AE}" pid="18" name="toc-title">
    <vt:lpwstr>Table of contents</vt:lpwstr>
  </property>
  <property fmtid="{D5CDD505-2E9C-101B-9397-08002B2CF9AE}" pid="19" name="week">
    <vt:lpwstr>3</vt:lpwstr>
  </property>
</Properties>
</file>
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notesMaster" Target="notesMasters/notesMaster1.xml" /><Relationship Id="rId12" Type="http://schemas.openxmlformats.org/officeDocument/2006/relationships/viewProps" Target="viewProps.xml" /><Relationship Id="rId1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4" Type="http://schemas.openxmlformats.org/officeDocument/2006/relationships/tableStyles" Target="tableStyles.xml" /><Relationship Id="rId13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1:02. Open with the hook — no framing yet, just the story. The Delta Works are an engineering marvel. But they were designed under a paradigm of “find the optimal solution and build it.” What happens when the assumptions behind that solution change? Sea-level rise projections in 1953 looked very different from today’s. Let the students sit with the tension: you can’t just optimize once for infrastructure that lasts centuries.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1:05. This is the hook and framing slide. Keep it brief. The point: students have been learning methods in isolation. Today is about synthesis. Emphasize the celebration: they have actually built a serious toolkit. That’s worth acknowledging.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1:06. Section break. Transition to the Haasnoot case study.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1:09. This motivates why standard optimization fails here. Lock-in is key: once you build a dike to a certain height, you can’t easily unbuild it. The decision is irreversible (or very costly to reverse), and the uncertainty is deep. Connect to Week 8: this is precisely the setting where robustness frameworks matter most.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1:12. This is the conceptual core of the lecture. Pathway = sequence of actions + adaptive triggers. The trigger might be: “when observed sea level rise exceeds X cm” or “when flood frequency exceeds Y per decade.” The key word is “observable” — the trigger has to be something you can actually measure. Draw this on the board if helpful: a timeline with decision points branching into multiple futures.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1:15. The pathway map is the central deliverable in Haasnoot et al. Walk through what it looks like: a horizontal timeline, branching action sequences, trigger thresholds marked. Key conceptual shift: the output of the analysis is not a recommendation but a structured menu of options with conditions for choosing among them. This is very different from “find the optimal policy.”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1:17. A quick contrast to anchor the idea. Don’t dwell — students should see this as a synthesis of ideas they already know. The bottom row is the most important: uncertainty isn’t something to minimize or quantify — it’s the thing that shapes how you design the 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1:18. Section 2: show how this case study uses each Module 3 tool. The goal is for students to see their course content as an integrated pipeline, not a list of separate methods.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1:21. This is Week 10 content: exploratory modeling. The emphasis is on mapping the performance landscape, not finding the optimal solution. Key framing: you’re not asking “what’s the best plan?” — you’re asking “under what conditions does any given plan fail?”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1:24. This is Week 10 content: PRIM / scenario discovery. The connection is direct: scenario discovery finds the conditions that define decision points. Example: “Strategy A fails when SLR &gt; 40 cm AND population growth &gt; 1.5%/year.” That box-shaped region in scenario space becomes a trigger: “switch to Strategy B when you observe these conditions.” This is a beautiful integration — scenario discovery literally generates the adaptive triggers.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1:27. Week 11: sequential decision making. Path dependencies are important: if you build a very tall dike now, you may foreclose the option to later convert to managed retreat. The pathway map visualizes these dependencies explicitly. “Portfolio level”: instead of optimizing one sequence, you design a set of sequences that together cover many futures.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1:30. Week 12: multi-objective optimization. The pathway map doesn’t produce a single recommendation — it produces a Pareto front of pathways. Decision-makers can then navigate trade-offs explicitly: “do we want the cheapest pathway, or the one that keeps the most options open?” Flexibility is worth calling out: this is a genuine objective, not just a constraint. Some pathways are more reversible than others, and that has real value under deep uncertainty.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1:32. This is the key synthesis slide of the lecture. The pipeline shows how the four Module 3 methods connect into a coherent workflow. Take a moment here: ask students if they can trace their own project through this pipeline. Not every project will use all four stages, but most will touch at least three.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1:33. Section 3: prepare students for Wednesday’s discussion with Dongwook. Give them analytical vocabulary to bring to the paper.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1:36. These five questions give students a scaffold for Wednesday’s discussion. They should arrive having thought through each of these for Haasnoot et al. Question 5 is often the most revealing: good papers are honest about what they can’t answer. For Haasnoot: what’s NOT captured? Implementation costs? Political feasibility? Equity across communities? Encourage students to push on the limits — that’s where the interesting science lives.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1:38. Specific prep questions for Wednesday. Dongwook will lead — your job is to set the stage so students come prepared. The last question (transferability) is particularly interesting: the Netherlands has specific institutional capacity, data quality, and political will. Does the method transfer to, say, a small island developing state? Don’t answer these here — just plant the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1:39. Section 4: connect everything to the final projects. This should feel energizing, not stressful. Students have done the work — now help them see it.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1:41. Reassurance slide: students have done substantial work. The framing here is important: their memo work wasn’t just homework — it was the actual analytical pipeline. The final presentation is not a new task; it’s communicating what they’ve already done.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1:43. This is the transition from “technical analysis” to “communication.” The executive briefing is a genre with its own conventions. The biggest mistake students make: leading with methods. No one cares. Lead with the decision. Lead with what’s at stake. Then bring in the evidence. “What could change your mind” is actually a sign of analytical sophistication, not weakness.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1:45. Practical slide structure advice. 7 slides for 15 minutes is about right — roughly 2 minutes per slide. “Cut ruthlessly” is the key message. Most students try to show everything they did. The presentation is not a summary of your work; it’s a persuasive argument for a recommendation. Practice out loud: this is not optional. Timing matters, and you can’t know your timing without actually speaking.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1:47. Give students 60 seconds of actual silence to think. This is a design exercise: what is the load-bearing finding? If they can’t answer in 60 seconds, their narrative isn’t clear yet — and that’s a signal to work on. After the pause, cold call 2–3 students to share their one key finding. This doubles as a preview of what presentations will cover next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1:48. Closing section — brief.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1:50. Close with genuine warmth — this is the last lecture. The final line (“everything from here is yours to use”) is the send-off. The toolkit they’ve built — Monte Carlo, robustness, scenario discovery, multi-objective trade-offs — is genuinely useful in the world. That’s worth saying out loud. Optional: brief acknowledgment that you’ve enjoyed the semester, invite questions in office hours, etc.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Relationship Id="rId3" Type="http://schemas.openxmlformats.org/officeDocument/2006/relationships/hyperlink" Target="https://doi.org/10.1007/s10584-012-0444-2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Studies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2026-04-13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The Problem with Perfect Plans</a:t>
            </a:r>
          </a:p>
          <a:p>
            <a:pPr lvl="0" indent="0" marL="0">
              <a:buNone/>
            </a:pPr>
            <a:r>
              <a:rPr/>
              <a:t>In 1953, catastrophic flooding killed over 1,800 people in the Netherlands.</a:t>
            </a:r>
          </a:p>
          <a:p>
            <a:pPr lvl="0" indent="0" marL="0">
              <a:buNone/>
            </a:pPr>
            <a:r>
              <a:rPr/>
              <a:t>The Dutch response: the Delta Works — a massive system of dams, sluices, and storm surge barriers.</a:t>
            </a:r>
          </a:p>
          <a:p>
            <a:pPr lvl="0" indent="0" marL="0">
              <a:buNone/>
            </a:pPr>
            <a:r>
              <a:rPr/>
              <a:t>Designed to last 200 years.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You’ve Spent 13 Weeks Building a Toolkit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Today we look at how someone actually used it.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A real case study of climate adaptation planning in the Netherlands — one that’s become a model for coastal cities around the world.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Then we turn the lens on your own projects.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Adaptive Pathways Approach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Core Challenge</a:t>
            </a:r>
          </a:p>
          <a:p>
            <a:pPr lvl="0" indent="0" marL="0">
              <a:buNone/>
            </a:pPr>
            <a:r>
              <a:rPr/>
              <a:t>The Netherlands faces deep uncertainty about:</a:t>
            </a:r>
          </a:p>
          <a:p>
            <a:pPr lvl="0"/>
            <a:r>
              <a:rPr/>
              <a:t>How much sea level will rise (and when)</a:t>
            </a:r>
          </a:p>
          <a:p>
            <a:pPr lvl="0"/>
            <a:r>
              <a:rPr/>
              <a:t>How socioeconomic conditions will change</a:t>
            </a:r>
          </a:p>
          <a:p>
            <a:pPr lvl="0"/>
            <a:r>
              <a:rPr/>
              <a:t>Whether existing infrastructure will be adequate in 50 or 100 years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Large infrastructure investments have </a:t>
            </a:r>
            <a:r>
              <a:rPr b="1"/>
              <a:t>very long lifetimes</a:t>
            </a:r>
            <a:r>
              <a:rPr/>
              <a:t> and </a:t>
            </a:r>
            <a:r>
              <a:rPr b="1"/>
              <a:t>high lock-in</a:t>
            </a:r>
            <a:r>
              <a:rPr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The Key Insight</a:t>
            </a:r>
          </a:p>
          <a:p>
            <a:pPr lvl="0" indent="0" marL="0">
              <a:buNone/>
            </a:pPr>
            <a:r>
              <a:rPr/>
              <a:t>There is no single “optimal” plan under deep uncertainty.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Instead: design </a:t>
            </a:r>
            <a:r>
              <a:rPr b="1"/>
              <a:t>pathways</a:t>
            </a:r>
            <a:r>
              <a:rPr/>
              <a:t> — sequences of actions that can be adjusted as we learn.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A pathway is a sequence of decisions where transitions are triggered by </a:t>
            </a:r>
            <a:r>
              <a:rPr b="1"/>
              <a:t>observable conditions</a:t>
            </a:r>
            <a:r>
              <a:rPr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Pathway Map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Pathway Map</a:t>
            </a:r>
            <a:r>
              <a:rPr sz="2000"/>
              <a:t> — a diagram showing possible sequences of actions across time, with transitions triggered by observed conditions.</a:t>
            </a:r>
          </a:p>
          <a:p>
            <a:pPr lvl="0"/>
            <a:r>
              <a:rPr/>
              <a:t>Each path represents a sequence of policy decisions</a:t>
            </a:r>
          </a:p>
          <a:p>
            <a:pPr lvl="0"/>
            <a:r>
              <a:rPr b="1"/>
              <a:t>Trigger conditions</a:t>
            </a:r>
            <a:r>
              <a:rPr/>
              <a:t> mark when to switch from one action to another</a:t>
            </a:r>
          </a:p>
          <a:p>
            <a:pPr lvl="0"/>
            <a:r>
              <a:rPr/>
              <a:t>Multiple paths accommodate multiple possible futures</a:t>
            </a:r>
          </a:p>
          <a:p>
            <a:pPr lvl="0"/>
            <a:r>
              <a:rPr/>
              <a:t>No single path is “the plan” — the map </a:t>
            </a:r>
            <a:r>
              <a:rPr i="1"/>
              <a:t>is</a:t>
            </a:r>
            <a:r>
              <a:rPr/>
              <a:t> the plan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What Makes Pathways Different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Traditional Approach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Adaptive Pathways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Optimize for one scenario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Perform under many scenarios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Static plan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Triggers for adaptation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Single recommendation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Menu of options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Uncertainty as risk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Uncertainty as driver of design</a:t>
                      </a:r>
                    </a:p>
                  </a:txBody>
                </a:tc>
              </a:tr>
            </a:tbl>
          </a:graphicData>
        </a:graphic>
      </p:graphicFrame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Methods in the Wild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Exploratory Modeling → Identify the Landscape</a:t>
            </a:r>
          </a:p>
          <a:p>
            <a:pPr lvl="0" indent="0" marL="0">
              <a:buNone/>
            </a:pPr>
            <a:r>
              <a:rPr/>
              <a:t>Run the system model across a large ensemble of futures:</a:t>
            </a:r>
          </a:p>
          <a:p>
            <a:pPr lvl="0"/>
            <a:r>
              <a:rPr/>
              <a:t>Vary: sea-level rise trajectories, precipitation, demand, socioeconomic growth</a:t>
            </a:r>
          </a:p>
          <a:p>
            <a:pPr lvl="0"/>
            <a:r>
              <a:rPr b="1"/>
              <a:t>Not</a:t>
            </a:r>
            <a:r>
              <a:rPr/>
              <a:t>: calibrate to a single best estimate</a:t>
            </a:r>
          </a:p>
          <a:p>
            <a:pPr lvl="0"/>
            <a:r>
              <a:rPr/>
              <a:t>Goal: map out </a:t>
            </a:r>
            <a:r>
              <a:rPr i="1"/>
              <a:t>where</a:t>
            </a:r>
            <a:r>
              <a:rPr/>
              <a:t> current strategies succeed and </a:t>
            </a:r>
            <a:r>
              <a:rPr i="1"/>
              <a:t>where</a:t>
            </a:r>
            <a:r>
              <a:rPr/>
              <a:t> they fail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Scenario Discovery → Find the Triggers</a:t>
            </a:r>
          </a:p>
          <a:p>
            <a:pPr lvl="0" indent="0" marL="0">
              <a:buNone/>
            </a:pPr>
            <a:r>
              <a:rPr/>
              <a:t>Use PRIM or similar to find:</a:t>
            </a:r>
          </a:p>
          <a:p>
            <a:pPr lvl="0" indent="0" marL="1270000">
              <a:buNone/>
            </a:pPr>
            <a:r>
              <a:rPr sz="2000"/>
              <a:t>“Under what combinations of future conditions does the current strategy become inadequate?”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Those failure conditions become the </a:t>
            </a:r>
            <a:r>
              <a:rPr b="1"/>
              <a:t>trigger thresholds</a:t>
            </a:r>
            <a:r>
              <a:rPr/>
              <a:t> in the pathway map.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Sequential Decisions → Design the Pathways</a:t>
            </a:r>
          </a:p>
          <a:p>
            <a:pPr lvl="0" indent="0" marL="0">
              <a:buNone/>
            </a:pPr>
            <a:r>
              <a:rPr/>
              <a:t>Once you know the triggers, design the sequences:</a:t>
            </a:r>
          </a:p>
          <a:p>
            <a:pPr lvl="0"/>
            <a:r>
              <a:rPr/>
              <a:t>What actions are available at each decision point?</a:t>
            </a:r>
          </a:p>
          <a:p>
            <a:pPr lvl="0"/>
            <a:r>
              <a:rPr/>
              <a:t>What are the path dependencies? (some options foreclose others)</a:t>
            </a:r>
          </a:p>
          <a:p>
            <a:pPr lvl="0"/>
            <a:r>
              <a:rPr/>
              <a:t>Which sequences are robust across many futures?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This is Week 11 content applied at the </a:t>
            </a:r>
            <a:r>
              <a:rPr b="1"/>
              <a:t>portfolio level</a:t>
            </a:r>
            <a:r>
              <a:rPr/>
              <a:t>, not just the individual decision level.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Multi-Objective → Evaluate the Pathways</a:t>
            </a:r>
          </a:p>
          <a:p>
            <a:pPr lvl="0" indent="0" marL="0">
              <a:buNone/>
            </a:pPr>
            <a:r>
              <a:rPr/>
              <a:t>Pathways are evaluated on multiple objectives simultaneously:</a:t>
            </a:r>
          </a:p>
          <a:p>
            <a:pPr lvl="0"/>
            <a:r>
              <a:rPr b="1"/>
              <a:t>Cost</a:t>
            </a:r>
            <a:r>
              <a:rPr/>
              <a:t>: upfront and lifecycle</a:t>
            </a:r>
          </a:p>
          <a:p>
            <a:pPr lvl="0"/>
            <a:r>
              <a:rPr b="1"/>
              <a:t>Safety</a:t>
            </a:r>
            <a:r>
              <a:rPr/>
              <a:t>: flood risk reduction across scenarios</a:t>
            </a:r>
          </a:p>
          <a:p>
            <a:pPr lvl="0"/>
            <a:r>
              <a:rPr b="1"/>
              <a:t>Flexibility</a:t>
            </a:r>
            <a:r>
              <a:rPr/>
              <a:t>: how many options remain open?</a:t>
            </a:r>
          </a:p>
          <a:p>
            <a:pPr lvl="0"/>
            <a:r>
              <a:rPr b="1"/>
              <a:t>Co-benefits</a:t>
            </a:r>
            <a:r>
              <a:rPr/>
              <a:t>: ecosystem services, recreation, equity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No single pathway dominates on all objectives → trade-off visualization (Week 12).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The Integrated Analysis Pipeline</a:t>
            </a:r>
          </a:p>
          <a:p>
            <a:pPr lvl="0" indent="0">
              <a:buNone/>
            </a:pPr>
            <a:r>
              <a:rPr>
                <a:latin typeface="Courier"/>
              </a:rPr>
              <a:t>Exploratory Modeling
        ↓
  large ensemble of futures
Scenario Discovery
        ↓
  trigger conditions (when to adapt)
Sequential Decision Design
        ↓
  pathway sequences (what to do)
Multi-Objective Evaluation
        ↓
  pathway trade-offs (which to recommend)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Reading a Case Study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Five Questions for Any Case Study</a:t>
            </a:r>
          </a:p>
          <a:p>
            <a:pPr lvl="0" indent="-342900" marL="342900">
              <a:buAutoNum type="arabicPeriod"/>
            </a:pPr>
            <a:r>
              <a:rPr b="1"/>
              <a:t>Decision context</a:t>
            </a:r>
            <a:r>
              <a:rPr/>
              <a:t>: Who decides? What’s at stake? What are the constraints?</a:t>
            </a:r>
          </a:p>
          <a:p>
            <a:pPr lvl="0" indent="-342900" marL="342900">
              <a:buAutoNum type="arabicPeriod"/>
            </a:pPr>
            <a:r>
              <a:rPr b="1"/>
              <a:t>System model</a:t>
            </a:r>
            <a:r>
              <a:rPr/>
              <a:t>: What’s captured? What’s left out?</a:t>
            </a:r>
          </a:p>
          <a:p>
            <a:pPr lvl="0" indent="-342900" marL="342900">
              <a:buAutoNum type="arabicPeriod"/>
            </a:pPr>
            <a:r>
              <a:rPr b="1"/>
              <a:t>Uncertainty characterization</a:t>
            </a:r>
            <a:r>
              <a:rPr/>
              <a:t>: Deep or well-characterized? How sampled?</a:t>
            </a:r>
          </a:p>
          <a:p>
            <a:pPr lvl="0" indent="-342900" marL="342900">
              <a:buAutoNum type="arabicPeriod"/>
            </a:pPr>
            <a:r>
              <a:rPr b="1"/>
              <a:t>Decision framework</a:t>
            </a:r>
            <a:r>
              <a:rPr/>
              <a:t>: Static or adaptive? Single or multi-objective?</a:t>
            </a:r>
          </a:p>
          <a:p>
            <a:pPr lvl="0" indent="-342900" marL="342900">
              <a:buAutoNum type="arabicPeriod"/>
            </a:pPr>
            <a:r>
              <a:rPr b="1"/>
              <a:t>Limits</a:t>
            </a:r>
            <a:r>
              <a:rPr/>
              <a:t>: What does this analysis NOT answer?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Prep: Haasnoot et al. (2012)</a:t>
            </a:r>
          </a:p>
          <a:p>
            <a:pPr lvl="0" indent="0" marL="0">
              <a:buNone/>
            </a:pPr>
            <a:r>
              <a:rPr b="1"/>
              <a:t>For Wednesday:</a:t>
            </a:r>
            <a:r>
              <a:rPr/>
              <a:t> Dongwook leads discussion on Haasnoot et al. (2012)</a:t>
            </a:r>
          </a:p>
          <a:p>
            <a:pPr lvl="0" indent="0" marL="0">
              <a:buNone/>
            </a:pPr>
            <a:r>
              <a:rPr/>
              <a:t>Come ready to address:</a:t>
            </a:r>
          </a:p>
          <a:p>
            <a:pPr lvl="0"/>
            <a:r>
              <a:rPr/>
              <a:t>What is the </a:t>
            </a:r>
            <a:r>
              <a:rPr i="1"/>
              <a:t>specific</a:t>
            </a:r>
            <a:r>
              <a:rPr/>
              <a:t> decision the pathways are designed for?</a:t>
            </a:r>
          </a:p>
          <a:p>
            <a:pPr lvl="0"/>
            <a:r>
              <a:rPr/>
              <a:t>What triggers are proposed, and how were they derived?</a:t>
            </a:r>
          </a:p>
          <a:p>
            <a:pPr lvl="0"/>
            <a:r>
              <a:rPr/>
              <a:t>What trade-offs does the paper surface — and which does it leave aside?</a:t>
            </a:r>
          </a:p>
          <a:p>
            <a:pPr lvl="0"/>
            <a:r>
              <a:rPr/>
              <a:t>How would you apply this approach somewhere other than the Netherlands?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Your Final Projects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You’ve Already Done the Analysis</a:t>
            </a:r>
          </a:p>
          <a:p>
            <a:pPr lvl="0" indent="0" marL="0">
              <a:buNone/>
            </a:pPr>
            <a:r>
              <a:rPr/>
              <a:t>Your project follows the same logic as Haasnoot et al.:</a:t>
            </a:r>
          </a:p>
          <a:p>
            <a:pPr lvl="0"/>
            <a:r>
              <a:rPr b="1"/>
              <a:t>Memo 1</a:t>
            </a:r>
            <a:r>
              <a:rPr/>
              <a:t>: Characterized uncertainties (X) and levers (L); built your model (R) and chose metrics (M)</a:t>
            </a:r>
          </a:p>
          <a:p>
            <a:pPr lvl="0"/>
            <a:r>
              <a:rPr b="1"/>
              <a:t>Memo 2</a:t>
            </a:r>
            <a:r>
              <a:rPr/>
              <a:t>: Evaluated evidence and robustness across scenarios</a:t>
            </a:r>
          </a:p>
          <a:p>
            <a:pPr lvl="0"/>
            <a:r>
              <a:rPr b="1"/>
              <a:t>Now</a:t>
            </a:r>
            <a:r>
              <a:rPr/>
              <a:t>: Synthesize into a coherent recommendation (or structured trade-offs)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 pipeline you’ve built </a:t>
            </a:r>
            <a:r>
              <a:rPr i="1"/>
              <a:t>is</a:t>
            </a:r>
            <a:r>
              <a:rPr/>
              <a:t> the analysis. The presentation is how you communicate it.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The Executive Briefing Challenge</a:t>
            </a:r>
          </a:p>
          <a:p>
            <a:pPr lvl="0" indent="0" marL="0">
              <a:buNone/>
            </a:pPr>
            <a:r>
              <a:rPr/>
              <a:t>A decision-maker doesn’t want to hear about your methodology.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They want to know:</a:t>
            </a:r>
          </a:p>
          <a:p>
            <a:pPr lvl="0"/>
            <a:r>
              <a:rPr b="1"/>
              <a:t>What’s at stake</a:t>
            </a:r>
            <a:r>
              <a:rPr/>
              <a:t> — why should they care?</a:t>
            </a:r>
          </a:p>
          <a:p>
            <a:pPr lvl="0"/>
            <a:r>
              <a:rPr b="1"/>
              <a:t>What you found</a:t>
            </a:r>
            <a:r>
              <a:rPr/>
              <a:t> — what does the evidence say?</a:t>
            </a:r>
          </a:p>
          <a:p>
            <a:pPr lvl="0"/>
            <a:r>
              <a:rPr b="1"/>
              <a:t>What to do</a:t>
            </a:r>
            <a:r>
              <a:rPr/>
              <a:t> — your recommendation, even if hedged</a:t>
            </a:r>
          </a:p>
          <a:p>
            <a:pPr lvl="0"/>
            <a:r>
              <a:rPr b="1"/>
              <a:t>What could change your mind</a:t>
            </a:r>
            <a:r>
              <a:rPr/>
              <a:t> — the key uncertainties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Slide Structure Suggestion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Slide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What’s at stake</a:t>
                      </a:r>
                      <a:r>
                        <a:rPr/>
                        <a:t> — the decision, the stakes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The key uncertainty</a:t>
                      </a:r>
                      <a:r>
                        <a:rPr/>
                        <a:t> — what you don’t know and why it matters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3–5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What you found</a:t>
                      </a:r>
                      <a:r>
                        <a:rPr/>
                        <a:t> — your main results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6–7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Recommendation</a:t>
                      </a:r>
                      <a:r>
                        <a:rPr/>
                        <a:t> — what to do, with conditions and limits</a:t>
                      </a:r>
                    </a:p>
                  </a:txBody>
                </a:tc>
              </a:tr>
            </a:tbl>
          </a:graphicData>
        </a:graphic>
      </p:graphicFrame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15 minutes goes fast. Cut ruthlessly. Practice out loud.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One Reflection Prompt</a:t>
            </a:r>
          </a:p>
          <a:p>
            <a:pPr lvl="0" indent="0" marL="0">
              <a:buNone/>
            </a:pPr>
            <a:r>
              <a:rPr b="1"/>
              <a:t>Think about your project for 60 seconds:</a:t>
            </a:r>
          </a:p>
          <a:p>
            <a:pPr lvl="0" indent="0" marL="1270000">
              <a:buNone/>
            </a:pPr>
            <a:r>
              <a:rPr sz="2000"/>
              <a:t>What is the single most important figure or finding you want your audience to remember after they leave the room?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That figure should be on slide 3 or 4. Everything else supports it.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Looking Ahead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This Week and Next</a:t>
            </a:r>
          </a:p>
          <a:p>
            <a:pPr lvl="0"/>
            <a:r>
              <a:rPr b="1"/>
              <a:t>Wednesday</a:t>
            </a:r>
            <a:r>
              <a:rPr/>
              <a:t>: Dongwook leads discussion of Haasnoot et al. (2012) — Come with your five questions answered</a:t>
            </a:r>
          </a:p>
          <a:p>
            <a:pPr lvl="0"/>
            <a:r>
              <a:rPr b="1"/>
              <a:t>Friday, Apr 17</a:t>
            </a:r>
            <a:r>
              <a:rPr/>
              <a:t>: Slides due — Treat this deadline seriously; practice requires finished slides</a:t>
            </a:r>
          </a:p>
          <a:p>
            <a:pPr lvl="0"/>
            <a:r>
              <a:rPr b="1"/>
              <a:t>Week 14 (Apr 20–24)</a:t>
            </a:r>
            <a:r>
              <a:rPr/>
              <a:t>: Executive Briefings — Treat it like a real client presentation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This is the end of the formal curriculum.</a:t>
            </a:r>
          </a:p>
          <a:p>
            <a:pPr lvl="0" indent="0" marL="0">
              <a:buNone/>
            </a:pPr>
            <a:r>
              <a:rPr/>
              <a:t>Everything from here is yours to use.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 indent="0" marL="0">
              <a:buNone/>
            </a:pPr>
            <a:r>
              <a:rPr/>
              <a:t>Haasnoot, Marjolijn, Hans Middelkoop, Astrid Offermans, Eelco van Beek, and Willem P. A. van Deursen. 2012. “Exploring Pathways for Sustainable Water Management in River Deltas in a Changing Environment.” </a:t>
            </a:r>
            <a:r>
              <a:rPr i="1"/>
              <a:t>Climatic Change</a:t>
            </a:r>
            <a:r>
              <a:rPr/>
              <a:t> 115 (3): 795–819. </a:t>
            </a:r>
            <a:r>
              <a:rPr>
                <a:hlinkClick r:id="rId3"/>
              </a:rPr>
              <a:t>https://doi.org/10.1007/s10584-012-0444-2</a:t>
            </a:r>
            <a:r>
              <a:rPr/>
              <a:t>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Case Studies</dc:title>
  <dc:creator>James Doss-Gollin</dc:creator>
  <cp:keywords/>
  <dcterms:created xsi:type="dcterms:W3CDTF">2026-04-09T22:27:02Z</dcterms:created>
  <dcterms:modified xsi:type="dcterms:W3CDTF">2026-04-09T22:27:02Z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2026-04-13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institution">
    <vt:lpwstr>Rice University</vt:lpwstr>
  </property>
  <property fmtid="{D5CDD505-2E9C-101B-9397-08002B2CF9AE}" pid="15" name="labels">
    <vt:lpwstr/>
  </property>
  <property fmtid="{D5CDD505-2E9C-101B-9397-08002B2CF9AE}" pid="16" name="status">
    <vt:lpwstr>draft</vt:lpwstr>
  </property>
  <property fmtid="{D5CDD505-2E9C-101B-9397-08002B2CF9AE}" pid="17" name="subtitle">
    <vt:lpwstr>Lecture</vt:lpwstr>
  </property>
  <property fmtid="{D5CDD505-2E9C-101B-9397-08002B2CF9AE}" pid="18" name="toc-title">
    <vt:lpwstr>Table of contents</vt:lpwstr>
  </property>
  <property fmtid="{D5CDD505-2E9C-101B-9397-08002B2CF9AE}" pid="19" name="week">
    <vt:lpwstr>13</vt:lpwstr>
  </property>
</Properties>
</file>
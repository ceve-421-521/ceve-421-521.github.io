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notesMaster" Target="notesMasters/notesMaster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Part 1: ~10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Orient students. Dark blue = below sea level. Light blue = flood-prone from rivers. Note the dike rings and storm surge barriers marked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The point: 1953 wasn’t a surprise. Warnings went back decades. WWII, competing priorities, and years without major flooding reduced urgency. Source: MIT.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Let the image sit. 1,836 dead. 72,000 evacuated. 200,000 hectares flooded. Dikes breached in 150+ locations.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Failure floods the Randstad (Amsterdam, Rotterdam, The Hague). Political commitment, not just engineering.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Maeslantkering = one of the largest moving structures on Earth. 40 years, billions of euros. 1-in-10,000 year design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60s think, 30s pair, cold-call 2-3. Open-ended on purpose — let students generate the concerns from course material. Don’t resolve. Collect answers, then transition to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One sentence, then play.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8-min video. No interruption. Pause briefly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Part 3: ~12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The Delta Works = textbook predict-then-act.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The Dutch kept the Delta Works AND added Room for the River. They didn’t choose one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Four Delta Scenarios (Warm, Rest, Busy, Steam) without probabilities. Individual structures still use probabilistic standards. Both coexist.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60s think, 30s pair, cold-call 2-3. Push students to steelman the side they disagree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Part 4: ~8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ATPs bridge scenario discovery (Week 10) and sequential decisions (Week 11). Numbers are illustrative.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1:39. Triggers must be observable, not predicted.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Walk through the figure: x-axis = time. Colored lines = adaptation options. Circles = transfer stations. Vertical bars = ATPs. Bottom rows = two scenarios. The map IS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Bottom row is key: uncertainty drives the design, not just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Part 5: ~6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1:49. 60s silence. Then cold-call 2-3.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1:49. Scaffold for Wednesday. Question 5 is the most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britannica.com/event/Delta-Works" TargetMode="External" /><Relationship Id="rId4" Type="http://schemas.openxmlformats.org/officeDocument/2006/relationships/image" Target="../media/image3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ww.youtube.com/watch?v=xPtRK6wu_t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Relationship Id="rId3" Type="http://schemas.openxmlformats.org/officeDocument/2006/relationships/hyperlink" Target="https://doi.org/10.1016/j.gloenvcha.2012.12.006" TargetMode="External" /><Relationship Id="rId4" Type="http://schemas.openxmlformats.org/officeDocument/2006/relationships/hyperlink" Target="https://doi.org/10.1088/1748-9326/ab666c" TargetMode="External" /><Relationship Id="rId5" Type="http://schemas.openxmlformats.org/officeDocument/2006/relationships/hyperlink" Target="https://doi.org/10.1061/(asce)wr.1943-5452.0000536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Studies: Dynamic Adaptive Policy Pathways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Background and 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Netherlands</a:t>
            </a:r>
          </a:p>
        </p:txBody>
      </p:sp>
      <p:pic>
        <p:nvPicPr>
          <p:cNvPr descr="haasnoot-antarctic-202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19600" y="203200"/>
            <a:ext cx="3403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Flood-prone zones (blue) and key flood defense infrastructure. Source: Haasnoot et al. (2020).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Long History of Flooding</a:t>
            </a:r>
          </a:p>
          <a:p>
            <a:pPr lvl="0" indent="0" marL="0">
              <a:buNone/>
            </a:pPr>
            <a:r>
              <a:rPr/>
              <a:t>The Dutch have been fighting water for centuries.</a:t>
            </a:r>
          </a:p>
          <a:p>
            <a:pPr lvl="0"/>
            <a:r>
              <a:rPr b="1"/>
              <a:t>1404, 1421:</a:t>
            </a:r>
            <a:r>
              <a:rPr/>
              <a:t> St. Elizabeth Floods reshape the coastline</a:t>
            </a:r>
          </a:p>
          <a:p>
            <a:pPr lvl="0"/>
            <a:r>
              <a:rPr b="1"/>
              <a:t>1530, 1570:</a:t>
            </a:r>
            <a:r>
              <a:rPr/>
              <a:t> Catastrophic North Sea floods kill tens of thousands</a:t>
            </a:r>
          </a:p>
          <a:p>
            <a:pPr lvl="0"/>
            <a:r>
              <a:rPr b="1"/>
              <a:t>1916:</a:t>
            </a:r>
            <a:r>
              <a:rPr/>
              <a:t> Zuider Zee flood triggers first modern flood protection program</a:t>
            </a:r>
          </a:p>
          <a:p>
            <a:pPr lvl="0"/>
            <a:r>
              <a:rPr b="1"/>
              <a:t>1928-1943:</a:t>
            </a:r>
            <a:r>
              <a:rPr/>
              <a:t> Repeated studies find dikes “seriously defective” — repairs delayed by WWII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came 1953.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February 1, 1953</a:t>
            </a:r>
          </a:p>
        </p:txBody>
      </p:sp>
      <p:pic>
        <p:nvPicPr>
          <p:cNvPr descr="flood-195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708400" y="203200"/>
            <a:ext cx="4813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Aerial view of flooding in the Netherlands, 1953. Source: Wikimedia Commons (public domain).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“Never Again”</a:t>
            </a:r>
          </a:p>
          <a:p>
            <a:pPr lvl="0" indent="0" marL="0">
              <a:buNone/>
            </a:pPr>
            <a:r>
              <a:rPr/>
              <a:t>The 1953 disaster reshaped Dutch politics.</a:t>
            </a:r>
          </a:p>
          <a:p>
            <a:pPr lvl="0"/>
            <a:r>
              <a:rPr/>
              <a:t>The </a:t>
            </a:r>
            <a:r>
              <a:rPr b="1"/>
              <a:t>Delta Commission</a:t>
            </a:r>
            <a:r>
              <a:rPr/>
              <a:t> was formed within weeks</a:t>
            </a:r>
          </a:p>
          <a:p>
            <a:pPr lvl="0"/>
            <a:r>
              <a:rPr/>
              <a:t>Parliament committed to a </a:t>
            </a:r>
            <a:r>
              <a:rPr b="1"/>
              <a:t>1-in-10,000 year</a:t>
            </a:r>
            <a:r>
              <a:rPr/>
              <a:t> protection standard for critical infrastructure</a:t>
            </a:r>
          </a:p>
          <a:p>
            <a:pPr lvl="0"/>
            <a:r>
              <a:rPr/>
              <a:t>The result: a 40-year, multi-billion euro construction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</a:t>
            </a:r>
            <a:r>
              <a:rPr b="1">
                <a:hlinkClick r:id="rId3"/>
              </a:rPr>
              <a:t>Delta Works</a:t>
            </a:r>
          </a:p>
        </p:txBody>
      </p:sp>
      <p:pic>
        <p:nvPicPr>
          <p:cNvPr descr="maeslantkering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228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The Maeslantkering storm surge barrier. Source: Wikimedia Commons / Rens Jacobs (CC BY-SA).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  <a:p>
            <a:pPr lvl="0" indent="0" marL="1270000">
              <a:buNone/>
            </a:pPr>
            <a:r>
              <a:rPr sz="2000" b="1"/>
              <a:t>Think-Pair-Share (90 seconds)</a:t>
            </a:r>
          </a:p>
          <a:p>
            <a:pPr lvl="0" indent="0" marL="1270000">
              <a:buNone/>
            </a:pPr>
            <a:r>
              <a:rPr sz="2000"/>
              <a:t>It’s 2026. You’re advising the Dutch government on whether the Delta Works are still adequate.</a:t>
            </a:r>
          </a:p>
          <a:p>
            <a:pPr lvl="0" indent="0" marL="1270000">
              <a:buNone/>
            </a:pPr>
            <a:r>
              <a:rPr sz="2000" b="1"/>
              <a:t>Using what you’ve learned in this course, what questions would you ask?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Room for the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Different Kind of Response</a:t>
            </a:r>
          </a:p>
          <a:p>
            <a:pPr lvl="0" indent="0" marL="0">
              <a:buNone/>
            </a:pPr>
            <a:r>
              <a:rPr/>
              <a:t>The Delta Works said: </a:t>
            </a:r>
            <a:r>
              <a:rPr b="1"/>
              <a:t>hold the line.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Starting in 2006, the Dutch tried something different.</a:t>
            </a:r>
          </a:p>
          <a:p>
            <a:pPr lvl="0" indent="0" marL="0">
              <a:buNone/>
            </a:pPr>
            <a:r>
              <a:rPr/>
              <a:t>Instead of raising dikes higher, they asked: what if we give the river more room?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Room for the River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https://www.youtube.com/watch?v=xPtRK6wu_tg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Debates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“Predict-Then-Act”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Traditional approach:</a:t>
            </a:r>
          </a:p>
          <a:p>
            <a:pPr lvl="0" indent="-342900" marL="342900">
              <a:buAutoNum type="arabicPeriod"/>
            </a:pPr>
            <a:r>
              <a:rPr/>
              <a:t>Make best forecast</a:t>
            </a:r>
          </a:p>
          <a:p>
            <a:pPr lvl="0" indent="-342900" marL="342900">
              <a:buAutoNum type="arabicPeriod"/>
            </a:pPr>
            <a:r>
              <a:rPr/>
              <a:t>Design optimal solution</a:t>
            </a:r>
          </a:p>
          <a:p>
            <a:pPr lvl="0" indent="-342900" marL="342900">
              <a:buAutoNum type="arabicPeriod"/>
            </a:pPr>
            <a:r>
              <a:rPr/>
              <a:t>Build it and hope</a:t>
            </a:r>
          </a:p>
          <a:p>
            <a:pPr lvl="0" indent="0" marL="0">
              <a:buNone/>
            </a:pPr>
            <a:r>
              <a:rPr/>
              <a:t>(is this a straw man? yes.)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Problems:</a:t>
            </a:r>
          </a:p>
          <a:p>
            <a:pPr lvl="0"/>
            <a:r>
              <a:rPr b="1"/>
              <a:t>Brittle:</a:t>
            </a:r>
            <a:r>
              <a:rPr/>
              <a:t> Optimal for one future, fails in others</a:t>
            </a:r>
          </a:p>
          <a:p>
            <a:pPr lvl="0"/>
            <a:r>
              <a:rPr b="1"/>
              <a:t>Divisive:</a:t>
            </a:r>
            <a:r>
              <a:rPr/>
              <a:t> Stakeholders disagree on which forecast to use</a:t>
            </a:r>
          </a:p>
          <a:p>
            <a:pPr lvl="0"/>
            <a:r>
              <a:rPr b="1"/>
              <a:t>Static:</a:t>
            </a:r>
            <a:r>
              <a:rPr/>
              <a:t> Hard to change course as you learn more</a:t>
            </a:r>
          </a:p>
          <a:p>
            <a:pPr lvl="0"/>
            <a:r>
              <a:rPr b="1"/>
              <a:t>Vulnerable:</a:t>
            </a:r>
            <a:r>
              <a:rPr/>
              <a:t> Fails catastrophically when surprised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Hold the Line vs. Adapt with Nature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Hold the Line</a:t>
            </a:r>
          </a:p>
          <a:p>
            <a:pPr lvl="0"/>
            <a:r>
              <a:rPr/>
              <a:t>Hard engineering: higher dikes, stronger barriers</a:t>
            </a:r>
          </a:p>
          <a:p>
            <a:pPr lvl="0"/>
            <a:r>
              <a:rPr/>
              <a:t>Protect existing land use and development</a:t>
            </a:r>
          </a:p>
          <a:p>
            <a:pPr lvl="0"/>
            <a:r>
              <a:rPr/>
              <a:t>Proven track record, measurable standards</a:t>
            </a:r>
          </a:p>
          <a:p>
            <a:pPr lvl="0"/>
            <a:r>
              <a:rPr/>
              <a:t>Clear design criteria and accountability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 with Nature</a:t>
            </a:r>
          </a:p>
          <a:p>
            <a:pPr lvl="0"/>
            <a:r>
              <a:rPr/>
              <a:t>Nature-based solutions, managed retreat</a:t>
            </a:r>
          </a:p>
          <a:p>
            <a:pPr lvl="0"/>
            <a:r>
              <a:rPr/>
              <a:t>Work with natural processes</a:t>
            </a:r>
          </a:p>
          <a:p>
            <a:pPr lvl="0"/>
            <a:r>
              <a:rPr/>
              <a:t>Multiple co-benefits (ecosystem services, recreation, equity)</a:t>
            </a:r>
          </a:p>
          <a:p>
            <a:pPr lvl="0"/>
            <a:r>
              <a:rPr/>
              <a:t>Flexibility across uncertain futures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Neither is obviously right.</a:t>
            </a:r>
            <a:r>
              <a:rPr/>
              <a:t> Real solutions likely involve both – but the </a:t>
            </a:r>
            <a:r>
              <a:rPr i="1"/>
              <a:t>balance</a:t>
            </a:r>
            <a:r>
              <a:rPr/>
              <a:t> depends on values, not just science.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the Dutch Actually Decided</a:t>
            </a:r>
          </a:p>
          <a:p>
            <a:pPr lvl="0" indent="0" marL="0">
              <a:buNone/>
            </a:pPr>
            <a:r>
              <a:rPr/>
              <a:t>The Delta Programme faced a choice you’ve seen before: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individual structures:</a:t>
            </a:r>
          </a:p>
          <a:p>
            <a:pPr lvl="0"/>
            <a:r>
              <a:rPr/>
              <a:t>Probabilistic design standards.</a:t>
            </a:r>
          </a:p>
          <a:p>
            <a:pPr lvl="0"/>
            <a:r>
              <a:rPr/>
              <a:t>1-in-10,000 year return periods.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long-term strategy:</a:t>
            </a:r>
          </a:p>
          <a:p>
            <a:pPr lvl="0"/>
            <a:r>
              <a:rPr/>
              <a:t>Scenarios, not probabilities.</a:t>
            </a:r>
          </a:p>
          <a:p>
            <a:pPr lvl="0"/>
            <a:r>
              <a:rPr/>
              <a:t>Four Delta Scenarios exploring divergent futures.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used </a:t>
            </a:r>
            <a:r>
              <a:rPr b="1"/>
              <a:t>both</a:t>
            </a:r>
            <a:r>
              <a:rPr/>
              <a:t> — probabilities where they could, scenarios where they couldn’t.</a:t>
            </a:r>
          </a:p>
          <a:p>
            <a:pPr lvl="0" indent="0" marL="0">
              <a:spcBef>
                <a:spcPts val="3000"/>
              </a:spcBef>
              <a:buNone/>
            </a:pPr>
          </a:p>
          <a:p>
            <a:pPr lvl="0" indent="0" marL="1270000">
              <a:buNone/>
            </a:pPr>
            <a:r>
              <a:rPr sz="2000" b="1"/>
              <a:t>Think-Pair-Share (90 seconds)</a:t>
            </a:r>
          </a:p>
          <a:p>
            <a:pPr lvl="0" indent="0" marL="1270000">
              <a:buNone/>
            </a:pPr>
            <a:r>
              <a:rPr sz="2000"/>
              <a:t>Which side of the “Hold the Line vs. Adapt with Nature” debate does the Room for the River video support?</a:t>
            </a:r>
          </a:p>
          <a:p>
            <a:pPr lvl="0" indent="0" marL="1270000">
              <a:buNone/>
            </a:pPr>
            <a:r>
              <a:rPr sz="2000" b="1"/>
              <a:t>What’s the strongest argument for the OTHER side?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Dynamic Adaptive Policy Pathways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Adaptation Tipping Points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b="1"/>
              <a:t>Adaptation Tipping Point (ATP)</a:t>
            </a:r>
            <a:r>
              <a:rPr/>
              <a:t> is the condition under which a strategy no longer meets its objectives.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Storm surge barrier effective up to </a:t>
            </a:r>
            <a:r>
              <a:rPr b="1"/>
              <a:t>2.5m</a:t>
            </a:r>
            <a:r>
              <a:rPr/>
              <a:t> sea-level rise</a:t>
            </a:r>
          </a:p>
          <a:p>
            <a:pPr lvl="0"/>
            <a:r>
              <a:rPr/>
              <a:t>Current evacuation plan works for population </a:t>
            </a:r>
            <a:r>
              <a:rPr b="1"/>
              <a:t>&lt; 150,000</a:t>
            </a:r>
          </a:p>
          <a:p>
            <a:pPr lvl="0"/>
            <a:r>
              <a:rPr/>
              <a:t>Nature-based solutions sufficient for rainfall </a:t>
            </a:r>
            <a:r>
              <a:rPr b="1"/>
              <a:t>&lt; 150 mm/day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ATPs tell us </a:t>
            </a:r>
            <a:r>
              <a:rPr b="1"/>
              <a:t>when</a:t>
            </a:r>
            <a:r>
              <a:rPr/>
              <a:t> we need to adapt, not just </a:t>
            </a:r>
            <a:r>
              <a:rPr b="1"/>
              <a:t>what</a:t>
            </a:r>
            <a:r>
              <a:rPr/>
              <a:t> to adapt to.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Pathway Map</a:t>
            </a:r>
          </a:p>
        </p:txBody>
      </p:sp>
      <p:pic>
        <p:nvPicPr>
          <p:cNvPr descr="haasnoot-2013-fig-6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38600" y="203200"/>
            <a:ext cx="4152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Adaptation pathways map for water management in the Netherlands. Source: Haasnoot et al. (2013).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and Connecting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</a:p>
          <a:p>
            <a:pPr lvl="0" indent="0" marL="1270000">
              <a:buNone/>
            </a:pPr>
            <a:r>
              <a:rPr sz="2000" b="1"/>
              <a:t>Write (60 seconds)</a:t>
            </a:r>
          </a:p>
          <a:p>
            <a:pPr lvl="0" indent="0" marL="1270000">
              <a:buNone/>
            </a:pPr>
            <a:r>
              <a:rPr sz="2000"/>
              <a:t>Trace your final project through this pipeline.</a:t>
            </a:r>
          </a:p>
          <a:p>
            <a:pPr lvl="0" indent="0" marL="1270000">
              <a:buNone/>
            </a:pPr>
            <a:r>
              <a:rPr sz="2000"/>
              <a:t>Which stages did you use? Which didn’t you need? Where did you spend the most time?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Steinschneider et al. (2015)</a:t>
            </a:r>
          </a:p>
          <a:p>
            <a:pPr lvl="0"/>
            <a:r>
              <a:rPr b="1"/>
              <a:t>Friday, Apr 17</a:t>
            </a:r>
            <a:r>
              <a:rPr/>
              <a:t>: No lab; you are encouraged to use the time to practice your final presentation</a:t>
            </a:r>
          </a:p>
          <a:p>
            <a:pPr lvl="0"/>
            <a:r>
              <a:rPr b="1"/>
              <a:t>Week 14 (Apr 20-24)</a:t>
            </a:r>
            <a:r>
              <a:rPr/>
              <a:t>: Final presentations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Jan H Kwakkel, Warren E Walker, and Judith ter Maat. 2013. “Dynamic Adaptive Policy Pathways: A Method for Crafting Robust Decisions for a Deeply Uncertain World.” </a:t>
            </a:r>
            <a:r>
              <a:rPr i="1"/>
              <a:t>Global Environmental Change</a:t>
            </a:r>
            <a:r>
              <a:rPr/>
              <a:t> 23 (2): 485–98. </a:t>
            </a:r>
            <a:r>
              <a:rPr>
                <a:hlinkClick r:id="rId3"/>
              </a:rPr>
              <a:t>https://doi.org/10.1016/j.gloenvcha.2012.12.006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Haasnoot, M., J. Kwadijk, J. van Alphen, et al. 2020. “Adaptation to Uncertain Sea-Level Rise: How Uncertainty in Antarctic Mass-Loss Impacts the Coastal Adaptation Strategy of the Netherlands.” </a:t>
            </a:r>
            <a:r>
              <a:rPr i="1"/>
              <a:t>Environmental Research Letters</a:t>
            </a:r>
            <a:r>
              <a:rPr/>
              <a:t> 15 (3): 034007. </a:t>
            </a:r>
            <a:r>
              <a:rPr>
                <a:hlinkClick r:id="rId4"/>
              </a:rPr>
              <a:t>https://doi.org/10.1088/1748-9326/ab666c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Steinschneider, Scott, Rachel McCrary, Sungwook Wi, Kevin Mulligan, Linda O Mearns, and Casey M Brown. 2015. “Expanded Decision-Scaling Framework to Select Robust Long-Term Water-System Plans Under Hydroclimatic Uncertainties.” </a:t>
            </a:r>
            <a:r>
              <a:rPr i="1"/>
              <a:t>Journal of Water Resources Planning and Management</a:t>
            </a:r>
            <a:r>
              <a:rPr/>
              <a:t> 141 (11). </a:t>
            </a:r>
            <a:r>
              <a:rPr>
                <a:hlinkClick r:id="rId5"/>
              </a:rPr>
              <a:t>https://doi.org/10.1061/(asce)wr.1943-5452.0000536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Studies: Dynamic Adaptive Policy Pathways</dc:title>
  <dc:creator>James Doss-Gollin</dc:creator>
  <cp:keywords/>
  <dcterms:created xsi:type="dcterms:W3CDTF">2026-04-13T16:38:15Z</dcterms:created>
  <dcterms:modified xsi:type="dcterms:W3CDTF">2026-04-13T16:38:15Z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
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notesMaster" Target="notesMasters/notesMaster1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1:03. “What drives failure?” is fundamentally different from “what’s the best policy?” — it doesn’t require aggregating over scenarios.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Target: 1:06. Parametric = what we’ve been sampling (MC, GSA). Structural = harder, requires multi-model ensembles. When both are large → deep uncertainty → need exploratory modeling.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Target: 1:08.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1:14. Key pushback response: “Can you validate a 2100 SLR projection? No. So what do we do with those models?” Not admitting defeat — using computation for what it’s good at: exploring a large space systematically.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Target: 1:17. 60s think, 30s pair, cold-call 2-3. Consolidative: weather (&lt; 10 days), bridge loads, orbits. Exploratory: 50-year flood risk, pandemic policy, energy transitions. Distinguishing factor: can you validate on the relevant timescale?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Target: 1:19. Key distinction from standard MC: exploratory modeling varies X and L simultaneously — “what happens under different policies AND different futures?”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1:20.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Target: 1:23. Step 3 is a value judgment — the failure threshold is the analyst’s choice. Lab 8 implements all five steps. Multi-policy example: Lamontagne et al. vary the policy lever alongside uncertainties.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1:25. Lab 8 uses PRIM. Today: logistic regression via Lamontagne, then PRIM.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Target: 1:28. Greedy algorithm — locally optimal splits, not globally optimal. This is why trees can be unstable. Gini penalizes impurity quadratically: 50/50 is much worse than 70/30, driving the algorithm to find the most informative splits first.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Target: 1:31. 30s think, then 2-3 responses. Key answer: communicability. “Fails when SLR &gt; X and discount rate &lt; Y” can go in a report. A forest gives a probability but no simple explanation.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1:33. Same geometry as PRIM boxes, but CART splits top-down while PRIM peels from outside in. Draw the 2D partition on the board if time allows.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Target: 1:35. 90s write, 60s pairs, cold-call 2-3. Key point: failure definition is a value judgment — different definitions → different scenario discovery results. Their intuition may be wrong; that’s what SD is for.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Target: 1:37. Not predicting which scenario is “likely” — asking: given this combination of inputs, what’s the probability of failure? Key limitation: decision boundary is a hyperplane (flat). Failures in a corner of input space require interaction terms.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Target: 1:40. Connection to GSA: Sobol indices rank by variance explained; logistic regression ranks by log-odds and gives direction (positive/negative).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Target: 1:42. GSA and scenario discovery complement each other: GSA tells you which factors matter, SD tells you where things go wrong. Wednesday digs into the figures.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Target: 1:44. Near-term warming is locked in (physics); long-term depends on what we do now. SD gives you “what drives outcomes,” not “what will happen.” For Wednesday: why do time-varying Sobol indices (Fig 2b-d) tell a different story than time-aggregated (Fig 2a)?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Target: 1:46. Box = axis-aligned rectangle. Key design choice: interpretability — communicable to non-technical audiences. “Patient” contrasts with CART’s larger splits. Students implement PRIM in Lab 8.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Target: 1:47. Coverage = recall. Density = precision. Full space → coverage 1, density = base rate. Tiny box → density ~1, low coverage.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Target: 1:48. Analogy: fishing net. Large net = high coverage, lots of bycatch. Fine mesh = high density, small haul. Safety-critical → prefer coverage. Communication → prefer density. Knee-point usually works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1:49. 60s write, 3-4 responses. Box A: high coverage, low density. Box B: good balance. Box C: very specific, misses most failures. No “right” answer — the choice depends on values and context.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Target: 1:50. Preview only — keep conceptual, math is on next slide.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Target: 1:50. High alpha → more sensitive to water level (bad for risk growth, good for dike effectiveness). Students will discover this through PRIM on Friday.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1:50. Don’t spoil the twist — let them discover that changing the failure definition changes which uncertainties matter.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Target: 1:50. Memo 1 reminder: students should have a complete XLRM diagram and narrative.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1:50. Take names verbally. Each person also preps one discussion question. &lt; 6 students: combine slots 5+6. &gt; 6: split Fig 2b-d into individual panels.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5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6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7.xml" /><Relationship Id="rId3" Type="http://schemas.openxmlformats.org/officeDocument/2006/relationships/hyperlink" Target="https://github.com/Project-Platypus/Rhodium/tree/master/examples/Eijgenraam" TargetMode="Externa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8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Relationship Id="rId3" Type="http://schemas.openxmlformats.org/officeDocument/2006/relationships/hyperlink" Target="https://doi.org/10/c7rgcr" TargetMode="External" /><Relationship Id="rId4" Type="http://schemas.openxmlformats.org/officeDocument/2006/relationships/hyperlink" Target="https://doi.org/10.1287/inte.2013.0721" TargetMode="External" /><Relationship Id="rId5" Type="http://schemas.openxmlformats.org/officeDocument/2006/relationships/hyperlink" Target="https://doi.org/10.1038/s41558-019-0426-8" TargetMode="External" /><Relationship Id="rId6" Type="http://schemas.openxmlformats.org/officeDocument/2006/relationships/hyperlink" Target="https://doi.org/10.1029/2021EF002644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Exploratory Modeling &amp; Scenario Discovery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</a:t>
            </a:r>
            <a:br/>
            <a:br/>
            <a:r>
              <a:rPr/>
              <a:t>James Doss-Gollin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2026-03-23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From Lab 7: What Drove Failure?</a:t>
            </a:r>
          </a:p>
          <a:p>
            <a:pPr lvl="0" indent="0" marL="0">
              <a:buNone/>
            </a:pPr>
            <a:r>
              <a:rPr/>
              <a:t>So far you have three tools for analyzing decisions under uncertainty:</a:t>
            </a:r>
          </a:p>
          <a:p>
            <a:pPr lvl="0"/>
            <a:r>
              <a:rPr b="1"/>
              <a:t>GSA</a:t>
            </a:r>
            <a:r>
              <a:rPr/>
              <a:t> (Week 7): which inputs explain the most variance in outcomes?</a:t>
            </a:r>
          </a:p>
          <a:p>
            <a:pPr lvl="0"/>
            <a:r>
              <a:rPr b="1"/>
              <a:t>Value of Information</a:t>
            </a:r>
            <a:r>
              <a:rPr/>
              <a:t> (Week 8): would learning more change your decision?</a:t>
            </a:r>
          </a:p>
          <a:p>
            <a:pPr lvl="0"/>
            <a:r>
              <a:rPr b="1"/>
              <a:t>Robustness</a:t>
            </a:r>
            <a:r>
              <a:rPr/>
              <a:t> (Week 8): how well does a policy hold up across scenarios?</a:t>
            </a: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/>
              <a:t>Today: </a:t>
            </a:r>
            <a:r>
              <a:rPr b="1"/>
              <a:t>which conditions in that ensemble actually drove failure?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Uncertainty in Simulation Models</a:t>
            </a:r>
          </a:p>
          <a:p>
            <a:pPr lvl="0" indent="0" marL="0">
              <a:buNone/>
            </a:pPr>
            <a:r>
              <a:rPr/>
              <a:t>Srikrishnan et al. (2022) distinguish three sources of uncertainty in coupled human-natural systems:</a:t>
            </a:r>
          </a:p>
          <a:p>
            <a:pPr lvl="0"/>
            <a:r>
              <a:rPr b="1"/>
              <a:t>Parametric uncertainty</a:t>
            </a:r>
            <a:r>
              <a:rPr/>
              <a:t>: we know the model structure, but not the exact parameter values</a:t>
            </a:r>
            <a:br/>
            <a:r>
              <a:rPr i="1"/>
              <a:t>Example: climate sensitivity, damage function coefficients</a:t>
            </a:r>
            <a:br/>
            <a:r>
              <a:rPr/>
              <a:t>This is the target of Monte Carlo sampling and GSA (Weeks 4, 7).</a:t>
            </a:r>
          </a:p>
          <a:p>
            <a:pPr lvl="0"/>
            <a:r>
              <a:rPr b="1"/>
              <a:t>Structural uncertainty</a:t>
            </a:r>
            <a:r>
              <a:rPr/>
              <a:t>: we don’t agree on which equations represent the system</a:t>
            </a:r>
            <a:br/>
            <a:r>
              <a:rPr i="1"/>
              <a:t>Example: ice sheet dynamics, damage function form, discount rate model</a:t>
            </a:r>
            <a:br/>
            <a:r>
              <a:rPr/>
              <a:t>Requires running multiple model structures — a multi-model ensemble.</a:t>
            </a:r>
          </a:p>
          <a:p>
            <a:pPr lvl="0"/>
            <a:r>
              <a:rPr b="1"/>
              <a:t>Sampling uncertainty</a:t>
            </a:r>
            <a:r>
              <a:rPr/>
              <a:t>: finite samples from stochastic processes</a:t>
            </a:r>
            <a:br/>
            <a:r>
              <a:rPr i="1"/>
              <a:t>Example: 30 years of storm surge records from a non-stationary climate</a:t>
            </a:r>
            <a:br/>
            <a:r>
              <a:rPr/>
              <a:t>Addressable with more data or better sampling designs, but never fully eliminated.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Defining uncertainty</a:t>
            </a:r>
          </a:p>
        </p:txBody>
      </p:sp>
      <p:pic>
        <p:nvPicPr>
          <p:cNvPr descr="srikrishnan_fig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619500" y="203200"/>
            <a:ext cx="50038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Figure 1: Srikrishnan et al. (2022)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Exploratory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Consolidative vs. Exploratory Modeling</a:t>
            </a:r>
          </a:p>
          <a:p>
            <a:pPr lvl="0" indent="0" marL="0">
              <a:buNone/>
            </a:pPr>
            <a:r>
              <a:rPr/>
              <a:t>Bankes (1993) identifies two fundamentally different uses of simulation models: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Consolidative modeling</a:t>
            </a:r>
          </a:p>
          <a:p>
            <a:pPr lvl="0"/>
            <a:r>
              <a:rPr/>
              <a:t>Synthesize all available knowledge into one best model</a:t>
            </a:r>
          </a:p>
          <a:p>
            <a:pPr lvl="0"/>
            <a:r>
              <a:rPr/>
              <a:t>Use it to </a:t>
            </a:r>
            <a:r>
              <a:rPr b="1"/>
              <a:t>predict</a:t>
            </a:r>
            <a:r>
              <a:rPr/>
              <a:t> outcomes</a:t>
            </a:r>
          </a:p>
          <a:p>
            <a:pPr lvl="0"/>
            <a:r>
              <a:rPr/>
              <a:t>Works when you can validate the model against data over the relevant horizon</a:t>
            </a:r>
          </a:p>
          <a:p>
            <a:pPr lvl="0" indent="0" marL="0">
              <a:buNone/>
            </a:pPr>
            <a:r>
              <a:rPr i="1"/>
              <a:t>Examples: calibrated GCMs for physical climate projection, structural engineering load analysis, tidal prediction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Exploratory modeling</a:t>
            </a:r>
          </a:p>
          <a:p>
            <a:pPr lvl="0"/>
            <a:r>
              <a:rPr/>
              <a:t>Use computation to systematically explore the </a:t>
            </a:r>
            <a:r>
              <a:rPr i="1"/>
              <a:t>space</a:t>
            </a:r>
            <a:r>
              <a:rPr/>
              <a:t> of plausible models and assumptions</a:t>
            </a:r>
          </a:p>
          <a:p>
            <a:pPr lvl="0"/>
            <a:r>
              <a:rPr/>
              <a:t>Each run is a </a:t>
            </a:r>
            <a:r>
              <a:rPr b="1"/>
              <a:t>computational experiment</a:t>
            </a:r>
            <a:r>
              <a:rPr/>
              <a:t> probing one corner of the assumption space</a:t>
            </a:r>
          </a:p>
          <a:p>
            <a:pPr lvl="0" indent="0" marL="0">
              <a:buNone/>
            </a:pPr>
            <a:r>
              <a:rPr i="1"/>
              <a:t>Examples: century-scale climate adaptation, integrated assessment of climate policy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. . .</a:t>
                </a:r>
              </a:p>
              <a:p>
                <a:pPr lvl="0" indent="0" marL="0">
                  <a:buNone/>
                </a:pPr>
                <a:r>
                  <a:rPr/>
                  <a:t>The key criterion: </a:t>
                </a:r>
                <a:r>
                  <a:rPr b="1"/>
                  <a:t>can you validate the model?</a:t>
                </a:r>
                <a:r>
                  <a:rPr/>
                  <a:t> For decadal-to-century scale socio-environmental systems, the answer is usually no.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Discussion: When Is Consolidative Modeling Enough?</a:t>
                </a:r>
              </a:p>
              <a:p>
                <a:pPr lvl="0" indent="0" marL="1270000">
                  <a:buNone/>
                </a:pPr>
                <a:r>
                  <a:rPr sz="2000" b="1"/>
                  <a:t>Think-Pair-Share (90 seconds)</a:t>
                </a:r>
              </a:p>
              <a:p>
                <a:pPr lvl="0" indent="0" marL="1270000">
                  <a:buNone/>
                </a:pPr>
                <a:r>
                  <a:rPr sz="2000"/>
                  <a:t>Give two examples of problems where a consolidative model is appropriate, and one where it is not. What distinguishes them?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What Exploratory Modeling Requires</a:t>
                </a:r>
              </a:p>
              <a:p>
                <a:pPr lvl="0" indent="0" marL="0">
                  <a:buNone/>
                </a:pPr>
                <a:r>
                  <a:rPr/>
                  <a:t>Running thousands of scenarios across uncertain parameters </a:t>
                </a:r>
                <a:r>
                  <a:rPr i="1"/>
                  <a:t>and</a:t>
                </a:r>
                <a:r>
                  <a:rPr/>
                  <a:t> policy choices: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(</m:t>
                      </m:r>
                      <m:r>
                        <m:rPr>
                          <m:sty m:val="b"/>
                        </m:rPr>
                        <m:t>X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rPr>
                          <m:sty m:val="b"/>
                        </m:rPr>
                        <m:t>L</m:t>
                      </m:r>
                      <m:r>
                        <m:rPr>
                          <m:sty m:val="p"/>
                        </m:rPr>
                        <m:t>)</m:t>
                      </m:r>
                      <m:limUpp>
                        <m:e>
                          <m:r>
                            <m:rPr>
                              <m:sty m:val="p"/>
                            </m:rPr>
                            <m:t>→</m:t>
                          </m:r>
                        </m:e>
                        <m:lim>
                          <m:r>
                            <m:rPr>
                              <m:sty m:val="b"/>
                            </m:rPr>
                            <m:t>R</m:t>
                          </m:r>
                        </m:lim>
                      </m:limUpp>
                      <m:r>
                        <m:rPr>
                          <m:sty m:val="b"/>
                        </m:rPr>
                        <m:t>M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. . .</a:t>
                </a:r>
              </a:p>
              <a:p>
                <a:pPr lvl="0"/>
                <a:r>
                  <a:rPr b="1"/>
                  <a:t>X</a:t>
                </a:r>
                <a:r>
                  <a:rPr/>
                  <a:t>: uncertain inputs — varied across their plausible range</a:t>
                </a:r>
              </a:p>
              <a:p>
                <a:pPr lvl="0"/>
                <a:r>
                  <a:rPr b="1"/>
                  <a:t>L</a:t>
                </a:r>
                <a:r>
                  <a:rPr/>
                  <a:t>: policy levers — varied to compare strategies</a:t>
                </a:r>
              </a:p>
              <a:p>
                <a:pPr lvl="0"/>
                <a:r>
                  <a:rPr b="1"/>
                  <a:t>R</a:t>
                </a:r>
                <a:r>
                  <a:rPr/>
                  <a:t>: system model — the simulation being run</a:t>
                </a:r>
              </a:p>
              <a:p>
                <a:pPr lvl="0"/>
                <a:r>
                  <a:rPr b="1"/>
                  <a:t>M</a:t>
                </a:r>
                <a:r>
                  <a:rPr/>
                  <a:t>: metrics — the outcomes we track</a:t>
                </a:r>
              </a:p>
              <a:p>
                <a:pPr lvl="0" indent="0" marL="0">
                  <a:buNone/>
                </a:pPr>
                <a:r>
                  <a:rPr/>
                  <a:t>. . .</a:t>
                </a:r>
              </a:p>
              <a:p>
                <a:pPr lvl="0" indent="0" marL="0">
                  <a:buNone/>
                </a:pPr>
                <a:r>
                  <a:rPr/>
                  <a:t>A large ensemble maps the </a:t>
                </a:r>
                <a:r>
                  <a:rPr b="1"/>
                  <a:t>outcome space</a:t>
                </a:r>
                <a:r>
                  <a:rPr/>
                  <a:t>: how metrics vary across the full space of assumptions and decisions.</a:t>
                </a:r>
              </a:p>
            </p:txBody>
          </p:sp>
        </mc:Choice>
      </mc:AlternateContent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Scenario Discovery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/>
              <p:cNvSpPr>
                <a:spLocks noGrp="1"/>
              </p:cNvSpPr>
              <p:nvPr>
                <p:ph idx="2" sz="half" type="body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The Scenario Discovery Workflow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Define</a:t>
                </a:r>
                <a:r>
                  <a:rPr/>
                  <a:t> one or many policies to evaluate</a:t>
                </a:r>
                <a:br/>
                <a:r>
                  <a:rPr i="1"/>
                  <a:t>e.g., elevate house by 1 meter; or compare 0.5m, 1m, 1.5m elevations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Run</a:t>
                </a:r>
                <a:r>
                  <a:rPr/>
                  <a:t> the model across a large ensemble: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 draws of uncertain inputs </a:t>
                </a:r>
                <a14:m>
                  <m:oMath xmlns:m="http://schemas.openxmlformats.org/officeDocument/2006/math">
                    <m:r>
                      <m:rPr>
                        <m:sty m:val="b"/>
                      </m:rPr>
                      <m:t>X</m:t>
                    </m:r>
                  </m:oMath>
                </a14:m>
              </a:p>
              <a:p>
                <a:pPr lvl="0" indent="-342900" marL="342900">
                  <a:buAutoNum type="arabicPeriod"/>
                </a:pPr>
                <a:r>
                  <a:rPr b="1"/>
                  <a:t>Label</a:t>
                </a:r>
                <a:r>
                  <a:rPr/>
                  <a:t> each run: success (</a:t>
                </a:r>
                <a14:m>
                  <m:oMath xmlns:m="http://schemas.openxmlformats.org/officeDocument/2006/math">
                    <m:r>
                      <m:t>y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</m:oMath>
                </a14:m>
                <a:r>
                  <a:rPr/>
                  <a:t>) or failure (</a:t>
                </a:r>
                <a14:m>
                  <m:oMath xmlns:m="http://schemas.openxmlformats.org/officeDocument/2006/math">
                    <m:r>
                      <m:t>y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</m:t>
                    </m:r>
                  </m:oMath>
                </a14:m>
                <a:r>
                  <a:rPr/>
                  <a:t>) based on a metric threshold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Classify</a:t>
                </a:r>
                <a:r>
                  <a:rPr/>
                  <a:t>: find which regions of </a:t>
                </a:r>
                <a14:m>
                  <m:oMath xmlns:m="http://schemas.openxmlformats.org/officeDocument/2006/math">
                    <m:r>
                      <m:rPr>
                        <m:sty m:val="b"/>
                      </m:rPr>
                      <m:t>X</m:t>
                    </m:r>
                  </m:oMath>
                </a14:m>
                <a:r>
                  <a:rPr/>
                  <a:t>-space concentrate failures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Interpret</a:t>
                </a:r>
                <a:r>
                  <a:rPr/>
                  <a:t>: translate the classification into narrative scenarios</a:t>
                </a:r>
              </a:p>
              <a:p>
                <a:pPr lvl="0" indent="0" marL="0">
                  <a:buNone/>
                </a:pPr>
                <a:r>
                  <a:rPr/>
                  <a:t>. . .</a:t>
                </a:r>
              </a:p>
              <a:p>
                <a:pPr lvl="0" indent="0" marL="0">
                  <a:buNone/>
                </a:pPr>
                <a:r>
                  <a:rPr/>
                  <a:t>Sometimes we want to find what breaks a </a:t>
                </a:r>
                <a:r>
                  <a:rPr i="1"/>
                  <a:t>single</a:t>
                </a:r>
                <a:r>
                  <a:rPr/>
                  <a:t> policy. Sometimes we want to compare which scenarios break </a:t>
                </a:r>
                <a:r>
                  <a:rPr i="1"/>
                  <a:t>different</a:t>
                </a:r>
                <a:r>
                  <a:rPr/>
                  <a:t> policies.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How Do We Classify? A Spectrum of Methods</a:t>
                </a:r>
              </a:p>
              <a:p>
                <a:pPr lvl="0" indent="0" marL="0">
                  <a:buNone/>
                </a:pPr>
                <a:r>
                  <a:rPr/>
                  <a:t>Three common approaches, each with different tradeoffs:</a:t>
                </a:r>
              </a:p>
              <a:p>
                <a:pPr lvl="0" indent="0" marL="0">
                  <a:buNone/>
                </a:pPr>
                <a:r>
                  <a:rPr/>
                  <a:t>. . .</a:t>
                </a:r>
              </a:p>
            </p:txBody>
          </p:sp>
        </mc:Choice>
      </mc:AlternateContent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Strength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Weakness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Logistic regression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Familiar; interpretable coefficients; probabilistic output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Assumes linear decision boundary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CART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Visual; handles interactions; no linearity assumption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Can overfit; splits can be unstable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PRIM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Designed for scenario discovery; coverage/density tradeoff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Less familiar; requires tuning</a:t>
                      </a:r>
                    </a:p>
                  </a:txBody>
                </a:tc>
              </a:tr>
            </a:tbl>
          </a:graphicData>
        </a:graphic>
      </p:graphicFrame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7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mc:AlternateContent xmlns:mc="http://schemas.openxmlformats.org/markup-compatibility/2006"><mc:Choice xmlns:a14="http://schemas.microsoft.com/office/drawing/2010/main" Requires="a14"><p:sp><p:nvSpPr><p:cNvPr id="4" name="Text Placeholder 3" /><p:cNvSpPr><a:spLocks noGrp="1" /></p:cNvSpPr><p:nvPr><p:ph idx="2" sz="half" type="body" /></p:nvPr></p:nvSpPr><p:spPr /><p:txBody><a:bodyPr /><a:lstStyle /><a:p><a:pPr lvl="0" indent="0" marL="0"><a:buNone /></a:pPr><a:r><a:rPr /><a:t>. . .</a:t></a:r></a:p><a:p><a:pPr lvl="0" indent="0" marL="0"><a:buNone /></a:pPr><a:r><a:rPr /><a:t>The right choice depends on the problem — interpretability often matters more than classification accuracy.</a:t></a:r></a:p><a:p><a:pPr lvl="0" indent="0" marL="0"><a:spcBef><a:spcPts val="3000" /></a:spcBef><a:buNone /></a:pPr><a:r><a:rPr b="1" /><a:t>CART: Recursive Splitting</a:t></a:r></a:p><a:p><a:pPr lvl="0" indent="0" marL="0"><a:buNone /></a:pPr><a:r><a:rPr /><a:t>CART partitions the input space by recursive binary splits. At each node, find the variable </a:t></a:r><a14:m><m:oMath xmlns:m="http://schemas.openxmlformats.org/officeDocument/2006/math"><m:sSub><m:e><m:r><m:t>X</m:t></m:r></m:e><m:sub><m:r><m:t>k</m:t></m:r></m:sub></m:sSub></m:oMath></a14:m><a:r><a:rPr /><a:t> and threshold </a:t></a:r><a14:m><m:oMath xmlns:m="http://schemas.openxmlformats.org/officeDocument/2006/math"><m:r><m:t>t</m:t></m:r></m:oMath></a14:m><a:r><a:rPr /><a:t> that minimizes </a:t></a:r><a:r><a:rPr b="1" /><a:t>Gini impurity</a:t></a:r><a:r><a:rPr /><a:t> in the two resulting child nodes:</a:t></a:r></a:p><a:p><a:pPr lvl="0" indent="0" marL="0"><a:buNone /></a:pPr><a14:m><m:oMathPara xmlns:m="http://schemas.openxmlformats.org/officeDocument/2006/math"><m:oMathParaPr><m:jc m:val="center" /></m:oMathParaPr><m:oMath><m:sSub><m:e><m:r><m:t>G</m:t></m:r></m:e><m:sub><m:r><m:t>m</m:t></m:r></m:sub></m:sSub><m:r><m:rPr><m:sty m:val="p" /></m:rPr><m:t>=</m:t></m:r><m:r><m:t>2</m:t></m:r><m:r><m:t> </m:t></m:r><m:sSub><m:e><m:r><m:t>p</m:t></m:r></m:e><m:sub><m:r><m:t>m</m:t></m:r></m:sub></m:sSub><m:r><m:t> </m:t></m:r><m:r><m:rPr><m:sty m:val="p" /></m:rPr><m:t>(</m:t></m:r><m:r><m:t>1</m:t></m:r><m:r><m:rPr><m:sty m:val="p" /></m:rPr><m:t>−</m:t></m:r><m:sSub><m:e><m:r><m:t>p</m:t></m:r></m:e><m:sub><m:r><m:t>m</m:t></m:r></m:sub></m:sSub><m:r><m:rPr><m:sty m:val="p" /></m:rPr><m:t>)</m:t></m:r></m:oMath></m:oMathPara></a14:m></a:p><a:p><a:pPr lvl="0" indent="0" marL="0"><a:buNone /></a:pPr><a:r><a:rPr /><a:t>where </a:t></a:r><a14:m><m:oMath xmlns:m="http://schemas.openxmlformats.org/officeDocument/2006/math"><m:sSub><m:e><m:r><m:t>p</m:t></m:r></m:e><m:sub><m:r><m:t>m</m:t></m:r></m:sub></m:sSub></m:oMath></a14:m><a:r><a:rPr /><a:t> is the fraction of failures in node </a:t></a:r><a14:m><m:oMath xmlns:m="http://schemas.openxmlformats.org/officeDocument/2006/math"><m:r><m:t>m</m:t></m:r></m:oMath></a14:m><a:r><a:rPr /><a:t> (</a:t></a:r><a14:m><m:oMath xmlns:m="http://schemas.openxmlformats.org/officeDocument/2006/math"><m:sSub><m:e><m:r><m:t>G</m:t></m:r></m:e><m:sub><m:r><m:t>m</m:t></m:r></m:sub></m:sSub><m:r><m:rPr><m:sty m:val="p" /></m:rPr><m:t>=</m:t></m:r><m:r><m:t>0</m:t></m:r></m:oMath></a14:m><a:r><a:rPr /><a:t> is pure; </a:t></a:r><a14:m><m:oMath xmlns:m="http://schemas.openxmlformats.org/officeDocument/2006/math"><m:sSub><m:e><m:r><m:t>G</m:t></m:r></m:e><m:sub><m:r><m:t>m</m:t></m:r></m:sub></m:sSub><m:r><m:rPr><m:sty m:val="p" /></m:rPr><m:t>=</m:t></m:r><m:r><m:t>0.5</m:t></m:r></m:oMath></a14:m><a:r><a:rPr /><a:t> is maximally mixed).</a:t></a:r></a:p><a:p><a:pPr lvl="0" indent="0" marL="0"><a:buNone /></a:pPr><a:r><a:rPr /><a:t>. . .</a:t></a:r></a:p><a:p><a:pPr lvl="0" indent="0" marL="0"><a:buNone /></a:pPr><a14:m><m:oMathPara xmlns:m="http://schemas.openxmlformats.org/officeDocument/2006/math"><m:oMathParaPr><m:jc m:val="center" /></m:oMathParaPr><m:oMath><m:r><m:rPr><m:nor /><m:sty m:val="p" /></m:rPr><m:t>Best split: </m:t></m:r><m:limLow><m:e><m:r><m:rPr><m:sty m:val="p" /></m:rPr><m:t>arg</m:t></m:r><m:r><m:rPr><m:sty m:val="p" /></m:rPr><m:t>min</m:t></m:r></m:e><m:lim><m:sSub><m:e><m:r><m:t>X</m:t></m:r></m:e><m:sub><m:r><m:t>k</m:t></m:r></m:sub></m:sSub><m:r><m:rPr><m:sty m:val="p" /></m:rPr><m:t>,</m:t></m:r><m:r><m:t> </m:t></m:r><m:r><m:t>t</m:t></m:r></m:lim></m:limLow><m:r><m:t> </m:t></m:r><m:f><m:fPr><m:type m:val="bar" /></m:fPr><m:num><m:sSub><m:e><m:r><m:t>N</m:t></m:r></m:e><m:sub><m:r><m:t>L</m:t></m:r></m:sub></m:sSub></m:num><m:den><m:r><m:t>N</m:t></m:r></m:den></m:f><m:sSub><m:e><m:r><m:t>G</m:t></m:r></m:e><m:sub><m:r><m:t>L</m:t></m:r></m:sub></m:sSub><m:r><m:rPr><m:sty m:val="p" /></m:rPr><m:t>+</m:t></m:r><m:f><m:fPr><m:type m:val="bar" /></m:fPr><m:num><m:sSub><m:e><m:r><m:t>N</m:t></m:r></m:e><m:sub><m:r><m:t>R</m:t></m:r></m:sub></m:sSub></m:num><m:den><m:r><m:t>N</m:t></m:r></m:den></m:f><m:sSub><m:e><m:r><m:t>G</m:t></m:r></m:e><m:sub><m:r><m:t>R</m:t></m:r></m:sub></m:sSub></m:oMath></m:oMathPara></a14:m></a:p><a:p><a:pPr lvl="0" indent="0" marL="0"><a:buNone /></a:pPr><a:r><a:rPr /><a:t>. . .</a:t></a:r></a:p><a:p><a:pPr lvl="0" indent="0" marL="0"><a:buNone /></a:pPr><a:r><a:rPr /><a:t>Why minimize Gini? Each split should make the children as </a:t></a:r><a:r><a:rPr i="1" /><a:t>pure</a:t></a:r><a:r><a:rPr /><a:t> as possible — nodes where almost all scenarios are failures, or almost none are.</a:t></a:r></a:p><a:p><a:pPr lvl="0" indent="0" marL="0"><a:spcBef><a:spcPts val="3000" /></a:spcBef><a:buNone /></a:pPr><a:r><a:rPr b="1" /><a:t>CART vs. Random Forests</a:t></a:r></a:p><a:p><a:pPr lvl="0" indent="0" marL="0"><a:buNone /></a:pPr><a:r><a:rPr /><a:t>A single CART tree is a </a:t></a:r><a:r><a:rPr b="1" /><a:t>deterministic</a:t></a:r><a:r><a:rPr /><a:t> partition: one tree, one set of rules.</a:t></a:r></a:p><a:p><a:pPr lvl="0" indent="0" marL="0"><a:buNone /></a:pPr><a:r><a:rPr /><a:t>. . .</a:t></a:r></a:p><a:p><a:pPr lvl="0" indent="0" marL="0"><a:buNone /></a:pPr><a:r><a:rPr /><a:t>A </a:t></a:r><a:r><a:rPr b="1" /><a:t>random forest</a:t></a:r><a:r><a:rPr /><a:t> builds hundreds of trees, each on a random subsample of the data and features, then averages their predictions.</a:t></a:r></a:p><a:p><a:pPr lvl="0" /><a:r><a:rPr /><a:t>Random forests are more accurate and more stable</a:t></a:r></a:p><a:p><a:pPr lvl="0" /><a:r><a:rPr /><a:t>But the output is a black box — you can’t read off simple “if/then” rules</a:t></a:r></a:p><a:p><a:pPr lvl="0" /><a:r><a:rPr /><a:t>For scenario discovery, we want </a:t></a:r><a:r><a:rPr i="1" /><a:t>interpretable boundaries</a:t></a:r><a:r><a:rPr /><a:t>, not maximum accuracy</a:t></a:r></a:p><a:p><a:pPr lvl="0" indent="0" marL="0"><a:buNone /></a:pPr><a:r><a:rPr /><a:t>. . .</a:t></a:r></a:p><a:p><a:pPr lvl="0" indent="0" marL="1270000"><a:buNone /></a:pPr><a:r><a:rPr sz="2000" b="1" /><a:t>Discussion</a:t></a:r></a:p><a:p><a:pPr lvl="0" indent="0" marL="1270000"><a:buNone /></a:pPr><a:r><a:rPr sz="2000" /><a:t>Why might a decision-maker prefer a single, less accurate tree over a more accurate but opaque ensemble?</a:t></a:r></a:p><a:p><a:pPr lvl="0" indent="0" marL="0"><a:spcBef><a:spcPts val="3000" /></a:spcBef><a:buNone /></a:pPr><a:r><a:rPr b="1" /><a:t>CART: From Tree to Partition</a:t></a:r></a:p><a:p><a:pPr lvl="0" indent="0" marL="0"><a:buNone /></a:pPr><a:r><a:rPr /><a:t>Each leaf predicts the </a:t></a:r><a:r><a:rPr b="1" /><a:t>majority class</a:t></a:r><a:r><a:rPr /><a:t> — failure (</a:t></a:r><a14:m><m:oMath xmlns:m="http://schemas.openxmlformats.org/officeDocument/2006/math"><m:r><m:t>y</m:t></m:r><m:r><m:rPr><m:sty m:val="p" /></m:rPr><m:t>=</m:t></m:r><m:r><m:t>1</m:t></m:r></m:oMath></a14:m><a:r><a:rPr /><a:t>) if more than half its scenarios are failures.</a:t></a:r></a:p><a:p><a:pPr lvl="0" indent="0" marL="0"><a:buNone /></a:pPr><a:r><a:rPr /><a:t>. . .</a:t></a:r></a:p><a:p><a:pPr lvl="0" indent="0" marL="0"><a:buNone /></a:pPr><a:r><a:rPr /><a:t>Example: a two-level tree on SLR rate and flood damage might produce:</a:t></a:r></a:p></p:txBody></p:sp></mc:Choice></mc:AlternateContent><p:graphicFrame><p:nvGraphicFramePr><p:cNvPr id="6" name="Content Placeholder 5" /><p:cNvGraphicFramePr><a:graphicFrameLocks noGrp="1" /></p:cNvGraphicFramePr><p:nvPr><p:ph idx="1" /></p:nvPr></p:nvGraphicFramePr><p:xfrm><a:off x="3568700" y="203200" /><a:ext cx="5105400" cy="4381500" /></p:xfrm><a:graphic><a:graphicData uri="http://schemas.openxmlformats.org/drawingml/2006/table"><a:tbl><a:tblPr firstRow="1" bandRow="1"><a:tableStyleId>{5C22544A-7EE6-4342-B048-85BDC9FD1C3A}</a:tableStyleId></a:tblPr><a:tblGrid><a:gridCol w="1270000" /><a:gridCol w="1270000" /><a:gridCol w="1270000" /><a:gridCol w="1270000" /></a:tblGrid><a:tr h="0"><a:tc><a:txBody><a:bodyPr /><a:lstStyle /><a:p><a:pPr lvl="0" indent="0" marL="0" algn="l"><a:buNone /></a:pPr><a:r><a:rPr /><a:t>Leaf</a:t></a:r></a:p></a:txBody><a:tcPr /></a:tc><a:tc><a:txBody><a:bodyPr /><a:lstStyle /><a:p><a:pPr lvl="0" indent="0" marL="0" algn="ctr"><a:buNone /></a:pPr><a:r><a:rPr /><a:t>SLR (m/century)</a:t></a:r></a:p></a:txBody><a:tcPr /></a:tc><a:tc><a:txBody><a:bodyPr /><a:lstStyle /><a:p><a:pPr lvl="0" indent="0" marL="0" algn="ctr"><a:buNone /></a:pPr><a:r><a:rPr /><a:t>Flood Damage ($B)</a:t></a:r></a:p></a:txBody><a:tcPr /></a:tc><a:tc><a:txBody><a:bodyPr /><a:lstStyle /><a:p><a:pPr lvl="0" indent="0" marL="0" algn="ctr"><a:buNone /></a:pPr><a:r><a:rPr /><a:t>Majority</a:t></a:r></a:p></a:txBody><a:tcPr /></a:tc></a:tr><a:tr h="0"><a:tc><a:txBody><a:bodyPr /><a:lstStyle /><a:p><a:pPr lvl="0" indent="0" marL="0" algn="l"><a:buNone /></a:pPr><a:r><a:rPr /><a:t>1</a:t></a:r></a:p></a:txBody></a:tc><a:tc><a:txBody><a:bodyPr /><a:lstStyle /><a:p><a:pPr lvl="0" indent="0" marL="0" algn="ctr"><a:buNone /></a:pPr><a14:m><m:oMath xmlns:m="http://schemas.openxmlformats.org/officeDocument/2006/math"><m:r><m:rPr><m:sty m:val="p" /></m:rPr><m:t>≤</m:t></m:r><m:r><m:t>0.5</m:t></m:r></m:oMath></a14:m></a:p></a:txBody></a:tc><a:tc><a:txBody><a:bodyPr /><a:lstStyle /><a:p><a:pPr lvl="0" indent="0" marL="0" algn="ctr"><a:buNone /></a:pPr><a:r><a:rPr /><a:t>any</a:t></a:r></a:p></a:txBody></a:tc><a:tc><a:txBody><a:bodyPr /><a:lstStyle /><a:p><a:pPr lvl="0" indent="0" marL="0" algn="ctr"><a:buNone /></a:pPr><a:r><a:rPr /><a:t>success</a:t></a:r></a:p></a:txBody></a:tc></a:tr><a:tr h="0"><a:tc><a:txBody><a:bodyPr /><a:lstStyle /><a:p><a:pPr lvl="0" indent="0" marL="0" algn="l"><a:buNone /></a:pPr><a:r><a:rPr /><a:t>2</a:t></a:r></a:p></a:txBody></a:tc><a:tc><a:txBody><a:bodyPr /><a:lstStyle /><a:p><a:pPr lvl="0" indent="0" marL="0" algn="ctr"><a:buNone /></a:pPr><a14:m><m:oMath xmlns:m="http://schemas.openxmlformats.org/officeDocument/2006/math"><m:r><m:rPr><m:sty m:val="p" /></m:rPr><m:t>&gt;</m:t></m:r><m:r><m:t>0.5</m:t></m:r></m:oMath></a14:m></a:p></a:txBody></a:tc><a:tc><a:txBody><a:bodyPr /><a:lstStyle /><a:p><a:pPr lvl="0" indent="0" marL="0" algn="ctr"><a:buNone /></a:pPr><a14:m><m:oMath xmlns:m="http://schemas.openxmlformats.org/officeDocument/2006/math"><m:r><m:rPr><m:sty m:val="p" /></m:rPr><m:t>≤</m:t></m:r><m:r><m:t>2</m:t></m:r></m:oMath></a14:m></a:p></a:txBody></a:tc><a:tc><a:txBody><a:bodyPr /><a:lstStyle /><a:p><a:pPr lvl="0" indent="0" marL="0" algn="ctr"><a:buNone /></a:pPr><a:r><a:rPr /><a:t>success</a:t></a:r></a:p></a:txBody></a:tc></a:tr><a:tr h="0"><a:tc><a:txBody><a:bodyPr /><a:lstStyle /><a:p><a:pPr lvl="0" indent="0" marL="0" algn="l"><a:buNone /></a:pPr><a:r><a:rPr /><a:t>3</a:t></a:r></a:p></a:txBody></a:tc><a:tc><a:txBody><a:bodyPr /><a:lstStyle /><a:p><a:pPr lvl="0" indent="0" marL="0" algn="ctr"><a:buNone /></a:pPr><a14:m><m:oMath xmlns:m="http://schemas.openxmlformats.org/officeDocument/2006/math"><m:r><m:rPr><m:sty m:val="p" /></m:rPr><m:t>&gt;</m:t></m:r><m:r><m:t>0.5</m:t></m:r></m:oMath></a14:m></a:p></a:txBody></a:tc><a:tc><a:txBody><a:bodyPr /><a:lstStyle /><a:p><a:pPr lvl="0" indent="0" marL="0" algn="ctr"><a:buNone /></a:pPr><a14:m><m:oMath xmlns:m="http://schemas.openxmlformats.org/officeDocument/2006/math"><m:r><m:rPr><m:sty m:val="p" /></m:rPr><m:t>&gt;</m:t></m:r><m:r><m:t>2</m:t></m:r></m:oMath></a14:m></a:p></a:txBody></a:tc><a:tc><a:txBody><a:bodyPr /><a:lstStyle /><a:p><a:pPr lvl="0" indent="0" marL="0" algn="ctr"><a:buNone /></a:pPr><a:r><a:rPr b="1" /><a:t>failure</a:t></a:r></a:p></a:txBody></a:tc></a:tr></a:tbl></a:graphicData></a:graphic></p:graphicFrame></p:spTree></p:cSld><p:timing><p:tnLst><p:par><p:cTn id="1" dur="indefinite" restart="never" nodeType="tmRoot"><p:childTnLst><p:seq concurrent="1" nextAc="seek"><p:cTn id="2" dur="indefinite" nodeType="mainSeq"><p:childTnLst><p:par><p:cTn id="3" fill="hold"><p:stCondLst><p:cond delay="indefinite" /></p:stCondLst><p:childTnLst><p:par><p:cTn id="4" fill="hold"><p:stCondLst><p:cond delay="0" /></p:stCondLst><p:childTnLst><p:par><p:cTn id="5" presetID="1" presetClass="entr" presetSubtype="0" fill="hold" grpId="0" nodeType="clickEffect"><p:stCondLst><p:cond delay="0" /></p:stCondLst><p:childTnLst><p:set><p:cBhvr><p:cTn id="6" dur="1" fill="hold"><p:stCondLst><p:cond delay="0" /></p:stCondLst></p:cTn><p:tgtEl><p:spTgt spid="4"><p:txEl><p:pRg st="14" end="14" /></p:txEl></p:spTgt></p:tgtEl><p:attrNameLst><p:attrName>style.visibility</p:attrName></p:attrNameLst></p:cBhvr><p:to><p:strVal val="visible" /></p:to></p:set></p:childTnLst></p:cTn></p:par></p:childTnLst></p:cTn></p:par></p:childTnLst></p:cTn></p:par><p:par><p:cTn id="7" fill="hold"><p:stCondLst><p:cond delay="indefinite" /></p:stCondLst><p:childTnLst><p:par><p:cTn id="8" fill="hold"><p:stCondLst><p:cond delay="0" /></p:stCondLst><p:childTnLst><p:par><p:cTn id="9" presetID="1" presetClass="entr" presetSubtype="0" fill="hold" grpId="0" nodeType="clickEffect"><p:stCondLst><p:cond delay="0" /></p:stCondLst><p:childTnLst><p:set><p:cBhvr><p:cTn id="10" dur="1" fill="hold"><p:stCondLst><p:cond delay="0" /></p:stCondLst></p:cTn><p:tgtEl><p:spTgt spid="4"><p:txEl><p:pRg st="15" end="15" /></p:txEl></p:spTgt></p:tgtEl><p:attrNameLst><p:attrName>style.visibility</p:attrName></p:attrNameLst></p:cBhvr><p:to><p:strVal val="visible" /></p:to></p:set></p:childTnLst></p:cTn></p:par></p:childTnLst></p:cTn></p:par></p:childTnLst></p:cTn></p:par><p:par><p:cTn id="11" fill="hold"><p:stCondLst><p:cond delay="indefinite" /></p:stCondLst><p:childTnLst><p:par><p:cTn id="12" fill="hold"><p:stCondLst><p:cond delay="0" /></p:stCondLst><p:childTnLst><p:par><p:cTn id="13" presetID="1" presetClass="entr" presetSubtype="0" fill="hold" grpId="0" nodeType="clickEffect"><p:stCondLst><p:cond delay="0" /></p:stCondLst><p:childTnLst><p:set><p:cBhvr><p:cTn id="14" dur="1" fill="hold"><p:stCondLst><p:cond delay="0" /></p:stCondLst></p:cTn><p:tgtEl><p:spTgt spid="4"><p:txEl><p:pRg st="16" end="16" /></p:txEl></p:spTgt></p:tgtEl><p:attrNameLst><p:attrName>style.visibility</p:attrName></p:attrNameLst></p:cBhvr><p:to><p:strVal val="visible" /></p:to></p:set></p:childTnLst></p:cTn></p:par></p:childTnLst></p:cTn></p:par></p:childTnLst></p:cTn></p:par></p:childTnLst></p:cTn><p:prevCondLst><p:cond evt="onPrev" delay="0"><p:tgtEl><p:sldTgt /></p:tgtEl></p:cond></p:prevCondLst><p:nextCondLst><p:cond evt="onNext" delay="0"><p:tgtEl><p:sldTgt /></p:tgtEl></p:cond></p:nextCondLst></p:seq></p:childTnLst></p:cTn></p:par></p:tnLst><p:bldLst><p:bldP spid="4" grpId="0" uiExpand="1" build="p" /></p:bldLst></p:timing></p:sld>
</file>

<file path=ppt/slides/slide8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mc:AlternateContent xmlns:mc="http://schemas.openxmlformats.org/markup-compatibility/2006"><mc:Choice xmlns:a14="http://schemas.microsoft.com/office/drawing/2010/main" Requires="a14"><p:sp><p:nvSpPr><p:cNvPr id="4" name="Text Placeholder 3" /><p:cNvSpPr><a:spLocks noGrp="1" /></p:cNvSpPr><p:nvPr><p:ph idx="2" sz="half" type="body" /></p:nvPr></p:nvSpPr><p:spPr /><p:txBody><a:bodyPr /><a:lstStyle /><a:p><a:pPr lvl="0" indent="0" marL="0"><a:buNone /></a:pPr><a:r><a:rPr /><a:t>. . .</a:t></a:r></a:p><a:p><a:pPr lvl="0" indent="0" marL="0"><a:buNone /></a:pPr><a:r><a:rPr /><a:t>Result: interpretable “if/then” rules — but boundaries are fixed top-down, not iteratively refined.</a:t></a:r></a:p><a:p><a:pPr lvl="0" indent="0" marL="0"><a:spcBef><a:spcPts val="3000" /></a:spcBef><a:buNone /></a:pPr><a:r><a:rPr b="1" /><a:t>Think-Pair-Share: Labeling Failures</a:t></a:r></a:p><a:p><a:pPr lvl="0" indent="0" marL="1270000"><a:buNone /></a:pPr><a:r><a:rPr sz="2000" b="1" /><a:t>Scenario</a:t></a:r></a:p><a:p><a:pPr lvl="0" indent="0" marL="1270000"><a:buNone /></a:pPr><a:r><a:rPr sz="2000" /><a:t>A city is evaluating a coastal sea wall sized for a 1-in-50-year storm surge, at a cost of $200M. Uncertain inputs: storm surge magnitude, sea level rise rate, future population exposure, discount rate, construction cost overrun.</a:t></a:r></a:p><a:p><a:pPr lvl="0" indent="0" marL="1270000"><a:buNone /></a:pPr><a:r><a:rPr sz="2000" b="1" /><a:t>Write (90 seconds)</a:t></a:r></a:p><a:p><a:pPr lvl="0" indent="0" marL="1270000"><a:buNone /></a:pPr><a:r><a:rPr sz="2000" /><a:t>In one sentence, define what “failure” means for this decision. Then write which two inputs you expect most drive failures and why.</a:t></a:r></a:p><a:p><a:pPr lvl="0" indent="0" marL="0"><a:buNone /></a:pPr><a:r><a:rPr b="1" /><a:t>Pair</a:t></a:r><a:r><a:rPr /><a:t>: Compare with your neighbor. Did you define failure the same way?</a:t></a:r></a:p><a:p><a:pPr lvl="0" indent="0" marL="0"><a:spcBef><a:spcPts val="3000" /></a:spcBef><a:buNone /></a:pPr><a:r><a:rPr b="1" /><a:t>Logistic Regression: The Model</a:t></a:r></a:p><a:p><a:pPr lvl="0" indent="0" marL="0"><a:buNone /></a:pPr><a:r><a:rPr /><a:t>For scenario </a:t></a:r><a14:m><m:oMath xmlns:m="http://schemas.openxmlformats.org/officeDocument/2006/math"><m:r><m:t>i</m:t></m:r></m:oMath></a14:m><a:r><a:rPr /><a:t> with input vector </a:t></a:r><a14:m><m:oMath xmlns:m="http://schemas.openxmlformats.org/officeDocument/2006/math"><m:sSub><m:e><m:r><m:rPr><m:sty m:val="b" /></m:rPr><m:t>z</m:t></m:r></m:e><m:sub><m:r><m:t>i</m:t></m:r></m:sub></m:sSub></m:oMath></a14:m><a:r><a:rPr /><a:t>, model the log-odds of failure:</a:t></a:r></a:p><a:p><a:pPr lvl="0" indent="0" marL="0"><a:buNone /></a:pPr><a14:m><m:oMathPara xmlns:m="http://schemas.openxmlformats.org/officeDocument/2006/math"><m:oMathParaPr><m:jc m:val="center" /></m:oMathParaPr><m:oMath><m:r><m:rPr><m:sty m:val="p" /></m:rPr><m:t>log</m:t></m:r><m:f><m:fPr><m:type m:val="bar" /></m:fPr><m:num><m:sSub><m:e><m:r><m:t>p</m:t></m:r></m:e><m:sub><m:r><m:t>i</m:t></m:r></m:sub></m:sSub></m:num><m:den><m:r><m:t>1</m:t></m:r><m:r><m:rPr><m:sty m:val="p" /></m:rPr><m:t>−</m:t></m:r><m:sSub><m:e><m:r><m:t>p</m:t></m:r></m:e><m:sub><m:r><m:t>i</m:t></m:r></m:sub></m:sSub></m:den></m:f><m:r><m:rPr><m:sty m:val="p" /></m:rPr><m:t>=</m:t></m:r><m:sSub><m:e><m:r><m:t>b</m:t></m:r></m:e><m:sub><m:r><m:t>0</m:t></m:r></m:sub></m:sSub><m:r><m:rPr><m:sty m:val="p" /></m:rPr><m:t>+</m:t></m:r><m:sSub><m:e><m:r><m:t>b</m:t></m:r></m:e><m:sub><m:r><m:t>1</m:t></m:r></m:sub></m:sSub><m:sSub><m:e><m:r><m:t>z</m:t></m:r></m:e><m:sub><m:r><m:t>i</m:t></m:r><m:r><m:t>1</m:t></m:r></m:sub></m:sSub><m:r><m:rPr><m:sty m:val="p" /></m:rPr><m:t>+</m:t></m:r><m:sSub><m:e><m:r><m:t>b</m:t></m:r></m:e><m:sub><m:r><m:t>2</m:t></m:r></m:sub></m:sSub><m:sSub><m:e><m:r><m:t>z</m:t></m:r></m:e><m:sub><m:r><m:t>i</m:t></m:r><m:r><m:t>2</m:t></m:r></m:sub></m:sSub><m:r><m:rPr><m:sty m:val="p" /></m:rPr><m:t>+</m:t></m:r><m:r><m:rPr><m:sty m:val="p" /></m:rPr><m:t>⋯</m:t></m:r><m:r><m:rPr><m:sty m:val="p" /></m:rPr><m:t>=</m:t></m:r><m:sSup><m:e><m:r><m:rPr><m:sty m:val="b" /></m:rPr><m:t>b</m:t></m:r></m:e><m:sup><m:r><m:rPr><m:sty m:val="p" /></m:rPr><m:t>⊤</m:t></m:r></m:sup></m:sSup><m:sSub><m:e><m:r><m:rPr><m:sty m:val="b" /></m:rPr><m:t>z</m:t></m:r></m:e><m:sub><m:r><m:t>i</m:t></m:r></m:sub></m:sSub></m:oMath></m:oMathPara></a14:m></a:p><a:p><a:pPr lvl="0" indent="0" marL="0"><a:buNone /></a:pPr><a:r><a:rPr /><a:t>. . .</a:t></a:r></a:p><a:p><a:pPr lvl="0" indent="0" marL="0"><a:buNone /></a:pPr><a:r><a:rPr /><a:t>Solving for </a:t></a:r><a14:m><m:oMath xmlns:m="http://schemas.openxmlformats.org/officeDocument/2006/math"><m:sSub><m:e><m:r><m:t>p</m:t></m:r></m:e><m:sub><m:r><m:t>i</m:t></m:r></m:sub></m:sSub></m:oMath></a14:m><a:r><a:rPr /><a:t> gives the </a:t></a:r><a:r><a:rPr b="1" /><a:t>sigmoid function</a:t></a:r><a:r><a:rPr /><a:t>:</a:t></a:r></a:p><a:p><a:pPr lvl="0" indent="0" marL="0"><a:buNone /></a:pPr><a14:m><m:oMathPara xmlns:m="http://schemas.openxmlformats.org/officeDocument/2006/math"><m:oMathParaPr><m:jc m:val="center" /></m:oMathParaPr><m:oMath><m:sSub><m:e><m:r><m:t>p</m:t></m:r></m:e><m:sub><m:r><m:t>i</m:t></m:r></m:sub></m:sSub><m:r><m:rPr><m:sty m:val="p" /></m:rPr><m:t>=</m:t></m:r><m:f><m:fPr><m:type m:val="bar" /></m:fPr><m:num><m:r><m:t>1</m:t></m:r></m:num><m:den><m:r><m:t>1</m:t></m:r><m:r><m:rPr><m:sty m:val="p" /></m:rPr><m:t>+</m:t></m:r><m:sSup><m:e><m:r><m:t>e</m:t></m:r></m:e><m:sup><m:r><m:rPr><m:sty m:val="p" /></m:rPr><m:t>−</m:t></m:r><m:sSup><m:e><m:r><m:rPr><m:sty m:val="b" /></m:rPr><m:t>b</m:t></m:r></m:e><m:sup><m:r><m:rPr><m:sty m:val="p" /></m:rPr><m:t>⊤</m:t></m:r></m:sup></m:sSup><m:sSub><m:e><m:r><m:rPr><m:sty m:val="b" /></m:rPr><m:t>z</m:t></m:r></m:e><m:sub><m:r><m:t>i</m:t></m:r></m:sub></m:sSub></m:sup></m:sSup></m:den></m:f></m:oMath></m:oMathPara></a14:m></a:p><a:p><a:pPr lvl="0" indent="0" marL="0"><a:buNone /></a:pPr><a:r><a:rPr /><a:t>. . .</a:t></a:r></a:p><a:p><a:pPr lvl="0" indent="0" marL="0"><a:buNone /></a:pPr><a14:m><m:oMath xmlns:m="http://schemas.openxmlformats.org/officeDocument/2006/math"><m:sSub><m:e><m:r><m:t>p</m:t></m:r></m:e><m:sub><m:r><m:t>i</m:t></m:r></m:sub></m:sSub><m:r><m:rPr><m:sty m:val="p" /></m:rPr><m:t>∈</m:t></m:r><m:r><m:rPr><m:sty m:val="p" /></m:rPr><m:t>(</m:t></m:r><m:r><m:t>0</m:t></m:r><m:r><m:rPr><m:sty m:val="p" /></m:rPr><m:t>,</m:t></m:r><m:r><m:t>1</m:t></m:r><m:r><m:rPr><m:sty m:val="p" /></m:rPr><m:t>)</m:t></m:r></m:oMath></a14:m><a:r><a:rPr /><a:t> always. Classify as failure if </a:t></a:r><a14:m><m:oMath xmlns:m="http://schemas.openxmlformats.org/officeDocument/2006/math"><m:sSub><m:e><m:r><m:t>p</m:t></m:r></m:e><m:sub><m:r><m:t>i</m:t></m:r></m:sub></m:sSub><m:r><m:rPr><m:sty m:val="p" /></m:rPr><m:t>≥</m:t></m:r><m:r><m:t>0.5</m:t></m:r></m:oMath></a14:m><a:r><a:rPr /><a:t>, which is equivalent to </a:t></a:r><a14:m><m:oMath xmlns:m="http://schemas.openxmlformats.org/officeDocument/2006/math"><m:sSup><m:e><m:r><m:rPr><m:sty m:val="b" /></m:rPr><m:t>b</m:t></m:r></m:e><m:sup><m:r><m:rPr><m:sty m:val="p" /></m:rPr><m:t>⊤</m:t></m:r></m:sup></m:sSup><m:sSub><m:e><m:r><m:rPr><m:sty m:val="b" /></m:rPr><m:t>z</m:t></m:r></m:e><m:sub><m:r><m:t>i</m:t></m:r></m:sub></m:sSub><m:r><m:rPr><m:sty m:val="p" /></m:rPr><m:t>≥</m:t></m:r><m:r><m:t>0</m:t></m:r></m:oMath></a14:m><a:r><a:rPr /><a:t>.</a:t></a:r></a:p><a:p><a:pPr lvl="0" indent="0" marL="0"><a:spcBef><a:spcPts val="3000" /></a:spcBef><a:buNone /></a:pPr><a:r><a:rPr b="1" /><a:t>Interpreting Logistic Regression</a:t></a:r></a:p><a:p><a:pPr lvl="0" indent="0" marL="0"><a:buNone /></a:pPr><a:r><a:rPr /><a:t>The quantity </a:t></a:r><a14:m><m:oMath xmlns:m="http://schemas.openxmlformats.org/officeDocument/2006/math"><m:r><m:rPr><m:sty m:val="p" /></m:rPr><m:t>log</m:t></m:r><m:f><m:fPr><m:type m:val="bar" /></m:fPr><m:num><m:r><m:t>p</m:t></m:r></m:num><m:den><m:r><m:t>1</m:t></m:r><m:r><m:rPr><m:sty m:val="p" /></m:rPr><m:t>−</m:t></m:r><m:r><m:t>p</m:t></m:r></m:den></m:f></m:oMath></a14:m><a:r><a:rPr /><a:t> is the </a:t></a:r><a:r><a:rPr b="1" /><a:t>log-odds</a:t></a:r><a:r><a:rPr /><a:t> — the logarithm of the odds of failure. A fitted coefficient </a:t></a:r><a14:m><m:oMath xmlns:m="http://schemas.openxmlformats.org/officeDocument/2006/math"><m:sSub><m:e><m:r><m:t>b</m:t></m:r></m:e><m:sub><m:r><m:t>k</m:t></m:r></m:sub></m:sSub></m:oMath></a14:m><a:r><a:rPr /><a:t> tells you: a one-unit increase in </a:t></a:r><a14:m><m:oMath xmlns:m="http://schemas.openxmlformats.org/officeDocument/2006/math"><m:sSub><m:e><m:r><m:t>X</m:t></m:r></m:e><m:sub><m:r><m:t>k</m:t></m:r></m:sub></m:sSub></m:oMath></a14:m><a:r><a:rPr /><a:t> shifts the log-odds by </a:t></a:r><a14:m><m:oMath xmlns:m="http://schemas.openxmlformats.org/officeDocument/2006/math"><m:sSub><m:e><m:r><m:t>b</m:t></m:r></m:e><m:sub><m:r><m:t>k</m:t></m:r></m:sub></m:sSub></m:oMath></a14:m><a:r><a:rPr /><a:t>.</a:t></a:r></a:p><a:p><a:pPr lvl="0" indent="0" marL="0"><a:buNone /></a:pPr><a:r><a:rPr /><a:t>. . .</a:t></a:r></a:p><a:p><a:pPr lvl="0" indent="0" marL="0"><a:buNone /></a:pPr><a:r><a:rPr /><a:t>The </a:t></a:r><a:r><a:rPr b="1" /><a:t>odds ratio</a:t></a:r><a:r><a:rPr /><a:t> </a:t></a:r><a14:m><m:oMath xmlns:m="http://schemas.openxmlformats.org/officeDocument/2006/math"><m:sSup><m:e><m:r><m:t>e</m:t></m:r></m:e><m:sup><m:sSub><m:e><m:r><m:t>b</m:t></m:r></m:e><m:sub><m:r><m:t>k</m:t></m:r></m:sub></m:sSub></m:sup></m:sSup></m:oMath></a14:m><a:r><a:rPr /><a:t> gives a multiplicative interpretation:</a:t></a:r></a:p><a:p><a:pPr lvl="0" indent="0" marL="1270000"><a:buNone /></a:pPr><a:r><a:rPr sz="2000" /><a:t>“A one-unit increase in </a:t></a:r><a14:m><m:oMath xmlns:m="http://schemas.openxmlformats.org/officeDocument/2006/math"><m:sSub><m:e><m:r><m:t>X</m:t></m:r></m:e><m:sub><m:r><m:t>k</m:t></m:r></m:sub></m:sSub></m:oMath></a14:m><a:r><a:rPr sz="2000" /><a:t> multiplies the odds of failure by </a:t></a:r><a14:m><m:oMath xmlns:m="http://schemas.openxmlformats.org/officeDocument/2006/math"><m:sSup><m:e><m:r><m:t>e</m:t></m:r></m:e><m:sup><m:sSub><m:e><m:r><m:t>b</m:t></m:r></m:e><m:sub><m:r><m:t>k</m:t></m:r></m:sub></m:sSub></m:sup></m:sSup></m:oMath></a14:m><a:r><a:rPr sz="2000" /><a:t>.”</a:t></a:r></a:p><a:p><a:pPr lvl="0" indent="0" marL="0"><a:buNone /></a:pPr><a:r><a:rPr i="1" /><a:t>Example: if </a:t></a:r><a14:m><m:oMath xmlns:m="http://schemas.openxmlformats.org/officeDocument/2006/math"><m:sSub><m:e><m:r><m:t>b</m:t></m:r></m:e><m:sub><m:r><m:t>k</m:t></m:r></m:sub></m:sSub><m:r><m:rPr><m:sty m:val="p" /></m:rPr><m:t>=</m:t></m:r><m:r><m:t>0.7</m:t></m:r></m:oMath></a14:m><a:r><a:rPr i="1" /><a:t>, then </a:t></a:r><a14:m><m:oMath xmlns:m="http://schemas.openxmlformats.org/officeDocument/2006/math"><m:sSup><m:e><m:r><m:t>e</m:t></m:r></m:e><m:sup><m:r><m:t>0.7</m:t></m:r></m:sup></m:sSup><m:r><m:rPr><m:sty m:val="p" /></m:rPr><m:t>≈</m:t></m:r><m:r><m:t>2</m:t></m:r></m:oMath></a14:m><a:r><a:rPr i="1" /><a:t> — a unit increase in </a:t></a:r><a14:m><m:oMath xmlns:m="http://schemas.openxmlformats.org/officeDocument/2006/math"><m:sSub><m:e><m:r><m:t>X</m:t></m:r></m:e><m:sub><m:r><m:t>k</m:t></m:r></m:sub></m:sSub></m:oMath></a14:m><a:r><a:rPr i="1" /><a:t> doubles the odds of failure.</a:t></a:r></a:p><a:p><a:pPr lvl="0" indent="0" marL="0"><a:buNone /></a:pPr><a:r><a:rPr /><a:t>. . .</a:t></a:r></a:p><a:p><a:pPr lvl="0" indent="0" marL="0"><a:buNone /></a:pPr><a:r><a:rPr /><a:t>Rank inputs by </a:t></a:r><a14:m><m:oMath xmlns:m="http://schemas.openxmlformats.org/officeDocument/2006/math"><m:r><m:rPr><m:sty m:val="p" /></m:rPr><m:t>|</m:t></m:r><m:sSub><m:e><m:r><m:t>b</m:t></m:r></m:e><m:sub><m:r><m:t>k</m:t></m:r></m:sub></m:sSub><m:r><m:rPr><m:sty m:val="p" /></m:rPr><m:t>|</m:t></m:r></m:oMath></a14:m><a:r><a:rPr /><a:t> (after standardizing) to answer: </a:t></a:r><a:r><a:rPr b="1" /><a:t>which inputs most drive failure?</a:t></a:r></a:p><a:p><a:pPr lvl="0" indent="0" marL="0"><a:spcBef><a:spcPts val="3000" /></a:spcBef><a:buNone /></a:pPr><a:r><a:rPr b="1" /><a:t>Lamontagne et al. (2019): The Setup</a:t></a:r></a:p><a:p><a:pPr lvl="0" indent="0" marL="0"><a:buNone /></a:pPr><a:r><a:rPr /><a:t>Lamontagne et al. (2019) ask: what abatement pathways lead to </a:t></a:r><a:r><a:rPr i="1" /><a:t>tolerable</a:t></a:r><a:r><a:rPr /><a:t> climate/economic futures, given deep uncertainty about human-Earth system (HES) dynamics?</a:t></a:r></a:p><a:p><a:pPr lvl="0" indent="0" marL="0"><a:buNone /></a:pPr><a:r><a:rPr /><a:t>. . .</a:t></a:r></a:p><a:p><a:pPr lvl="0" indent="0" marL="0"><a:buNone /></a:pPr><a:r><a:rPr b="1" /><a:t>Model</a:t></a:r><a:r><a:rPr /><a:t>: DICE integrated assessment model (climate + economy coupled)</a:t></a:r></a:p><a:p><a:pPr lvl="0" indent="0" marL="0"><a:buNone /></a:pPr><a:r><a:rPr b="1" /><a:t>Ensemble</a:t></a:r><a:r><a:rPr /><a:t>: 5,200,000 scenarios — 24 HES uncertain parameters + abatement growth rate (</a:t></a:r><a14:m><m:oMath xmlns:m="http://schemas.openxmlformats.org/officeDocument/2006/math"><m:r><m:t>α</m:t></m:r></m:oMath></a14:m><a:r><a:rPr /><a:t>)</a:t></a:r></a:p><a:p><a:pPr lvl="0" indent="0" marL="0"><a:buNone /></a:pPr><a:r><a:rPr b="1" /><a:t>Failure label</a:t></a:r><a:r><a:rPr /><a:t>: “intolerable” if warming </a:t></a:r><a14:m><m:oMath xmlns:m="http://schemas.openxmlformats.org/officeDocument/2006/math"><m:r><m:rPr><m:sty m:val="p" /></m:rPr><m:t>&gt;</m:t></m:r><m:sSup><m:e><m:r><m:t>2</m:t></m:r></m:e><m:sup><m:r><m:rPr><m:sty m:val="p" /></m:rPr><m:t>∘</m:t></m:r></m:sup></m:sSup></m:oMath></a14:m><a:r><a:rPr /><a:t>C in 2100, OR abatement cost </a:t></a:r><a14:m><m:oMath xmlns:m="http://schemas.openxmlformats.org/officeDocument/2006/math"><m:r><m:rPr><m:sty m:val="p" /></m:rPr><m:t>&gt;</m:t></m:r><m:r><m:t>3</m:t></m:r><m:r><m:rPr><m:sty m:val="p" /></m:rPr><m:t>%</m:t></m:r></m:oMath></a14:m><a:r><a:rPr /><a:t> of GWP, OR climate damages </a:t></a:r><a14:m><m:oMath xmlns:m="http://schemas.openxmlformats.org/officeDocument/2006/math"><m:r><m:rPr><m:sty m:val="p" /></m:rPr><m:t>&gt;</m:t></m:r><m:r><m:t>2</m:t></m:r><m:r><m:rPr><m:sty m:val="p" /></m:rPr><m:t>%</m:t></m:r></m:oMath></a14:m><a:r><a:rPr /><a:t> of GWP</a:t></a:r></a:p><a:p><a:pPr lvl="0" indent="0" marL="0"><a:buNone /></a:pPr><a:r><a:rPr /><a:t>. . .</a:t></a:r></a:p><a:p><a:pPr lvl="0" indent="0" marL="0"><a:buNone /></a:pPr><a:r><a:rPr /><a:t>Their methodology combines two tools you already know:</a:t></a:r></a:p><a:p><a:pPr lvl="0" indent="-342900" marL="342900"><a:buAutoNum type="arabicPeriod" /></a:pPr><a:r><a:rPr b="1" /><a:t>Sobol sensitivity analysis</a:t></a:r><a:r><a:rPr /><a:t> (Week 7) to rank the 24 uncertain parameters by importance — identifying which factors explain the most variance</a:t></a:r></a:p><a:p><a:pPr lvl="0" indent="-342900" marL="342900"><a:buAutoNum type="arabicPeriod" /></a:pPr><a:r><a:rPr b="1" /><a:t>Logistic regression</a:t></a:r><a:r><a:rPr /><a:t> (scenario discovery) to map how failure probability varies across the dominant factors — identifying </a:t></a:r><a:r><a:rPr i="1" /><a:t>where</a:t></a:r><a:r><a:rPr /><a:t> in the input space failure concentrates</a:t></a:r></a:p><a:p><a:pPr lvl="0" indent="0" marL="0"><a:spcBef><a:spcPts val="3000" /></a:spcBef><a:buNone /></a:pPr><a:r><a:rPr b="1" /><a:t>Lamontagne et al. (2019): The Finding</a:t></a:r></a:p><a:p><a:pPr lvl="0" indent="0" marL="0"><a:buNone /></a:pPr><a:r><a:rPr /><a:t>After labeling 5.2M runs as tolerable/intolerable, logistic regression on the dominant inputs shows:</a:t></a:r></a:p><a:p><a:pPr lvl="0" indent="0" marL="0"><a:buNone /></a:pPr><a:r><a:rPr /><a:t>. . .</a:t></a:r></a:p><a:p><a:pPr lvl="0" indent="0" marL="0"><a:buNone /></a:pPr><a:r><a:rPr /><a:t>The primary control on 2100 warming is the </a:t></a:r><a:r><a:rPr b="1" /><a:t>abatement growth rate</a:t></a:r><a:r><a:rPr /><a:t> — a societal choice, not an exogenous physical uncertainty.</a:t></a:r></a:p><a:p><a:pPr lvl="0" indent="0" marL="0"><a:buNone /></a:pPr><a:r><a:rPr /><a:t>. . .</a:t></a:r></a:p><a:p><a:pPr lvl="0" indent="0" marL="0"><a:buNone /></a:pPr><a:r><a:rPr /><a:t>Near-term warming is controlled by climate sensitivity (a physical parameter). Long-term warming is controlled by earlier abatement actions (a policy choice).</a:t></a:r></a:p><a:p><a:pPr lvl="0" indent="0" marL="0"><a:buNone /></a:pPr><a:r><a:rPr /><a:t>. . .</a:t></a:r></a:p><a:p><a:pPr lvl="0" indent="0" marL="0"><a:buNone /></a:pPr><a:r><a:rPr /><a:t>It is mostly a question of </a:t></a:r><a:r><a:rPr b="1" /><a:t>whether we choose</a:t></a:r><a:r><a:rPr /><a:t> to limit warming — not whether we </a:t></a:r><a:r><a:rPr i="1" /><a:t>can</a:t></a:r><a:r><a:rPr /><a:t>.</a:t></a:r></a:p><a:p><a:pPr lvl="0" indent="0" marL="0"><a:buNone /></a:pPr><a:r><a:rPr /><a:t>. . .</a:t></a:r></a:p><a:p><a:pPr lvl="0" indent="0" marL="0"><a:buNone /></a:pPr><a:r><a:rPr /><a:t>Wednesday we will dig into the figures: how the Sobol indices shift over time (Fig 2), and what the logistic regression contours look like (Fig 3).</a:t></a:r></a:p><a:p><a:pPr lvl="0" indent="0" marL="0"><a:spcBef><a:spcPts val="3000" /></a:spcBef><a:buNone /></a:pPr><a:r><a:rPr b="1" /><a:t>PRIM: Patient Rule Induction Method</a:t></a:r></a:p><a:p><a:pPr lvl="0" indent="0" marL="0"><a:buNone /></a:pPr><a:r><a:rPr /><a:t>PRIM finds a </a:t></a:r><a:r><a:rPr b="1" /><a:t>box</a:t></a:r><a:r><a:rPr /><a:t> in the input space that concentrates failures:</a:t></a:r></a:p><a:p><a:pPr lvl="0" indent="0" marL="0"><a:buNone /></a:pPr><a14:m><m:oMathPara xmlns:m="http://schemas.openxmlformats.org/officeDocument/2006/math"><m:oMathParaPr><m:jc m:val="center" /></m:oMathParaPr><m:oMath><m:sSub><m:e><m:r><m:t>a</m:t></m:r></m:e><m:sub><m:r><m:t>k</m:t></m:r></m:sub></m:sSub><m:r><m:rPr><m:sty m:val="p" /></m:rPr><m:t>≤</m:t></m:r><m:sSub><m:e><m:r><m:t>X</m:t></m:r></m:e><m:sub><m:r><m:t>k</m:t></m:r></m:sub></m:sSub><m:r><m:rPr><m:sty m:val="p" /></m:rPr><m:t>≤</m:t></m:r><m:sSub><m:e><m:r><m:t>b</m:t></m:r></m:e><m:sub><m:r><m:t>k</m:t></m:r></m:sub></m:sSub><m:r><m:t> </m:t></m:r><m:r><m:rPr><m:nor /><m:sty m:val="p" /></m:rPr><m:t>for each input </m:t></m:r><m:r><m:t>k</m:t></m:r></m:oMath></m:oMathPara></a14:m></a:p><a:p><a:pPr lvl="0" indent="0" marL="0"><a:buNone /></a:pPr><a:r><a:rPr /><a:t>. . .</a:t></a:r></a:p><a:p><a:pPr lvl="0" indent="0" marL="0"><a:buNone /></a:pPr><a:r><a:rPr b="1" /><a:t>Interpretation</a:t></a:r><a:r><a:rPr /><a:t>: “The strategy fails when SLR </a:t></a:r><a14:m><m:oMath xmlns:m="http://schemas.openxmlformats.org/officeDocument/2006/math"><m:r><m:rPr><m:sty m:val="p" /></m:rPr><m:t>&gt;</m:t></m:r><m:r><m:t>0.8</m:t></m:r><m:r><m:t> </m:t></m:r><m:r><m:rPr><m:nor /><m:sty m:val="p" /></m:rPr><m:t>m</m:t></m:r></m:oMath></a14:m><a:r><a:rPr /><a:t> AND storm surge return period </a:t></a:r><a14:m><m:oMath xmlns:m="http://schemas.openxmlformats.org/officeDocument/2006/math"><m:r><m:rPr><m:sty m:val="p" /></m:rPr><m:t>&lt;</m:t></m:r><m:r><m:t>25</m:t></m:r><m:r><m:t> </m:t></m:r><m:r><m:rPr><m:nor /><m:sty m:val="p" /></m:rPr><m:t>years</m:t></m:r></m:oMath></a14:m><a:r><a:rPr /><a:t>” is a PRIM box in two dimensions.</a:t></a:r></a:p><a:p><a:pPr lvl="0" indent="0" marL="0"><a:buNone /></a:pPr><a:r><a:rPr /><a:t>. . .</a:t></a:r></a:p><a:p><a:pPr lvl="0" indent="0" marL="0"><a:buNone /></a:pPr><a:r><a:rPr /><a:t>“Patient” refers to the algorithm: PRIM peels small slices from the box one at a time. Each peel removes the thinnest slice with the fewest failures.</a:t></a:r></a:p><a:p><a:pPr lvl="0" indent="0" marL="0"><a:spcBef><a:spcPts val="3000" /></a:spcBef><a:buNone /></a:pPr><a:r><a:rPr b="1" /><a:t>PRIM: Coverage and Density</a:t></a:r></a:p><a:p><a:pPr lvl="0" indent="0" marL="0"><a:buNone /></a:pPr><a:r><a:rPr /><a:t>For a box </a:t></a:r><a14:m><m:oMath xmlns:m="http://schemas.openxmlformats.org/officeDocument/2006/math"><m:r><m:t>B</m:t></m:r></m:oMath></a14:m><a:r><a:rPr /><a:t> over an ensemble with </a:t></a:r><a14:m><m:oMath xmlns:m="http://schemas.openxmlformats.org/officeDocument/2006/math"><m:r><m:t>N</m:t></m:r></m:oMath></a14:m><a:r><a:rPr /><a:t> total runs, </a:t></a:r><a14:m><m:oMath xmlns:m="http://schemas.openxmlformats.org/officeDocument/2006/math"><m:sSub><m:e><m:r><m:t>N</m:t></m:r></m:e><m:sub><m:r><m:t>f</m:t></m:r></m:sub></m:sSub></m:oMath></a14:m><a:r><a:rPr /><a:t> of which are failures:</a:t></a:r></a:p><a:p><a:pPr lvl="0" indent="0" marL="0"><a:buNone /></a:pPr><a:r><a:rPr /><a:t>. . .</a:t></a:r></a:p><a:p><a:pPr lvl="0" indent="0" marL="0"><a:buNone /></a:pPr><a14:m><m:oMathPara xmlns:m="http://schemas.openxmlformats.org/officeDocument/2006/math"><m:oMathParaPr><m:jc m:val="center" /></m:oMathParaPr><m:oMath><m:r><m:rPr><m:nor /><m:sty m:val="p" /></m:rPr><m:t>Coverage</m:t></m:r><m:r><m:rPr><m:sty m:val="p" /></m:rPr><m:t>=</m:t></m:r><m:f><m:fPr><m:type m:val="bar" /></m:fPr><m:num><m:r><m:rPr><m:sty m:val="p" /></m:rPr><m:t>|</m:t></m:r><m:r><m:rPr><m:sty m:val="p" /></m:rPr><m:t>{</m:t></m:r><m:r><m:rPr><m:nor /><m:sty m:val="p" /></m:rPr><m:t>failures inside </m:t></m:r><m:r><m:t>B</m:t></m:r><m:r><m:rPr><m:sty m:val="p" /></m:rPr><m:t>}</m:t></m:r><m:r><m:rPr><m:sty m:val="p" /></m:rPr><m:t>|</m:t></m:r></m:num><m:den><m:sSub><m:e><m:r><m:t>N</m:t></m:r></m:e><m:sub><m:r><m:t>f</m:t></m:r></m:sub></m:sSub></m:den></m:f><m:r><m:t>  </m:t></m:r><m:r><m:rPr><m:nor /><m:sty m:val="p" /></m:rPr><m:t>(recall)</m:t></m:r></m:oMath></m:oMathPara></a14:m></a:p><a:p><a:pPr lvl="0" indent="0" marL="0"><a:buNone /></a:pPr><a:r><a:rPr i="1" /><a:t>What fraction of all failures does the box capture?</a:t></a:r></a:p><a:p><a:pPr lvl="0" indent="0" marL="0"><a:buNone /></a:pPr><a:r><a:rPr /><a:t>. . .</a:t></a:r></a:p><a:p><a:pPr lvl="0" indent="0" marL="0"><a:buNone /></a:pPr><a14:m><m:oMathPara xmlns:m="http://schemas.openxmlformats.org/officeDocument/2006/math"><m:oMathParaPr><m:jc m:val="center" /></m:oMathParaPr><m:oMath><m:r><m:rPr><m:nor /><m:sty m:val="p" /></m:rPr><m:t>Density</m:t></m:r><m:r><m:rPr><m:sty m:val="p" /></m:rPr><m:t>=</m:t></m:r><m:f><m:fPr><m:type m:val="bar" /></m:fPr><m:num><m:r><m:rPr><m:sty m:val="p" /></m:rPr><m:t>|</m:t></m:r><m:r><m:rPr><m:sty m:val="p" /></m:rPr><m:t>{</m:t></m:r><m:r><m:rPr><m:nor /><m:sty m:val="p" /></m:rPr><m:t>failures inside </m:t></m:r><m:r><m:t>B</m:t></m:r><m:r><m:rPr><m:sty m:val="p" /></m:rPr><m:t>}</m:t></m:r><m:r><m:rPr><m:sty m:val="p" /></m:rPr><m:t>|</m:t></m:r></m:num><m:den><m:r><m:rPr><m:sty m:val="p" /></m:rPr><m:t>|</m:t></m:r><m:r><m:rPr><m:sty m:val="p" /></m:rPr><m:t>{</m:t></m:r><m:r><m:rPr><m:nor /><m:sty m:val="p" /></m:rPr><m:t>scenarios inside </m:t></m:r><m:r><m:t>B</m:t></m:r><m:r><m:rPr><m:sty m:val="p" /></m:rPr><m:t>}</m:t></m:r><m:r><m:rPr><m:sty m:val="p" /></m:rPr><m:t>|</m:t></m:r></m:den></m:f><m:r><m:t>  </m:t></m:r><m:r><m:rPr><m:nor /><m:sty m:val="p" /></m:rPr><m:t>(precision)</m:t></m:r></m:oMath></m:oMathPara></a14:m></a:p><a:p><a:pPr lvl="0" indent="0" marL="0"><a:buNone /></a:pPr><a:r><a:rPr i="1" /><a:t>Of all scenarios in the box, what fraction are failures?</a:t></a:r></a:p><a:p><a:pPr lvl="0" indent="0" marL="0"><a:spcBef><a:spcPts val="3000" /></a:spcBef><a:buNone /></a:pPr><a:r><a:rPr b="1" /><a:t>The Coverage–Density Trade-off</a:t></a:r></a:p><a:p><a:pPr lvl="0" indent="0" marL="0"><a:buNone /></a:pPr><a:r><a:rPr /><a:t>PRIM starts with the full input space and </a:t></a:r><a:r><a:rPr b="1" /><a:t>peels</a:t></a:r><a:r><a:rPr /><a:t> away small slices to increase density, recording coverage as it goes.</a:t></a:r></a:p><a:p><a:pPr lvl="0" indent="0" marL="0"><a:buNone /></a:pPr><a:r><a:rPr /><a:t>. . .</a:t></a:r></a:p><a:p><a:pPr lvl="0" indent="0" marL="0"><a:buNone /></a:pPr><a:r><a:rPr /><a:t>The output is a </a:t></a:r><a:r><a:rPr b="1" /><a:t>peeling trajectory</a:t></a:r><a:r><a:rPr /><a:t>: a set of nested boxes tracing the Pareto frontier in coverage–density space.</a:t></a:r></a:p><a:p><a:pPr lvl="0" /><a:r><a:rPr /><a:t>Start: large box, high coverage, low density</a:t></a:r></a:p><a:p><a:pPr lvl="0" /><a:r><a:rPr /><a:t>Peel: remove slices where failures are sparse</a:t></a:r></a:p><a:p><a:pPr lvl="0" /><a:r><a:rPr /><a:t>End: small box, high density, low coverage</a:t></a:r></a:p><a:p><a:pPr lvl="0" /><a:r><a:rPr /><a:t>The analyst </a:t></a:r><a:r><a:rPr b="1" /><a:t>chooses</a:t></a:r><a:r><a:rPr /><a:t> the box that best matches their decision context</a:t></a:r></a:p><a:p><a:pPr lvl="0" indent="0" marL="0"><a:spcBef><a:spcPts val="3000" /></a:spcBef><a:buNone /></a:pPr><a:r><a:rPr b="1" /><a:t>Write-and-Respond: Interpreting a PRIM Box</a:t></a:r></a:p><a:p><a:pPr lvl="0" indent="0" marL="0"><a:buNone /></a:pPr><a:r><a:rPr /><a:t>PRIM analysis of a 1-meter house elevation policy returns:</a:t></a:r></a:p></p:txBody></p:sp></mc:Choice></mc:AlternateContent><p:graphicFrame><p:nvGraphicFramePr><p:cNvPr id="6" name="Content Placeholder 5" /><p:cNvGraphicFramePr><a:graphicFrameLocks noGrp="1" /></p:cNvGraphicFramePr><p:nvPr><p:ph idx="1" /></p:nvPr></p:nvGraphicFramePr><p:xfrm><a:off x="3568700" y="203200" /><a:ext cx="5105400" cy="4381500" /></p:xfrm><a:graphic><a:graphicData uri="http://schemas.openxmlformats.org/drawingml/2006/table"><a:tbl><a:tblPr firstRow="1" bandRow="1"><a:tableStyleId>{5C22544A-7EE6-4342-B048-85BDC9FD1C3A}</a:tableStyleId></a:tblPr><a:tblGrid><a:gridCol w="1016000" /><a:gridCol w="1016000" /><a:gridCol w="1016000" /><a:gridCol w="1016000" /><a:gridCol w="1016000" /></a:tblGrid><a:tr h="0"><a:tc><a:txBody><a:bodyPr /><a:lstStyle /><a:p><a:pPr lvl="0" indent="0" marL="0" algn="l"><a:buNone /></a:pPr><a:r><a:rPr /><a:t>Box</a:t></a:r></a:p></a:txBody><a:tcPr /></a:tc><a:tc><a:txBody><a:bodyPr /><a:lstStyle /><a:p><a:pPr lvl="0" indent="0" marL="0" algn="ctr"><a:buNone /></a:pPr><a:r><a:rPr /><a:t>SLR Rate (m/century)</a:t></a:r></a:p></a:txBody><a:tcPr /></a:tc><a:tc><a:txBody><a:bodyPr /><a:lstStyle /><a:p><a:pPr lvl="0" indent="0" marL="0" algn="ctr"><a:buNone /></a:pPr><a:r><a:rPr /><a:t>Storm Return Period</a:t></a:r></a:p></a:txBody><a:tcPr /></a:tc><a:tc><a:txBody><a:bodyPr /><a:lstStyle /><a:p><a:pPr lvl="0" indent="0" marL="0" algn="ctr"><a:buNone /></a:pPr><a:r><a:rPr /><a:t>Coverage</a:t></a:r></a:p></a:txBody><a:tcPr /></a:tc><a:tc><a:txBody><a:bodyPr /><a:lstStyle /><a:p><a:pPr lvl="0" indent="0" marL="0" algn="ctr"><a:buNone /></a:pPr><a:r><a:rPr /><a:t>Density</a:t></a:r></a:p></a:txBody><a:tcPr /></a:tc></a:tr><a:tr h="0"><a:tc><a:txBody><a:bodyPr /><a:lstStyle /><a:p><a:pPr lvl="0" indent="0" marL="0" algn="l"><a:buNone /></a:pPr><a:r><a:rPr /><a:t>A</a:t></a:r></a:p></a:txBody></a:tc><a:tc><a:txBody><a:bodyPr /><a:lstStyle /><a:p><a:pPr lvl="0" indent="0" marL="0" algn="ctr"><a:buNone /></a:pPr><a14:m><m:oMath xmlns:m="http://schemas.openxmlformats.org/officeDocument/2006/math"><m:r><m:rPr><m:sty m:val="p" /></m:rPr><m:t>&gt;</m:t></m:r><m:r><m:t>0.4</m:t></m:r></m:oMath></a14:m></a:p></a:txBody></a:tc><a:tc><a:txBody><a:bodyPr /><a:lstStyle /><a:p><a:pPr lvl="0" indent="0" marL="0" algn="ctr"><a:buNone /></a:pPr><a:r><a:rPr /><a:t>any</a:t></a:r></a:p></a:txBody></a:tc><a:tc><a:txBody><a:bodyPr /><a:lstStyle /><a:p><a:pPr lvl="0" indent="0" marL="0" algn="ctr"><a:buNone /></a:pPr><a:r><a:rPr /><a:t>94%</a:t></a:r></a:p></a:txBody></a:tc><a:tc><a:txBody><a:bodyPr /><a:lstStyle /><a:p><a:pPr lvl="0" indent="0" marL="0" algn="ctr"><a:buNone /></a:pPr><a:r><a:rPr /><a:t>31%</a:t></a:r></a:p></a:txBody></a:tc></a:tr><a:tr h="0"><a:tc><a:txBody><a:bodyPr /><a:lstStyle /><a:p><a:pPr lvl="0" indent="0" marL="0" algn="l"><a:buNone /></a:pPr><a:r><a:rPr /><a:t>B</a:t></a:r></a:p></a:txBody></a:tc><a:tc><a:txBody><a:bodyPr /><a:lstStyle /><a:p><a:pPr lvl="0" indent="0" marL="0" algn="ctr"><a:buNone /></a:pPr><a14:m><m:oMath xmlns:m="http://schemas.openxmlformats.org/officeDocument/2006/math"><m:r><m:rPr><m:sty m:val="p" /></m:rPr><m:t>&gt;</m:t></m:r><m:r><m:t>0.8</m:t></m:r></m:oMath></a14:m></a:p></a:txBody></a:tc><a:tc><a:txBody><a:bodyPr /><a:lstStyle /><a:p><a:pPr lvl="0" indent="0" marL="0" algn="ctr"><a:buNone /></a:pPr><a14:m><m:oMath xmlns:m="http://schemas.openxmlformats.org/officeDocument/2006/math"><m:r><m:rPr><m:sty m:val="p" /></m:rPr><m:t>&lt;</m:t></m:r><m:r><m:t>25</m:t></m:r></m:oMath></a14:m><a:r><a:rPr /><a:t> yr</a:t></a:r></a:p></a:txBody></a:tc><a:tc><a:txBody><a:bodyPr /><a:lstStyle /><a:p><a:pPr lvl="0" indent="0" marL="0" algn="ctr"><a:buNone /></a:pPr><a:r><a:rPr /><a:t>71%</a:t></a:r></a:p></a:txBody></a:tc><a:tc><a:txBody><a:bodyPr /><a:lstStyle /><a:p><a:pPr lvl="0" indent="0" marL="0" algn="ctr"><a:buNone /></a:pPr><a:r><a:rPr /><a:t>82%</a:t></a:r></a:p></a:txBody></a:tc></a:tr><a:tr h="0"><a:tc><a:txBody><a:bodyPr /><a:lstStyle /><a:p><a:pPr lvl="0" indent="0" marL="0" algn="l"><a:buNone /></a:pPr><a:r><a:rPr /><a:t>C</a:t></a:r></a:p></a:txBody></a:tc><a:tc><a:txBody><a:bodyPr /><a:lstStyle /><a:p><a:pPr lvl="0" indent="0" marL="0" algn="ctr"><a:buNone /></a:pPr><a14:m><m:oMath xmlns:m="http://schemas.openxmlformats.org/officeDocument/2006/math"><m:r><m:rPr><m:sty m:val="p" /></m:rPr><m:t>&gt;</m:t></m:r><m:r><m:t>1.1</m:t></m:r></m:oMath></a14:m></a:p></a:txBody></a:tc><a:tc><a:txBody><a:bodyPr /><a:lstStyle /><a:p><a:pPr lvl="0" indent="0" marL="0" algn="ctr"><a:buNone /></a:pPr><a14:m><m:oMath xmlns:m="http://schemas.openxmlformats.org/officeDocument/2006/math"><m:r><m:rPr><m:sty m:val="p" /></m:rPr><m:t>&lt;</m:t></m:r><m:r><m:t>10</m:t></m:r></m:oMath></a14:m><a:r><a:rPr /><a:t> yr</a:t></a:r></a:p></a:txBody></a:tc><a:tc><a:txBody><a:bodyPr /><a:lstStyle /><a:p><a:pPr lvl="0" indent="0" marL="0" algn="ctr"><a:buNone /></a:pPr><a:r><a:rPr /><a:t>34%</a:t></a:r></a:p></a:txBody></a:tc><a:tc><a:txBody><a:bodyPr /><a:lstStyle /><a:p><a:pPr lvl="0" indent="0" marL="0" algn="ctr"><a:buNone /></a:pPr><a:r><a:rPr /><a:t>96%</a:t></a:r></a:p></a:txBody></a:tc></a:tr></a:tbl></a:graphicData></a:graphic></p:graphicFrame></p:spTree></p:cSld><p:timing><p:tnLst><p:par><p:cTn id="1" dur="indefinite" restart="never" nodeType="tmRoot"><p:childTnLst><p:seq concurrent="1" nextAc="seek"><p:cTn id="2" dur="indefinite" nodeType="mainSeq"><p:childTnLst><p:par><p:cTn id="3" fill="hold"><p:stCondLst><p:cond delay="indefinite" /></p:stCondLst><p:childTnLst><p:par><p:cTn id="4" fill="hold"><p:stCondLst><p:cond delay="0" /></p:stCondLst><p:childTnLst><p:par><p:cTn id="5" presetID="1" presetClass="entr" presetSubtype="0" fill="hold" grpId="0" nodeType="clickEffect"><p:stCondLst><p:cond delay="0" /></p:stCondLst><p:childTnLst><p:set><p:cBhvr><p:cTn id="6" dur="1" fill="hold"><p:stCondLst><p:cond delay="0" /></p:stCondLst></p:cTn><p:tgtEl><p:spTgt spid="4"><p:txEl><p:pRg st="32" end="32" /></p:txEl></p:spTgt></p:tgtEl><p:attrNameLst><p:attrName>style.visibility</p:attrName></p:attrNameLst></p:cBhvr><p:to><p:strVal val="visible" /></p:to></p:set></p:childTnLst></p:cTn></p:par></p:childTnLst></p:cTn></p:par></p:childTnLst></p:cTn></p:par><p:par><p:cTn id="7" fill="hold"><p:stCondLst><p:cond delay="indefinite" /></p:stCondLst><p:childTnLst><p:par><p:cTn id="8" fill="hold"><p:stCondLst><p:cond delay="0" /></p:stCondLst><p:childTnLst><p:par><p:cTn id="9" presetID="1" presetClass="entr" presetSubtype="0" fill="hold" grpId="0" nodeType="clickEffect"><p:stCondLst><p:cond delay="0" /></p:stCondLst><p:childTnLst><p:set><p:cBhvr><p:cTn id="10" dur="1" fill="hold"><p:stCondLst><p:cond delay="0" /></p:stCondLst></p:cTn><p:tgtEl><p:spTgt spid="4"><p:txEl><p:pRg st="33" end="33" /></p:txEl></p:spTgt></p:tgtEl><p:attrNameLst><p:attrName>style.visibility</p:attrName></p:attrNameLst></p:cBhvr><p:to><p:strVal val="visible" /></p:to></p:set></p:childTnLst></p:cTn></p:par></p:childTnLst></p:cTn></p:par></p:childTnLst></p:cTn></p:par><p:par><p:cTn id="11" fill="hold"><p:stCondLst><p:cond delay="indefinite" /></p:stCondLst><p:childTnLst><p:par><p:cTn id="12" fill="hold"><p:stCondLst><p:cond delay="0" /></p:stCondLst><p:childTnLst><p:par><p:cTn id="13" presetID="1" presetClass="entr" presetSubtype="0" fill="hold" grpId="0" nodeType="clickEffect"><p:stCondLst><p:cond delay="0" /></p:stCondLst><p:childTnLst><p:set><p:cBhvr><p:cTn id="14" dur="1" fill="hold"><p:stCondLst><p:cond delay="0" /></p:stCondLst></p:cTn><p:tgtEl><p:spTgt spid="4"><p:txEl><p:pRg st="63" end="63" /></p:txEl></p:spTgt></p:tgtEl><p:attrNameLst><p:attrName>style.visibility</p:attrName></p:attrNameLst></p:cBhvr><p:to><p:strVal val="visible" /></p:to></p:set></p:childTnLst></p:cTn></p:par></p:childTnLst></p:cTn></p:par></p:childTnLst></p:cTn></p:par><p:par><p:cTn id="15" fill="hold"><p:stCondLst><p:cond delay="indefinite" /></p:stCondLst><p:childTnLst><p:par><p:cTn id="16" fill="hold"><p:stCondLst><p:cond delay="0" /></p:stCondLst><p:childTnLst><p:par><p:cTn id="17" presetID="1" presetClass="entr" presetSubtype="0" fill="hold" grpId="0" nodeType="clickEffect"><p:stCondLst><p:cond delay="0" /></p:stCondLst><p:childTnLst><p:set><p:cBhvr><p:cTn id="18" dur="1" fill="hold"><p:stCondLst><p:cond delay="0" /></p:stCondLst></p:cTn><p:tgtEl><p:spTgt spid="4"><p:txEl><p:pRg st="64" end="64" /></p:txEl></p:spTgt></p:tgtEl><p:attrNameLst><p:attrName>style.visibility</p:attrName></p:attrNameLst></p:cBhvr><p:to><p:strVal val="visible" /></p:to></p:set></p:childTnLst></p:cTn></p:par></p:childTnLst></p:cTn></p:par></p:childTnLst></p:cTn></p:par><p:par><p:cTn id="19" fill="hold"><p:stCondLst><p:cond delay="indefinite" /></p:stCondLst><p:childTnLst><p:par><p:cTn id="20" fill="hold"><p:stCondLst><p:cond delay="0" /></p:stCondLst><p:childTnLst><p:par><p:cTn id="21" presetID="1" presetClass="entr" presetSubtype="0" fill="hold" grpId="0" nodeType="clickEffect"><p:stCondLst><p:cond delay="0" /></p:stCondLst><p:childTnLst><p:set><p:cBhvr><p:cTn id="22" dur="1" fill="hold"><p:stCondLst><p:cond delay="0" /></p:stCondLst></p:cTn><p:tgtEl><p:spTgt spid="4"><p:txEl><p:pRg st="65" end="65" /></p:txEl></p:spTgt></p:tgtEl><p:attrNameLst><p:attrName>style.visibility</p:attrName></p:attrNameLst></p:cBhvr><p:to><p:strVal val="visible" /></p:to></p:set></p:childTnLst></p:cTn></p:par></p:childTnLst></p:cTn></p:par></p:childTnLst></p:cTn></p:par><p:par><p:cTn id="23" fill="hold"><p:stCondLst><p:cond delay="indefinite" /></p:stCondLst><p:childTnLst><p:par><p:cTn id="24" fill="hold"><p:stCondLst><p:cond delay="0" /></p:stCondLst><p:childTnLst><p:par><p:cTn id="25" presetID="1" presetClass="entr" presetSubtype="0" fill="hold" grpId="0" nodeType="clickEffect"><p:stCondLst><p:cond delay="0" /></p:stCondLst><p:childTnLst><p:set><p:cBhvr><p:cTn id="26" dur="1" fill="hold"><p:stCondLst><p:cond delay="0" /></p:stCondLst></p:cTn><p:tgtEl><p:spTgt spid="4"><p:txEl><p:pRg st="66" end="66" /></p:txEl></p:spTgt></p:tgtEl><p:attrNameLst><p:attrName>style.visibility</p:attrName></p:attrNameLst></p:cBhvr><p:to><p:strVal val="visible" /></p:to></p:set></p:childTnLst></p:cTn></p:par></p:childTnLst></p:cTn></p:par></p:childTnLst></p:cTn></p:par></p:childTnLst></p:cTn><p:prevCondLst><p:cond evt="onPrev" delay="0"><p:tgtEl><p:sldTgt /></p:tgtEl></p:cond></p:prevCondLst><p:nextCondLst><p:cond evt="onNext" delay="0"><p:tgtEl><p:sldTgt /></p:tgtEl></p:cond></p:nextCondLst></p:seq></p:childTnLst></p:cTn></p:par></p:tnLst><p:bldLst><p:bldP spid="4" grpId="0" uiExpand="1" build="p" /></p:bldLst></p:timing></p:sld>
</file>

<file path=ppt/slides/slide9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mc:AlternateContent xmlns:mc="http://schemas.openxmlformats.org/markup-compatibility/2006"><mc:Choice xmlns:a14="http://schemas.microsoft.com/office/drawing/2010/main" Requires="a14"><p:sp><p:nvSpPr><p:cNvPr id="4" name="Text Placeholder 3" /><p:cNvSpPr><a:spLocks noGrp="1" /></p:cNvSpPr><p:nvPr><p:ph idx="2" sz="half" type="body" /></p:nvPr></p:nvSpPr><p:spPr /><p:txBody><a:bodyPr /><a:lstStyle /><a:p><a:pPr lvl="0" indent="0" marL="1270000"><a:buNone /></a:pPr><a:r><a:rPr sz="2000" b="1" /><a:t>Write (60 seconds)</a:t></a:r></a:p><a:p><a:pPr lvl="0" indent="0" marL="1270000"><a:buNone /></a:pPr><a:r><a:rPr sz="2000" /><a:t>In one sentence, interpret Box B. Then answer: if you are advising a city that faces severe storm surge risk </a:t></a:r><a:r><a:rPr sz="2000" i="1" /><a:t>and</a:t></a:r><a:r><a:rPr sz="2000" /><a:t> deep uncertainty in SLR, which box would you recommend and why?</a:t></a:r></a:p><a:p><a:pPr lvl="0" indent="0" marL="0"><a:spcBef><a:spcPts val="3000" /></a:spcBef><a:buNone /></a:pPr><a:r><a:rPr b="1" /><a:t>Friday’s Lab: The Eijgenraam Dike Model</a:t></a:r></a:p><a:p><a:pPr lvl="0" indent="0" marL="0"><a:buNone /></a:pPr><a:r><a:rPr /><a:t>In Lab 8 you’ll apply scenario discovery to a real flood protection problem from the Netherlands (Eijgenraam et al. 2014).</a:t></a:r></a:p><a:p><a:pPr lvl="0" indent="0" marL="0"><a:buNone /></a:pPr><a:r><a:rPr /><a:t>. . .</a:t></a:r></a:p><a:p><a:pPr lvl="0" indent="0" marL="0"><a:buNone /></a:pPr><a:r><a:rPr /><a:t>You know the Van Dantzig problem: how high should we build the dike? Eijgenraam extends it — investment costs grow </a:t></a:r><a:r><a:rPr b="1" /><a:t>exponentially</a:t></a:r><a:r><a:rPr /><a:t> with height, and flood risk grows over time with sea level rise and economic growth. (</a:t></a:r><a:r><a:rPr><a:hlinkClick r:id="rId3" /></a:rPr><a:t>Rhodium example</a:t></a:r><a:r><a:rPr /><a:t>)</a:t></a:r></a:p><a:p><a:pPr lvl="0" indent="0" marL="0"><a:buNone /></a:pPr><a:r><a:rPr /><a:t>. . .</a:t></a:r></a:p><a:p><a:pPr lvl="0" indent="0" marL="0"><a:buNone /></a:pPr><a:r><a:rPr /><a:t>The decision: </a:t></a:r><a:r><a:rPr b="1" /><a:t>when</a:t></a:r><a:r><a:rPr /><a:t> to heighten the dike and by </a:t></a:r><a:r><a:rPr b="1" /><a:t>how much</a:t></a:r><a:r><a:rPr /><a:t>.</a:t></a:r></a:p><a:p><a:pPr lvl="0" /><a:r><a:rPr /><a:t>Deferring saves money (discounting) but the dike ring is unprotected while we wait</a:t></a:r></a:p><a:p><a:pPr lvl="0" /><a:r><a:rPr /><a:t>Building higher is safer but exponentially more expensive</a:t></a:r></a:p><a:p><a:pPr lvl="0" indent="0" marL="0"><a:spcBef><a:spcPts val="3000" /></a:spcBef><a:buNone /></a:pPr><a:r><a:rPr b="1" /><a:t>The Eijgenraam Model: Key Equation</a:t></a:r></a:p><a:p><a:pPr lvl="0" indent="0" marL="0"><a:buNone /></a:pPr><a:r><a:rPr /><a:t>The annual </a:t></a:r><a:r><a:rPr b="1" /><a:t>flood probability</a:t></a:r><a:r><a:rPr /><a:t> at year </a:t></a:r><a14:m><m:oMath xmlns:m="http://schemas.openxmlformats.org/officeDocument/2006/math"><m:r><m:t>t</m:t></m:r></m:oMath></a14:m><a:r><a:rPr /><a:t> is:</a:t></a:r></a:p><a:p><a:pPr lvl="0" indent="0" marL="0"><a:buNone /></a:pPr><a14:m><m:oMathPara xmlns:m="http://schemas.openxmlformats.org/officeDocument/2006/math"><m:oMathParaPr><m:jc m:val="center" /></m:oMathParaPr><m:oMath><m:r><m:t>P</m:t></m:r><m:r><m:rPr><m:sty m:val="p" /></m:rPr><m:t>(</m:t></m:r><m:r><m:t>t</m:t></m:r><m:r><m:rPr><m:sty m:val="p" /></m:rPr><m:t>)</m:t></m:r><m:r><m:rPr><m:sty m:val="p" /></m:rPr><m:t>=</m:t></m:r><m:sSub><m:e><m:r><m:t>P</m:t></m:r></m:e><m:sub><m:r><m:t>0</m:t></m:r></m:sub></m:sSub><m:r><m:rPr><m:sty m:val="p" /></m:rPr><m:t>exp</m:t></m:r><m:d><m:dPr><m:begChr m:val="(" /><m:sepChr m:val="" /><m:endChr m:val=")" /><m:grow /></m:dPr><m:e><m:r><m:t>α</m:t></m:r><m:r><m:t>η</m:t></m:r><m:r><m:t> </m:t></m:r><m:r><m:t>t</m:t></m:r><m:r><m:rPr><m:sty m:val="p" /></m:rPr><m:t>−</m:t></m:r><m:r><m:t>α</m:t></m:r><m:r><m:t> </m:t></m:r><m:r><m:t>H</m:t></m:r><m:r><m:rPr><m:sty m:val="p" /></m:rPr><m:t>(</m:t></m:r><m:r><m:t>t</m:t></m:r><m:r><m:rPr><m:sty m:val="p" /></m:rPr><m:t>)</m:t></m:r></m:e></m:d></m:oMath></m:oMathPara></a14:m></a:p><a:p><a:pPr lvl="0" /><a14:m><m:oMath xmlns:m="http://schemas.openxmlformats.org/officeDocument/2006/math"><m:sSub><m:e><m:r><m:t>P</m:t></m:r></m:e><m:sub><m:r><m:t>0</m:t></m:r></m:sub></m:sSub></m:oMath></a14:m><a:r><a:rPr /><a:t>: initial flood probability</a:t></a:r></a:p><a:p><a:pPr lvl="0" /><a14:m><m:oMath xmlns:m="http://schemas.openxmlformats.org/officeDocument/2006/math"><m:r><m:t>α</m:t></m:r></m:oMath></a14:m><a:r><a:rPr /><a:t>: sensitivity of flood probability to water level (1/cm)</a:t></a:r></a:p><a:p><a:pPr lvl="0" /><a14:m><m:oMath xmlns:m="http://schemas.openxmlformats.org/officeDocument/2006/math"><m:r><m:t>η</m:t></m:r></m:oMath></a14:m><a:r><a:rPr /><a:t>: rate of water level rise (cm/year)</a:t></a:r></a:p><a:p><a:pPr lvl="0" /><a14:m><m:oMath xmlns:m="http://schemas.openxmlformats.org/officeDocument/2006/math"><m:r><m:t>H</m:t></m:r><m:r><m:rPr><m:sty m:val="p" /></m:rPr><m:t>(</m:t></m:r><m:r><m:t>t</m:t></m:r><m:r><m:rPr><m:sty m:val="p" /></m:rPr><m:t>)</m:t></m:r></m:oMath></a14:m><a:r><a:rPr /><a:t>: cumulative dike heightening at time </a:t></a:r><a14:m><m:oMath xmlns:m="http://schemas.openxmlformats.org/officeDocument/2006/math"><m:r><m:t>t</m:t></m:r></m:oMath></a14:m></a:p><a:p><a:pPr lvl="0" indent="0" marL="0"><a:buNone /></a:pPr><a:r><a:rPr /><a:t>. . .</a:t></a:r></a:p><a:p><a:pPr lvl="0" indent="0" marL="0"><a:buNone /></a:pPr><a:r><a:rPr /><a:t>This assumes an </a:t></a:r><a:r><a:rPr b="1" /><a:t>exponential distribution</a:t></a:r><a:r><a:rPr /><a:t> for water levels — analytically convenient, though real flood distributions have heavier tails.</a:t></a:r></a:p><a:p><a:pPr lvl="0" indent="0" marL="0"><a:buNone /></a:pPr><a:r><a:rPr /><a:t>. . .</a:t></a:r></a:p><a:p><a:pPr lvl="0" indent="0" marL="0"><a:buNone /></a:pPr><a:r><a:rPr /><a:t>Notice: </a:t></a:r><a14:m><m:oMath xmlns:m="http://schemas.openxmlformats.org/officeDocument/2006/math"><m:r><m:t>α</m:t></m:r></m:oMath></a14:m><a:r><a:rPr /><a:t> appears </a:t></a:r><a:r><a:rPr b="1" /><a:t>twice</a:t></a:r><a:r><a:rPr /><a:t> — it makes risk grow faster (</a:t></a:r><a14:m><m:oMath xmlns:m="http://schemas.openxmlformats.org/officeDocument/2006/math"><m:r><m:t>α</m:t></m:r><m:r><m:t>η</m:t></m:r><m:r><m:t>t</m:t></m:r></m:oMath></a14:m><a:r><a:rPr /><a:t>) </a:t></a:r><a:r><a:rPr i="1" /><a:t>and</a:t></a:r><a:r><a:rPr /><a:t> makes each cm of dike more effective (</a:t></a:r><a14:m><m:oMath xmlns:m="http://schemas.openxmlformats.org/officeDocument/2006/math"><m:r><m:rPr><m:sty m:val="p" /></m:rPr><m:t>−</m:t></m:r><m:r><m:t>α</m:t></m:r><m:r><m:t>H</m:t></m:r></m:oMath></a14:m><a:r><a:rPr /><a:t>). Its effect on failure is </a:t></a:r><a:r><a:rPr b="1" /><a:t>non-monotonic</a:t></a:r><a:r><a:rPr /><a:t>.</a:t></a:r></a:p><a:p><a:pPr lvl="0" indent="0" marL="0"><a:spcBef><a:spcPts val="3000" /></a:spcBef><a:buNone /></a:pPr><a:r><a:rPr b="1" /><a:t>Lab 8: The XLRM Setup</a:t></a:r></a:p></p:txBody></p:sp></mc:Choice></mc:AlternateContent><p:graphicFrame><p:nvGraphicFramePr><p:cNvPr id="6" name="Content Placeholder 5" /><p:cNvGraphicFramePr><a:graphicFrameLocks noGrp="1" /></p:cNvGraphicFramePr><p:nvPr><p:ph idx="1" /></p:nvPr></p:nvGraphicFramePr><p:xfrm><a:off x="3568700" y="203200" /><a:ext cx="5105400" cy="4381500" /></p:xfrm><a:graphic><a:graphicData uri="http://schemas.openxmlformats.org/drawingml/2006/table"><a:tbl><a:tblPr firstRow="1" bandRow="1"><a:tableStyleId>{5C22544A-7EE6-4342-B048-85BDC9FD1C3A}</a:tableStyleId></a:tblPr><a:tblGrid><a:gridCol w="2362200" /><a:gridCol w="2743200" /></a:tblGrid><a:tr h="0"><a:tc><a:txBody><a:bodyPr /><a:lstStyle /><a:p><a:pPr lvl="0" indent="0" marL="0" algn="l"><a:buNone /></a:pPr><a:r><a:rPr /><a:t>XLRM</a:t></a:r></a:p></a:txBody><a:tcPr /></a:tc><a:tc><a:txBody><a:bodyPr /><a:lstStyle /><a:p><a:pPr lvl="0" indent="0" marL="0" algn="l"><a:buNone /></a:pPr><a:r><a:rPr /><a:t>Lab 8</a:t></a:r></a:p></a:txBody><a:tcPr /></a:tc></a:tr><a:tr h="0"><a:tc><a:txBody><a:bodyPr /><a:lstStyle /><a:p><a:pPr lvl="0" indent="0" marL="0" algn="l"><a:buNone /></a:pPr><a:r><a:rPr b="1" /><a:t>X</a:t></a:r><a:r><a:rPr /><a:t> (uncertainties)</a:t></a:r></a:p></a:txBody></a:tc><a:tc><a:txBody><a:bodyPr /><a:lstStyle /><a:p><a:pPr lvl="0" indent="0" marL="0" algn="l"><a:buNone /></a:pPr><a14:m><m:oMath xmlns:m="http://schemas.openxmlformats.org/officeDocument/2006/math"><m:sSub><m:e><m:r><m:t>P</m:t></m:r></m:e><m:sub><m:r><m:t>0</m:t></m:r></m:sub></m:sSub></m:oMath></a14:m><a:r><a:rPr /><a:t>, </a:t></a:r><a14:m><m:oMath xmlns:m="http://schemas.openxmlformats.org/officeDocument/2006/math"><m:r><m:t>α</m:t></m:r></m:oMath></a14:m><a:r><a:rPr /><a:t>, </a:t></a:r><a14:m><m:oMath xmlns:m="http://schemas.openxmlformats.org/officeDocument/2006/math"><m:r><m:t>η</m:t></m:r></m:oMath></a14:m><a:r><a:rPr /><a:t>, </a:t></a:r><a14:m><m:oMath xmlns:m="http://schemas.openxmlformats.org/officeDocument/2006/math"><m:sSub><m:e><m:r><m:t>V</m:t></m:r></m:e><m:sub><m:r><m:t>0</m:t></m:r></m:sub></m:sSub></m:oMath></a14:m><a:r><a:rPr /><a:t>, </a:t></a:r><a14:m><m:oMath xmlns:m="http://schemas.openxmlformats.org/officeDocument/2006/math"><m:r><m:t>δ</m:t></m:r></m:oMath></a14:m></a:p></a:txBody></a:tc></a:tr><a:tr h="0"><a:tc><a:txBody><a:bodyPr /><a:lstStyle /><a:p><a:pPr lvl="0" indent="0" marL="0" algn="l"><a:buNone /></a:pPr><a:r><a:rPr b="1" /><a:t>L</a:t></a:r><a:r><a:rPr /><a:t> (levers)</a:t></a:r></a:p></a:txBody></a:tc><a:tc><a:txBody><a:bodyPr /><a:lstStyle /><a:p><a:pPr lvl="0" indent="0" marL="0" algn="l"><a:buNone /></a:pPr><a14:m><m:oMath xmlns:m="http://schemas.openxmlformats.org/officeDocument/2006/math"><m:r><m:rPr><m:sty m:val="p" /></m:rPr><m:t>(</m:t></m:r><m:sSub><m:e><m:r><m:t>T</m:t></m:r></m:e><m:sub><m:r><m:rPr><m:nor /><m:sty m:val="p" /></m:rPr><m:t>heighten</m:t></m:r></m:sub></m:sSub><m:r><m:rPr><m:sty m:val="p" /></m:rPr><m:t>,</m:t></m:r><m:r><m:t> </m:t></m:r><m:r><m:rPr><m:sty m:val="p" /></m:rPr><m:t>Δ</m:t></m:r><m:r><m:t>H</m:t></m:r><m:r><m:rPr><m:sty m:val="p" /></m:rPr><m:t>)</m:t></m:r></m:oMath></a14:m><a:r><a:rPr /><a:t> — when to heighten, how much</a:t></a:r></a:p></a:txBody></a:tc></a:tr><a:tr h="0"><a:tc><a:txBody><a:bodyPr /><a:lstStyle /><a:p><a:pPr lvl="0" indent="0" marL="0" algn="l"><a:buNone /></a:pPr><a:r><a:rPr b="1" /><a:t>R</a:t></a:r><a:r><a:rPr /><a:t> (model)</a:t></a:r></a:p></a:txBody></a:tc><a:tc><a:txBody><a:bodyPr /><a:lstStyle /><a:p><a:pPr lvl="0" indent="0" marL="0" algn="l"><a:buNone /></a:pPr><a:r><a:rPr /><a:t>Eijgenraam cost-benefit model</a:t></a:r></a:p></a:txBody></a:tc></a:tr><a:tr h="0"><a:tc><a:txBody><a:bodyPr /><a:lstStyle /><a:p><a:pPr lvl="0" indent="0" marL="0" algn="l"><a:buNone /></a:pPr><a:r><a:rPr b="1" /><a:t>M</a:t></a:r><a:r><a:rPr /><a:t> (metrics)</a:t></a:r></a:p></a:txBody></a:tc><a:tc><a:txBody><a:bodyPr /><a:lstStyle /><a:p><a:pPr lvl="0" indent="0" marL="0" algn="l"><a:buNone /></a:pPr><a:r><a:rPr /><a:t>Max failure probability, total cost</a:t></a:r></a:p></a:txBody></a:tc></a:tr></a:tbl></a:graphicData></a:graphic></p:graphicFrame></p:spTree></p:cSld>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/>
              <a:t>Your task: fix a policy, run 1,000 scenarios, label success/failure, and use PRIM to find </a:t>
            </a:r>
            <a:r>
              <a:rPr b="1"/>
              <a:t>which uncertainties drive failure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/>
              <a:t>The twist: changing </a:t>
            </a:r>
            <a:r>
              <a:rPr i="1"/>
              <a:t>how you define failure</a:t>
            </a:r>
            <a:r>
              <a:rPr/>
              <a:t> changes </a:t>
            </a:r>
            <a:r>
              <a:rPr i="1"/>
              <a:t>which uncertainties matter</a:t>
            </a:r>
            <a:r>
              <a:rPr/>
              <a:t>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Looking Ahead</a:t>
            </a:r>
          </a:p>
          <a:p>
            <a:pPr lvl="0" indent="0" marL="0">
              <a:buNone/>
            </a:pPr>
            <a:r>
              <a:rPr b="1"/>
              <a:t>Wednesday</a:t>
            </a:r>
            <a:r>
              <a:rPr/>
              <a:t>: Figure discussion of Lamontagne et al. (2019)</a:t>
            </a:r>
          </a:p>
          <a:p>
            <a:pPr lvl="0" indent="0" marL="0">
              <a:buNone/>
            </a:pPr>
            <a:r>
              <a:rPr b="1"/>
              <a:t>Friday</a:t>
            </a:r>
            <a:r>
              <a:rPr/>
              <a:t>: Lab 8 — Scenario Discovery on the Eijgenraam dike model + </a:t>
            </a:r>
            <a:r>
              <a:rPr b="1"/>
              <a:t>Memo 1 due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Figure Discussion Sign-Up</a:t>
            </a:r>
          </a:p>
          <a:p>
            <a:pPr lvl="0" indent="0" marL="0">
              <a:buNone/>
            </a:pPr>
            <a:r>
              <a:rPr/>
              <a:t>Wednesday’s discussion: each person leads a </a:t>
            </a:r>
            <a:r>
              <a:rPr b="1"/>
              <a:t>3-minute walkthrough</a:t>
            </a:r>
            <a:r>
              <a:rPr/>
              <a:t> of one figure from Lamontagne et al. (2019).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Figure(s)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Focus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Fig 1a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Sampling the policy space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Fig 1b–d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Tradeoff clouds &amp; “tolerable” windows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Fig 2a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Time-aggregated Sobol sensitivities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Fig 2b–d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Time-varying sensitivities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Fig 3a–b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Robust pathways at low climate sensitivity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Fig 3c + conclusion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Median sensitivity &amp; headline message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Sign up now!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References</a:t>
            </a:r>
          </a:p>
          <a:p>
            <a:pPr lvl="0" indent="0" marL="0">
              <a:buNone/>
            </a:pPr>
            <a:r>
              <a:rPr/>
              <a:t>Bankes, Steve. 1993. “Exploratory Modeling for Policy Analysis.” </a:t>
            </a:r>
            <a:r>
              <a:rPr i="1"/>
              <a:t>Operations Research</a:t>
            </a:r>
            <a:r>
              <a:rPr/>
              <a:t> 41 (3): 435–49. </a:t>
            </a:r>
            <a:r>
              <a:rPr>
                <a:hlinkClick r:id="rId3"/>
              </a:rPr>
              <a:t>https://doi.org/10/c7rgcr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Eijgenraam, Carel, Jarl Kind, Carlijn Bak, et al. 2014. “Economically Efficient Standards to Protect the Netherlands Against Flooding.” </a:t>
            </a:r>
            <a:r>
              <a:rPr i="1"/>
              <a:t>INFORMS Journal on Applied Analytics</a:t>
            </a:r>
            <a:r>
              <a:rPr/>
              <a:t> 44 (1): 7–21. </a:t>
            </a:r>
            <a:r>
              <a:rPr>
                <a:hlinkClick r:id="rId4"/>
              </a:rPr>
              <a:t>https://doi.org/10.1287/inte.2013.0721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Lamontagne, J. R., P. M. Reed, G. Marangoni, K. Keller, and G. G. Garner. 2019. “Robust Abatement Pathways to Tolerable Climate Futures Require Immediate Global Action.” </a:t>
            </a:r>
            <a:r>
              <a:rPr i="1"/>
              <a:t>Nature Climate Change</a:t>
            </a:r>
            <a:r>
              <a:rPr/>
              <a:t> 9 (4): 290–94. </a:t>
            </a:r>
            <a:r>
              <a:rPr>
                <a:hlinkClick r:id="rId5"/>
              </a:rPr>
              <a:t>https://doi.org/10.1038/s41558-019-0426-8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Srikrishnan, Vivek, David C. Lafferty, Tony E. Wong, et al. 2022. “Uncertainty Analysis in Multi-Sector Systems: Considerations for Risk Analysis, Projection, and Planning for Complex Systems.” </a:t>
            </a:r>
            <a:r>
              <a:rPr i="1"/>
              <a:t>Earth’s Future</a:t>
            </a:r>
            <a:r>
              <a:rPr/>
              <a:t> 10 (8): e2021EF002644. </a:t>
            </a:r>
            <a:r>
              <a:rPr>
                <a:hlinkClick r:id="rId6"/>
              </a:rPr>
              <a:t>https://doi.org/10.1029/2021EF002644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Exploratory Modeling &amp; Scenario Discovery</dc:title>
  <dc:creator>James Doss-Gollin</dc:creator>
  <cp:keywords/>
  <dcterms:created xsi:type="dcterms:W3CDTF">2026-04-01T21:43:38Z</dcterms:created>
  <dcterms:modified xsi:type="dcterms:W3CDTF">2026-04-01T21:43:38Z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quarto-vars">
    <vt:lpwstr/>
  </property>
  <property fmtid="{D5CDD505-2E9C-101B-9397-08002B2CF9AE}" pid="3" name="authors">
    <vt:lpwstr/>
  </property>
  <property fmtid="{D5CDD505-2E9C-101B-9397-08002B2CF9AE}" pid="4" name="auto-agenda">
    <vt:lpwstr/>
  </property>
  <property fmtid="{D5CDD505-2E9C-101B-9397-08002B2CF9AE}" pid="5" name="biblio-config">
    <vt:lpwstr>True</vt:lpwstr>
  </property>
  <property fmtid="{D5CDD505-2E9C-101B-9397-08002B2CF9AE}" pid="6" name="bibliography">
    <vt:lpwstr/>
  </property>
  <property fmtid="{D5CDD505-2E9C-101B-9397-08002B2CF9AE}" pid="7" name="by-author">
    <vt:lpwstr/>
  </property>
  <property fmtid="{D5CDD505-2E9C-101B-9397-08002B2CF9AE}" pid="8" name="course">
    <vt:lpwstr>CEVE 421/521, Climate Risk Management</vt:lpwstr>
  </property>
  <property fmtid="{D5CDD505-2E9C-101B-9397-08002B2CF9AE}" pid="9" name="date">
    <vt:lpwstr>2026-03-23</vt:lpwstr>
  </property>
  <property fmtid="{D5CDD505-2E9C-101B-9397-08002B2CF9AE}" pid="10" name="engines">
    <vt:lpwstr/>
  </property>
  <property fmtid="{D5CDD505-2E9C-101B-9397-08002B2CF9AE}" pid="11" name="header-includes">
    <vt:lpwstr/>
  </property>
  <property fmtid="{D5CDD505-2E9C-101B-9397-08002B2CF9AE}" pid="12" name="include-after">
    <vt:lpwstr/>
  </property>
  <property fmtid="{D5CDD505-2E9C-101B-9397-08002B2CF9AE}" pid="13" name="include-before">
    <vt:lpwstr/>
  </property>
  <property fmtid="{D5CDD505-2E9C-101B-9397-08002B2CF9AE}" pid="14" name="institution">
    <vt:lpwstr>Rice University</vt:lpwstr>
  </property>
  <property fmtid="{D5CDD505-2E9C-101B-9397-08002B2CF9AE}" pid="15" name="labels">
    <vt:lpwstr/>
  </property>
  <property fmtid="{D5CDD505-2E9C-101B-9397-08002B2CF9AE}" pid="16" name="status">
    <vt:lpwstr>published</vt:lpwstr>
  </property>
  <property fmtid="{D5CDD505-2E9C-101B-9397-08002B2CF9AE}" pid="17" name="subtitle">
    <vt:lpwstr>Lecture</vt:lpwstr>
  </property>
  <property fmtid="{D5CDD505-2E9C-101B-9397-08002B2CF9AE}" pid="18" name="toc-title">
    <vt:lpwstr>Table of contents</vt:lpwstr>
  </property>
  <property fmtid="{D5CDD505-2E9C-101B-9397-08002B2CF9AE}" pid="19" name="week">
    <vt:lpwstr>10</vt:lpwstr>
  </property>
</Properties>
</file>
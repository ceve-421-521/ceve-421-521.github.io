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notesMaster" Target="notesMasters/notesMaster1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1:02. Hook: start with a concrete business decision. Insurance connects directly to risk quantification.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1:04. Frame the lecture around this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Emphasize that hazard is the physical event, not the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Exposure is about WHAT is at risk, not how vulnerable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1:13. This is where depth-damage functions come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Show the Wing figure. Discuss uncertainty in these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Pause and ask students what they notice.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Core equation for the course. Write on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Quick review. Students should recognize this from week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Work through this example on the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Give students 60 seconds to think.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1:37. Connect to course theme.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Just planting the seed here. Deeper coverage in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Keep it light. Just enough to use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Preview what they’ll do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Set up the model students will use all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1:52. Draw on board if no figure available. Simple triangle cross-section.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1:55. Map back to XLRM.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1:58. Set expectations for the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1:01. Summarize main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Connect to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1:05. Reading assignment and preparation.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Relationship Id="rId3" Type="http://schemas.openxmlformats.org/officeDocument/2006/relationships/image" Target="../media/image1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Relationship Id="rId3" Type="http://schemas.openxmlformats.org/officeDocument/2006/relationships/hyperlink" Target="https://ceve543.github.io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nvsoft.2019.06.011" TargetMode="External" /><Relationship Id="rId3" Type="http://schemas.openxmlformats.org/officeDocument/2006/relationships/hyperlink" Target="https://doi.org/10.1038/s41467-020-1526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Hazard, Exposure, Vulnerability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Hook: The Insurance Dilemma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Pricing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insurance company wants to offer flood insurance for coastal homes.</a:t>
            </a:r>
          </a:p>
          <a:p>
            <a:pPr lvl="0" indent="0" marL="0">
              <a:buNone/>
            </a:pPr>
            <a:r>
              <a:rPr/>
              <a:t>To set premiums, they need to answer:</a:t>
            </a:r>
          </a:p>
          <a:p>
            <a:pPr lvl="0"/>
            <a:r>
              <a:rPr/>
              <a:t>How often will floods occur?</a:t>
            </a:r>
          </a:p>
          <a:p>
            <a:pPr lvl="0"/>
            <a:r>
              <a:rPr/>
              <a:t>How bad will those floods be?</a:t>
            </a:r>
          </a:p>
          <a:p>
            <a:pPr lvl="0"/>
            <a:r>
              <a:rPr/>
              <a:t>How much damage will result?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Core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do we translate hazards into damages?</a:t>
            </a:r>
          </a:p>
          <a:p>
            <a:pPr lvl="0" indent="0" marL="0">
              <a:buNone/>
            </a:pPr>
            <a:r>
              <a:rPr/>
              <a:t>Today we will:</a:t>
            </a:r>
          </a:p>
          <a:p>
            <a:pPr lvl="0" indent="-342900" marL="342900">
              <a:buAutoNum type="arabicPeriod"/>
            </a:pPr>
            <a:r>
              <a:rPr/>
              <a:t>Define key vocabulary: hazard, exposure, vulnerability</a:t>
            </a:r>
          </a:p>
          <a:p>
            <a:pPr lvl="0" indent="-342900" marL="342900">
              <a:buAutoNum type="arabicPeriod"/>
            </a:pPr>
            <a:r>
              <a:rPr/>
              <a:t>Review the XLRM framework for structuring risk problems</a:t>
            </a:r>
          </a:p>
          <a:p>
            <a:pPr lvl="0" indent="-342900" marL="342900">
              <a:buAutoNum type="arabicPeriod"/>
            </a:pPr>
            <a:r>
              <a:rPr/>
              <a:t>Introduce the GEV distribution for extreme events</a:t>
            </a:r>
          </a:p>
          <a:p>
            <a:pPr lvl="0" indent="-342900" marL="342900">
              <a:buAutoNum type="arabicPeriod"/>
            </a:pPr>
            <a:r>
              <a:rPr/>
              <a:t>Preview the iCOW model we’ll use all semester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Analysis Vocabulary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Hazard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Hazard:</a:t>
            </a:r>
            <a:r>
              <a:rPr/>
              <a:t> The physical event or phenomenon</a:t>
            </a:r>
          </a:p>
          <a:p>
            <a:pPr lvl="0"/>
            <a:r>
              <a:rPr/>
              <a:t>Flood depth at a location</a:t>
            </a:r>
          </a:p>
          <a:p>
            <a:pPr lvl="0"/>
            <a:r>
              <a:rPr/>
              <a:t>Wind speed during a storm</a:t>
            </a:r>
          </a:p>
          <a:p>
            <a:pPr lvl="0"/>
            <a:r>
              <a:rPr/>
              <a:t>Ground shaking from an earthquake</a:t>
            </a:r>
          </a:p>
          <a:p>
            <a:pPr lvl="0"/>
            <a:r>
              <a:rPr/>
              <a:t>Extreme temperature</a:t>
            </a:r>
          </a:p>
          <a:p>
            <a:pPr lvl="0" indent="0" marL="0">
              <a:buNone/>
            </a:pPr>
            <a:r>
              <a:rPr/>
              <a:t>Key insight: Hazards are characterized by </a:t>
            </a:r>
            <a:r>
              <a:rPr b="1"/>
              <a:t>probability distributions</a:t>
            </a:r>
            <a:r>
              <a:rPr/>
              <a:t>, not single values.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Exposure:</a:t>
            </a:r>
            <a:r>
              <a:rPr/>
              <a:t> What is at risk?</a:t>
            </a:r>
          </a:p>
          <a:p>
            <a:pPr lvl="0"/>
            <a:r>
              <a:rPr/>
              <a:t>Buildings and infrastructure</a:t>
            </a:r>
          </a:p>
          <a:p>
            <a:pPr lvl="0"/>
            <a:r>
              <a:rPr/>
              <a:t>People and livelihoods</a:t>
            </a:r>
          </a:p>
          <a:p>
            <a:pPr lvl="0"/>
            <a:r>
              <a:rPr/>
              <a:t>Agricultural land</a:t>
            </a:r>
          </a:p>
          <a:p>
            <a:pPr lvl="0"/>
            <a:r>
              <a:rPr/>
              <a:t>Economic activity</a:t>
            </a:r>
          </a:p>
          <a:p>
            <a:pPr lvl="0" indent="0" marL="0">
              <a:buNone/>
            </a:pPr>
            <a:r>
              <a:rPr/>
              <a:t>Key insight: Exposure </a:t>
            </a:r>
            <a:r>
              <a:rPr b="1"/>
              <a:t>changes over time</a:t>
            </a:r>
            <a:r>
              <a:rPr/>
              <a:t> with development and migration.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Vulnerability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Vulnerability:</a:t>
            </a:r>
            <a:r>
              <a:rPr/>
              <a:t> Propensity to suffer damage given exposure to hazard</a:t>
            </a:r>
          </a:p>
          <a:p>
            <a:pPr lvl="0" indent="0" marL="0">
              <a:buNone/>
            </a:pPr>
            <a:r>
              <a:rPr/>
              <a:t>Important distinction:</a:t>
            </a:r>
          </a:p>
          <a:p>
            <a:pPr lvl="0"/>
            <a:r>
              <a:rPr b="1"/>
              <a:t>Fragility:</a:t>
            </a:r>
            <a:r>
              <a:rPr/>
              <a:t> Probability of failure (binary)</a:t>
            </a:r>
          </a:p>
          <a:p>
            <a:pPr lvl="0"/>
            <a:r>
              <a:rPr b="1"/>
              <a:t>Vulnerability:</a:t>
            </a:r>
            <a:r>
              <a:rPr/>
              <a:t> Degree of damage (continuous)</a:t>
            </a:r>
          </a:p>
          <a:p>
            <a:pPr lvl="0" indent="0" marL="0">
              <a:buNone/>
            </a:pPr>
            <a:r>
              <a:rPr/>
              <a:t>For floods, we typically use </a:t>
            </a:r>
            <a:r>
              <a:rPr b="1"/>
              <a:t>depth-damage functions</a:t>
            </a:r>
            <a:r>
              <a:rPr/>
              <a:t> to quantify vulnerability.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Depth-Damage Functions</a:t>
            </a:r>
          </a:p>
        </p:txBody>
      </p:sp>
      <p:pic>
        <p:nvPicPr>
          <p:cNvPr descr="wing_vulnerability_2020_fig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11400" y="1193800"/>
            <a:ext cx="4508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Empirical depth-damage relationships from NFIP claims data. Boxplots show Wing et al. (2020) analysis; lines show USACE depth-damage curves.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Observations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the depth-damage data:</a:t>
            </a:r>
          </a:p>
          <a:p>
            <a:pPr lvl="0"/>
            <a:r>
              <a:rPr/>
              <a:t>Damage increases with depth (obvious)</a:t>
            </a:r>
          </a:p>
          <a:p>
            <a:pPr lvl="0"/>
            <a:r>
              <a:rPr b="1"/>
              <a:t>Huge uncertainty</a:t>
            </a:r>
            <a:r>
              <a:rPr/>
              <a:t> at any given depth</a:t>
            </a:r>
          </a:p>
          <a:p>
            <a:pPr lvl="0"/>
            <a:r>
              <a:rPr/>
              <a:t>Empirical data differs from engineering curves</a:t>
            </a:r>
          </a:p>
          <a:p>
            <a:pPr lvl="0"/>
            <a:r>
              <a:rPr/>
              <a:t>First foot of water causes significant damage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= f(Hazard, Exposure, Vulnerability)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is the hazard intensity (e.g., flood depth).</a:t>
                </a:r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expected damages</a:t>
                </a:r>
                <a:r>
                  <a:rPr/>
                  <a:t>, we integrate over the hazard distribution: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XLRM Framework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 from Week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XLRM helps us structure decision problems under uncertainty:</a:t>
            </a:r>
          </a:p>
          <a:p>
            <a:pPr lvl="0"/>
            <a:r>
              <a:rPr b="1"/>
              <a:t>X</a:t>
            </a:r>
            <a:r>
              <a:rPr/>
              <a:t>: e</a:t>
            </a:r>
            <a:r>
              <a:rPr b="1"/>
              <a:t>X</a:t>
            </a:r>
            <a:r>
              <a:rPr/>
              <a:t>ogenous uncertainties (things we can’t control)</a:t>
            </a:r>
          </a:p>
          <a:p>
            <a:pPr lvl="0"/>
            <a:r>
              <a:rPr b="1"/>
              <a:t>L</a:t>
            </a:r>
            <a:r>
              <a:rPr/>
              <a:t>: </a:t>
            </a:r>
            <a:r>
              <a:rPr b="1"/>
              <a:t>L</a:t>
            </a:r>
            <a:r>
              <a:rPr/>
              <a:t>evers (things we can control)</a:t>
            </a:r>
          </a:p>
          <a:p>
            <a:pPr lvl="0"/>
            <a:r>
              <a:rPr b="1"/>
              <a:t>R</a:t>
            </a:r>
            <a:r>
              <a:rPr/>
              <a:t>: </a:t>
            </a:r>
            <a:r>
              <a:rPr b="1"/>
              <a:t>R</a:t>
            </a:r>
            <a:r>
              <a:rPr/>
              <a:t>elationships (models connecting X and L to outcomes)</a:t>
            </a:r>
          </a:p>
          <a:p>
            <a:pPr lvl="0"/>
            <a:r>
              <a:rPr b="1"/>
              <a:t>M</a:t>
            </a:r>
            <a:r>
              <a:rPr/>
              <a:t>: </a:t>
            </a:r>
            <a:r>
              <a:rPr b="1"/>
              <a:t>M</a:t>
            </a:r>
            <a:r>
              <a:rPr/>
              <a:t>etrics (how we measure success)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XLRM for Flood Risk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Flood Risk 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 level rise, storm intensity, housing prices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Elevate house, build seawall, buy insurance, retreat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Depth-damage function, storm surge model, economic model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Expected annual damages, probability of ruin, NPV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city is deciding whether to build a new seawall.</a:t>
            </a:r>
          </a:p>
          <a:p>
            <a:pPr lvl="0" indent="0" marL="0">
              <a:buNone/>
            </a:pPr>
            <a:r>
              <a:rPr/>
              <a:t>What are the </a:t>
            </a:r>
            <a:r>
              <a:rPr b="1"/>
              <a:t>X</a:t>
            </a:r>
            <a:r>
              <a:rPr/>
              <a:t>, </a:t>
            </a:r>
            <a:r>
              <a:rPr b="1"/>
              <a:t>L</a:t>
            </a:r>
            <a:r>
              <a:rPr/>
              <a:t>, </a:t>
            </a:r>
            <a:r>
              <a:rPr b="1"/>
              <a:t>R</a:t>
            </a:r>
            <a:r>
              <a:rPr/>
              <a:t>, and </a:t>
            </a:r>
            <a:r>
              <a:rPr b="1"/>
              <a:t>M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Discuss with a neighbor for 60 seconds.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Insight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XLRM framework helps us:</a:t>
            </a:r>
          </a:p>
          <a:p>
            <a:pPr lvl="0" indent="-342900" marL="342900">
              <a:buAutoNum type="arabicPeriod"/>
            </a:pPr>
            <a:r>
              <a:rPr/>
              <a:t>Identify what we know vs. what is uncertain</a:t>
            </a:r>
          </a:p>
          <a:p>
            <a:pPr lvl="0" indent="-342900" marL="342900">
              <a:buAutoNum type="arabicPeriod"/>
            </a:pPr>
            <a:r>
              <a:rPr/>
              <a:t>Clarify what decisions we control</a:t>
            </a:r>
          </a:p>
          <a:p>
            <a:pPr lvl="0" indent="-342900" marL="342900">
              <a:buAutoNum type="arabicPeriod"/>
            </a:pPr>
            <a:r>
              <a:rPr/>
              <a:t>Make explicit how we model the system</a:t>
            </a:r>
          </a:p>
          <a:p>
            <a:pPr lvl="0" indent="-342900" marL="342900">
              <a:buAutoNum type="arabicPeriod"/>
            </a:pPr>
            <a:r>
              <a:rPr/>
              <a:t>Define how we measure success</a:t>
            </a:r>
          </a:p>
          <a:p>
            <a:pPr lvl="0" indent="0" marL="0">
              <a:buNone/>
            </a:pPr>
            <a:r>
              <a:rPr/>
              <a:t>This is how we structure complex problems throughout the course.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Extreme Value Theory (Brief)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Extremes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flood damage comes from </a:t>
            </a:r>
            <a:r>
              <a:rPr b="1"/>
              <a:t>rare, extreme events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problem: Normal distributions </a:t>
            </a:r>
            <a:r>
              <a:rPr b="1"/>
              <a:t>underestimate extreme risks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We need specialized tools for modeling the tails of distributions.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GEV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Generalized Extreme Value (GEV)</a:t>
                </a:r>
                <a:r>
                  <a:rPr/>
                  <a:t> distribution is designed for annual maxima.</a:t>
                </a:r>
              </a:p>
              <a:p>
                <a:pPr lvl="0" indent="0" marL="0">
                  <a:buNone/>
                </a:pPr>
                <a:r>
                  <a:rPr/>
                  <a:t>Three parameters: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(location): Where the distribution is centered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(scale): How spread out it is</a:t>
                </a:r>
              </a:p>
              <a:p>
                <a:pPr lvl="0"/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  <a:r>
                  <a:rPr/>
                  <a:t> (shape): How heavy the tail is</a:t>
                </a:r>
              </a:p>
              <a:p>
                <a:pPr lvl="0" indent="0" marL="0">
                  <a:buNone/>
                </a:pPr>
                <a:r>
                  <a:rPr/>
                  <a:t>For a deeper dive: </a:t>
                </a:r>
                <a:r>
                  <a:rPr>
                    <a:hlinkClick r:id="rId3"/>
                  </a:rPr>
                  <a:t>CEVE 543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GEV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lab on Friday, you will:</a:t>
            </a:r>
          </a:p>
          <a:p>
            <a:pPr lvl="0" indent="-342900" marL="342900">
              <a:buAutoNum type="arabicPeriod"/>
            </a:pPr>
            <a:r>
              <a:rPr/>
              <a:t>Fit a GEV distribution to real gauge data</a:t>
            </a:r>
          </a:p>
          <a:p>
            <a:pPr lvl="0" indent="-342900" marL="342900">
              <a:buAutoNum type="arabicPeriod"/>
            </a:pPr>
            <a:r>
              <a:rPr/>
              <a:t>Sample from it to generate many possible flood scenarios</a:t>
            </a:r>
          </a:p>
          <a:p>
            <a:pPr lvl="0" indent="-342900" marL="342900">
              <a:buAutoNum type="arabicPeriod"/>
            </a:pPr>
            <a:r>
              <a:rPr/>
              <a:t>Pass those through a damage model</a:t>
            </a:r>
          </a:p>
          <a:p>
            <a:pPr lvl="0" indent="-342900" marL="342900">
              <a:buAutoNum type="arabicPeriod"/>
            </a:pPr>
            <a:r>
              <a:rPr/>
              <a:t>Study the resulting distribution of damages</a:t>
            </a:r>
          </a:p>
          <a:p>
            <a:pPr lvl="0" indent="0" marL="0">
              <a:buNone/>
            </a:pPr>
            <a:r>
              <a:rPr/>
              <a:t>This is </a:t>
            </a:r>
            <a:r>
              <a:rPr b="1"/>
              <a:t>uncertainty quantification</a:t>
            </a:r>
            <a:r>
              <a:rPr/>
              <a:t> in action.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iCOW Model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Introducing iCOW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iCOW</a:t>
            </a:r>
            <a:r>
              <a:rPr/>
              <a:t> = </a:t>
            </a:r>
            <a:r>
              <a:rPr b="1"/>
              <a:t>i</a:t>
            </a:r>
            <a:r>
              <a:rPr/>
              <a:t>dealized </a:t>
            </a:r>
            <a:r>
              <a:rPr b="1"/>
              <a:t>C</a:t>
            </a:r>
            <a:r>
              <a:rPr/>
              <a:t>ost </a:t>
            </a:r>
            <a:r>
              <a:rPr b="1"/>
              <a:t>o</a:t>
            </a:r>
            <a:r>
              <a:rPr/>
              <a:t>f </a:t>
            </a:r>
            <a:r>
              <a:rPr b="1"/>
              <a:t>W</a:t>
            </a:r>
            <a:r>
              <a:rPr/>
              <a:t>aiting</a:t>
            </a:r>
          </a:p>
          <a:p>
            <a:pPr lvl="0" indent="0" marL="0">
              <a:buNone/>
            </a:pPr>
            <a:r>
              <a:rPr/>
              <a:t>Based on Ceres, Forest, and Keller (2019): “City on a Wedge”</a:t>
            </a:r>
          </a:p>
          <a:p>
            <a:pPr lvl="0" indent="0" marL="0">
              <a:buNone/>
            </a:pPr>
            <a:r>
              <a:rPr/>
              <a:t>A simple, fast, pedagogical model for flood risk management.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City on a Wedge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Imagine a city on a triangular wedge:</a:t>
            </a:r>
          </a:p>
          <a:p>
            <a:pPr lvl="0"/>
            <a:r>
              <a:rPr/>
              <a:t>One side faces the water</a:t>
            </a:r>
          </a:p>
          <a:p>
            <a:pPr lvl="0"/>
            <a:r>
              <a:rPr/>
              <a:t>Elevation increases as you move inland</a:t>
            </a:r>
          </a:p>
          <a:p>
            <a:pPr lvl="0"/>
            <a:r>
              <a:rPr/>
              <a:t>Houses at different elevations face different flood risks</a:t>
            </a:r>
          </a:p>
          <a:p>
            <a:pPr lvl="0" indent="0" marL="0">
              <a:buNone/>
            </a:pPr>
            <a:r>
              <a:rPr/>
              <a:t>Simple geometry makes calculations tractable.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iCOW Components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iCOW 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Hazard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Storm surge / flood stage (GEV distribution)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Exposure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Houses at different elevations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Vulnerability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Depth-damage function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Levers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Elevate houses, build seawall, managed retreat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iCOW?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use this simplified model?</a:t>
            </a:r>
          </a:p>
          <a:p>
            <a:pPr lvl="0"/>
            <a:r>
              <a:rPr b="1"/>
              <a:t>Fast enough</a:t>
            </a:r>
            <a:r>
              <a:rPr/>
              <a:t> for many Monte Carlo simulations</a:t>
            </a:r>
          </a:p>
          <a:p>
            <a:pPr lvl="0"/>
            <a:r>
              <a:rPr b="1"/>
              <a:t>Simple enough</a:t>
            </a:r>
            <a:r>
              <a:rPr/>
              <a:t> to understand completely</a:t>
            </a:r>
          </a:p>
          <a:p>
            <a:pPr lvl="0"/>
            <a:r>
              <a:rPr b="1"/>
              <a:t>Rich enough</a:t>
            </a:r>
            <a:r>
              <a:rPr/>
              <a:t> to explore real trade-offs</a:t>
            </a:r>
          </a:p>
          <a:p>
            <a:pPr lvl="0" indent="0" marL="0">
              <a:buNone/>
            </a:pPr>
            <a:r>
              <a:rPr/>
              <a:t>We will use iCOW throughout the semester to explore risk management decisions.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</a:t>
            </a:r>
            <a:r>
              <a:rPr/>
              <a:t> emerges from the interaction of hazard, exposure, and vulnerability</a:t>
            </a:r>
          </a:p>
          <a:p>
            <a:pPr lvl="0" indent="-342900" marL="342900">
              <a:buAutoNum type="arabicPeriod"/>
            </a:pPr>
            <a:r>
              <a:rPr b="1"/>
              <a:t>XLRM</a:t>
            </a:r>
            <a:r>
              <a:rPr/>
              <a:t> helps us structure complex decision problems</a:t>
            </a:r>
          </a:p>
          <a:p>
            <a:pPr lvl="0" indent="-342900" marL="342900">
              <a:buAutoNum type="arabicPeriod"/>
            </a:pPr>
            <a:r>
              <a:rPr b="1"/>
              <a:t>Extreme events</a:t>
            </a:r>
            <a:r>
              <a:rPr/>
              <a:t> require specialized distributions (GEV)</a:t>
            </a:r>
          </a:p>
          <a:p>
            <a:pPr lvl="0" indent="-342900" marL="342900">
              <a:buAutoNum type="arabicPeriod"/>
            </a:pPr>
            <a:r>
              <a:rPr b="1"/>
              <a:t>iCOW</a:t>
            </a:r>
            <a:r>
              <a:rPr/>
              <a:t> is our pedagogical sandbox for exploring flood risk decisions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Friday, you will:</a:t>
            </a:r>
          </a:p>
          <a:p>
            <a:pPr lvl="0" indent="-342900" marL="342900">
              <a:buAutoNum type="arabicPeriod"/>
            </a:pPr>
            <a:r>
              <a:rPr/>
              <a:t>Fit a GEV distribution to real flood gauge data</a:t>
            </a:r>
          </a:p>
          <a:p>
            <a:pPr lvl="0" indent="-342900" marL="342900">
              <a:buAutoNum type="arabicPeriod"/>
            </a:pPr>
            <a:r>
              <a:rPr/>
              <a:t>Define a HAZUS-style depth-damage function</a:t>
            </a:r>
          </a:p>
          <a:p>
            <a:pPr lvl="0" indent="-342900" marL="342900">
              <a:buAutoNum type="arabicPeriod"/>
            </a:pPr>
            <a:r>
              <a:rPr/>
              <a:t>Compute damage distributions using Monte Carlo</a:t>
            </a:r>
          </a:p>
          <a:p>
            <a:pPr lvl="0" indent="-342900" marL="342900">
              <a:buAutoNum type="arabicPeriod"/>
            </a:pPr>
            <a:r>
              <a:rPr/>
              <a:t>Extend to 100 houses at varying elevations</a:t>
            </a:r>
          </a:p>
          <a:p>
            <a:pPr lvl="0" indent="-342900" marL="342900">
              <a:buAutoNum type="arabicPeriod"/>
            </a:pPr>
            <a:r>
              <a:rPr/>
              <a:t>Get started with the ICOW package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Reading:</a:t>
            </a:r>
            <a:r>
              <a:rPr/>
              <a:t> Ceres, Forest, and Keller (2019) “City on a Wedge”</a:t>
            </a:r>
          </a:p>
          <a:p>
            <a:pPr lvl="0"/>
            <a:r>
              <a:rPr/>
              <a:t>Focus on Sections 1-3 (model description)</a:t>
            </a:r>
          </a:p>
          <a:p>
            <a:pPr lvl="0"/>
            <a:r>
              <a:rPr/>
              <a:t>Understand the geometry and assumptions</a:t>
            </a:r>
          </a:p>
          <a:p>
            <a:pPr lvl="0"/>
            <a:r>
              <a:rPr/>
              <a:t>Come prepared with questions</a:t>
            </a:r>
          </a:p>
          <a:p>
            <a:pPr lvl="0" indent="0" marL="0">
              <a:buNone/>
            </a:pPr>
            <a:r>
              <a:rPr/>
              <a:t>This gives you context for the lab and the rest of the semester.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Ceres, Robert L., Chris E. Forest, and Klaus Keller. 2019. “Optimization of Multiple Storm Surge Risk Mitigation Strategies for an Island City On a Wedge.” </a:t>
            </a:r>
            <a:r>
              <a:rPr i="1"/>
              <a:t>Environmental Modelling &amp; Software</a:t>
            </a:r>
            <a:r>
              <a:rPr/>
              <a:t> 119 (September): 341–53. </a:t>
            </a:r>
            <a:r>
              <a:rPr>
                <a:hlinkClick r:id="rId2"/>
              </a:rPr>
              <a:t>https://doi.org/10.1016/j.envsoft.2019.06.011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Wing, Oliver E. J., Nicholas Pinter, Paul D. Bates, and Carolyn Kousky. 2020. “New Insights into US Flood Vulnerability Revealed from Flood Insurance Big Data.” </a:t>
            </a:r>
            <a:r>
              <a:rPr i="1"/>
              <a:t>Nature Communications</a:t>
            </a:r>
            <a:r>
              <a:rPr/>
              <a:t> 11 (1, 1): 1444. </a:t>
            </a:r>
            <a:r>
              <a:rPr>
                <a:hlinkClick r:id="rId3"/>
              </a:rPr>
              <a:t>https://doi.org/10.1038/s41467-020-15264-2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Hazard, Exposure, Vulnerability</dc:title>
  <dc:creator>Dr. James Doss-Gollin</dc:creator>
  <cp:keywords/>
  <dcterms:created xsi:type="dcterms:W3CDTF">2026-01-13T18:27:56Z</dcterms:created>
  <dcterms:modified xsi:type="dcterms:W3CDTF">2026-01-13T18:27:56Z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2026-01-21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2</vt:lpwstr>
  </property>
</Properties>
</file>
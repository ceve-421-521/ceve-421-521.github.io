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notesMaster" Target="notesMasters/notesMaster1.xml" /><Relationship Id="rId48" Type="http://schemas.openxmlformats.org/officeDocument/2006/relationships/viewProps" Target="viewProps.xml" /><Relationship Id="rId4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0" Type="http://schemas.openxmlformats.org/officeDocument/2006/relationships/tableStyles" Target="tableStyles.xml" /><Relationship Id="rId49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?><Relationships xmlns="http://schemas.openxmlformats.org/package/2006/relationships"><Relationship Id="rId2" Type="http://schemas.openxmlformats.org/officeDocument/2006/relationships/slide" Target="../slides/slide35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?><Relationships xmlns="http://schemas.openxmlformats.org/package/2006/relationships"><Relationship Id="rId2" Type="http://schemas.openxmlformats.org/officeDocument/2006/relationships/slide" Target="../slides/slide37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?><Relationships xmlns="http://schemas.openxmlformats.org/package/2006/relationships"><Relationship Id="rId2" Type="http://schemas.openxmlformats.org/officeDocument/2006/relationships/slide" Target="../slides/slide39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?><Relationships xmlns="http://schemas.openxmlformats.org/package/2006/relationships"><Relationship Id="rId2" Type="http://schemas.openxmlformats.org/officeDocument/2006/relationships/slide" Target="../slides/slide40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?><Relationships xmlns="http://schemas.openxmlformats.org/package/2006/relationships"><Relationship Id="rId2" Type="http://schemas.openxmlformats.org/officeDocument/2006/relationships/slide" Target="../slides/slide42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?><Relationships xmlns="http://schemas.openxmlformats.org/package/2006/relationships"><Relationship Id="rId2" Type="http://schemas.openxmlformats.org/officeDocument/2006/relationships/slide" Target="../slides/slide4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1:00. Open with a question that motivates the math.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1:03. Get brains working immediately. Give 30 seconds to think, then cold call 2-3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1:05. Key insight: we weight by probability.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1:07. Quick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1:10. Emphasize that hazard is the physical event, not the damage.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1:12. Exposure is about WHAT is at risk, not how vulnerable it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1:14. Local example: Houston’s footprint has exploded.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1:16. This is where depth-damage functions come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1:18. Show the Gidaris figure - panel (a) is a 3D fragility surface, panel (b) shows fragility curves.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1:20. Show the Wing figure. Discuss the huge uncertainty in these relationships.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1:22. Pause and ask students what they observe.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1:24. Core equation for the course. Write on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1:26. This figure shows the full workflow from data to expected annual damage.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1:28. Give students 60 seconds to think. Then cold call 2-3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1:32. This is the bridge to Friday’s lab. Draw on board if helpful.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1:34. Simple example to build intuition.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1:36. Critical conceptual point. This equation WILL be on assessments. Draw convex function with secant line above curve.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25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1:38. Concrete example demonstrating the inequality.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1:40. Connect Monte Carlo to the integration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29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1:42. Keep it simple - just the intuition.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30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1:43. Procedural summary connecting to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31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1:44. Just planting the seed here. Deeper coverage in Week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33</a:t>
            </a:fld>
            <a:endParaRPr lang="en-US"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1:45. Keep it light. Just enough to use in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34</a:t>
            </a:fld>
            <a:endParaRPr lang="en-US"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1:46. Preview what they’ll do in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35</a:t>
            </a:fld>
            <a:endParaRPr lang="en-US"/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1:47. Set up the problem students will use all semester.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37</a:t>
            </a:fld>
            <a:endParaRPr lang="en-US"/>
          </a:p>
        </p:txBody>
      </p:sp>
    </p:spTree>
  </p:cSld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1:48. Draw on board if helpful.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39</a:t>
            </a:fld>
            <a:endParaRPr lang="en-US"/>
          </a:p>
        </p:txBody>
      </p:sp>
    </p:spTree>
  </p:cSld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1:48. Connect to the iCOW model and SimOptDecisions.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40</a:t>
            </a:fld>
            <a:endParaRPr lang="en-US"/>
          </a:p>
        </p:txBody>
      </p:sp>
    </p:spTree>
  </p:cSld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1:49. Summarize main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42</a:t>
            </a:fld>
            <a:endParaRPr lang="en-US"/>
          </a:p>
        </p:txBody>
      </p:sp>
    </p:spTree>
  </p:cSld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Target: 1:50. Connect to Friday’s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2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3.jp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4.jp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5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3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4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5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jpg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6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27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8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9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i.org/10.1061/(ASCE)ST.1943-541X.0001672" TargetMode="External" /><Relationship Id="rId3" Type="http://schemas.openxmlformats.org/officeDocument/2006/relationships/hyperlink" Target="https://doi.org/10.1016/j.gloenvcha.2012.07.004" TargetMode="External" /><Relationship Id="rId4" Type="http://schemas.openxmlformats.org/officeDocument/2006/relationships/hyperlink" Target="https://doi.org/10.1007/s10113-013-0420-z" TargetMode="External" /><Relationship Id="rId5" Type="http://schemas.openxmlformats.org/officeDocument/2006/relationships/hyperlink" Target="https://doi.org/10.5194/nhess-20-907-2020" TargetMode="External" /><Relationship Id="rId6" Type="http://schemas.openxmlformats.org/officeDocument/2006/relationships/hyperlink" Target="https://doi.org/10.1038/s41467-020-15264-2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Hazard, Exposure, Vulnerability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</a:t>
            </a:r>
            <a:br/>
            <a:br/>
            <a:r>
              <a:rPr/>
              <a:t>James Doss-Gollin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2026-01-21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a Fair Insurance Premium?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own a house in a flood zone.</a:t>
            </a:r>
          </a:p>
          <a:p>
            <a:pPr lvl="0" indent="0" marL="0">
              <a:buNone/>
            </a:pPr>
            <a:r>
              <a:rPr/>
              <a:t>An insurance company offers you a policy.</a:t>
            </a:r>
          </a:p>
          <a:p>
            <a:pPr lvl="0" indent="0" marL="0">
              <a:buNone/>
            </a:pPr>
            <a:r>
              <a:rPr b="1"/>
              <a:t>How do they decide what to charge you?</a:t>
            </a:r>
          </a:p>
          <a:p>
            <a:pPr lvl="0" indent="0" marL="0">
              <a:buNone/>
            </a:pPr>
            <a:r>
              <a:rPr/>
              <a:t>Today: The math behind flood risk pricing.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Quick Estimate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house faces two possible flood scenarios this year: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Probability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Damage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flood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 ft flood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$50,000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What’s the expected annual damage?</a:t>
            </a:r>
          </a:p>
          <a:p>
            <a:pPr lvl="0" indent="0" marL="0">
              <a:buNone/>
            </a:pPr>
            <a:r>
              <a:rPr i="1"/>
              <a:t>(30 seconds to think)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Quick Estimate: Answer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E</m:t>
                      </m:r>
                      <m:r>
                        <m:rPr>
                          <m:sty m:val="p"/>
                        </m:rPr>
                        <m:t>[</m:t>
                      </m:r>
                      <m:r>
                        <m:rPr>
                          <m:nor/>
                          <m:sty m:val="p"/>
                        </m:rPr>
                        <m:t>Damage</m:t>
                      </m:r>
                      <m:r>
                        <m:rPr>
                          <m:sty m:val="p"/>
                        </m:rPr>
                        <m:t>]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0.8</m:t>
                      </m:r>
                      <m:r>
                        <m:rPr>
                          <m:sty m:val="p"/>
                        </m:rPr>
                        <m:t>×</m:t>
                      </m:r>
                      <m:r>
                        <m:rPr>
                          <m:sty m:val="p"/>
                        </m:rPr>
                        <m:t>$</m:t>
                      </m:r>
                      <m:r>
                        <m:t>0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0.2</m:t>
                      </m:r>
                      <m:r>
                        <m:rPr>
                          <m:sty m:val="p"/>
                        </m:rPr>
                        <m:t>×</m:t>
                      </m:r>
                      <m:r>
                        <m:rPr>
                          <m:sty m:val="p"/>
                        </m:rPr>
                        <m:t>$</m:t>
                      </m:r>
                      <m:r>
                        <m:t>50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000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$</m:t>
                      </m:r>
                      <m:r>
                        <m:t>10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000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This simple calculation is the core of </a:t>
                </a:r>
                <a:r>
                  <a:rPr b="1"/>
                  <a:t>risk analysis</a:t>
                </a:r>
                <a:r>
                  <a:rPr/>
                  <a:t>.</a:t>
                </a:r>
              </a:p>
              <a:p>
                <a:pPr lvl="0" indent="0" marL="0">
                  <a:buNone/>
                </a:pPr>
                <a:r>
                  <a:rPr/>
                  <a:t>Today: How do we do this when floods and damages are </a:t>
                </a:r>
                <a:r>
                  <a:rPr i="1"/>
                  <a:t>continuous</a:t>
                </a:r>
                <a:r>
                  <a:rPr/>
                  <a:t>?</a:t>
                </a:r>
              </a:p>
            </p:txBody>
          </p:sp>
        </mc:Choice>
      </mc:AlternateContent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-342900" marL="342900">
                  <a:buAutoNum type="arabicPeriod"/>
                </a:pPr>
                <a:r>
                  <a:rPr/>
                  <a:t>Define key vocabulary: hazard, exposure, vulnerability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See how these combine to produce </a:t>
                </a:r>
                <a:r>
                  <a:rPr b="1"/>
                  <a:t>risk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Learn why </a:t>
                </a:r>
                <a14:m>
                  <m:oMath xmlns:m="http://schemas.openxmlformats.org/officeDocument/2006/math">
                    <m:r>
                      <m:t>E</m:t>
                    </m:r>
                    <m:r>
                      <m:rPr>
                        <m:sty m:val="p"/>
                      </m:rPr>
                      <m:t>[</m:t>
                    </m:r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x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≠</m:t>
                    </m:r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  <m:r>
                      <m:rPr>
                        <m:sty m:val="p"/>
                      </m:rPr>
                      <m:t>[</m:t>
                    </m:r>
                    <m:r>
                      <m:t>x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(Jensen’s inequality)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Introduce Monte Carlo for complex damage functions</a:t>
                </a:r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Risk Analysis Vocabulary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Hazard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Hazard:</a:t>
            </a:r>
            <a:r>
              <a:rPr/>
              <a:t> The physical event or phenomenon</a:t>
            </a:r>
          </a:p>
          <a:p>
            <a:pPr lvl="0"/>
            <a:r>
              <a:rPr/>
              <a:t>Flood depth at a location</a:t>
            </a:r>
          </a:p>
          <a:p>
            <a:pPr lvl="0"/>
            <a:r>
              <a:rPr/>
              <a:t>Wind speed during a storm</a:t>
            </a:r>
          </a:p>
          <a:p>
            <a:pPr lvl="0"/>
            <a:r>
              <a:rPr/>
              <a:t>Ground shaking from an earthquake</a:t>
            </a:r>
          </a:p>
          <a:p>
            <a:pPr lvl="0"/>
            <a:r>
              <a:rPr/>
              <a:t>Extreme temperature</a:t>
            </a:r>
          </a:p>
          <a:p>
            <a:pPr lvl="0" indent="0" marL="0">
              <a:buNone/>
            </a:pPr>
            <a:r>
              <a:rPr/>
              <a:t>Key insight: Hazards are characterized by </a:t>
            </a:r>
            <a:r>
              <a:rPr b="1"/>
              <a:t>probability distributions</a:t>
            </a:r>
            <a:r>
              <a:rPr/>
              <a:t>, not single values.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Exposure: What’s at Risk?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Exposure</a:t>
            </a:r>
            <a:r>
              <a:rPr/>
              <a:t> = assets that could be affected</a:t>
            </a:r>
          </a:p>
          <a:p>
            <a:pPr lvl="0"/>
            <a:r>
              <a:rPr/>
              <a:t>Buildings and infrastructure</a:t>
            </a:r>
          </a:p>
          <a:p>
            <a:pPr lvl="0"/>
            <a:r>
              <a:rPr/>
              <a:t>People and livelihoods</a:t>
            </a:r>
          </a:p>
          <a:p>
            <a:pPr lvl="0"/>
            <a:r>
              <a:rPr/>
              <a:t>Agricultural land</a:t>
            </a:r>
          </a:p>
          <a:p>
            <a:pPr lvl="0"/>
            <a:r>
              <a:rPr/>
              <a:t>Economic activity</a:t>
            </a:r>
          </a:p>
        </p:txBody>
      </p:sp>
      <p:pic>
        <p:nvPicPr>
          <p:cNvPr descr="jongman_exposure_2012_fig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752600"/>
            <a:ext cx="4038600" cy="1752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 1: Global flood exposure has grown 10× since 1970. Source: Jongman et al. (2012)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Exposure Changes Over Time</a:t>
            </a:r>
          </a:p>
        </p:txBody>
      </p:sp>
      <p:pic>
        <p:nvPicPr>
          <p:cNvPr descr="tedesco_exposure_2020_fig8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578100" y="1193800"/>
            <a:ext cx="3987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 2: Houston’s built footprint 1800-2018. Development into flood-prone areas increases exposure. Source: Tedesco et al. (2020)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Vulnerability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Vulnerability:</a:t>
            </a:r>
            <a:r>
              <a:rPr/>
              <a:t> Propensity to suffer damage given exposure to hazard</a:t>
            </a:r>
          </a:p>
          <a:p>
            <a:pPr lvl="0" indent="0" marL="0">
              <a:buNone/>
            </a:pPr>
            <a:r>
              <a:rPr/>
              <a:t>Important distinction:</a:t>
            </a:r>
          </a:p>
          <a:p>
            <a:pPr lvl="0"/>
            <a:r>
              <a:rPr b="1"/>
              <a:t>Fragility:</a:t>
            </a:r>
            <a:r>
              <a:rPr/>
              <a:t> Probability of failure (binary)</a:t>
            </a:r>
          </a:p>
          <a:p>
            <a:pPr lvl="0"/>
            <a:r>
              <a:rPr b="1"/>
              <a:t>Vulnerability:</a:t>
            </a:r>
            <a:r>
              <a:rPr/>
              <a:t> Degree of damage (continuous, 0-1)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Fragility vs. Vulnerability</a:t>
            </a:r>
          </a:p>
        </p:txBody>
      </p:sp>
      <p:pic>
        <p:nvPicPr>
          <p:cNvPr descr="gidaris_multiplehazard_2017.jp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638300" y="1193800"/>
            <a:ext cx="5880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 3: Fragility surfaces (a) and curves (b) show probability of damage given hazard intensity. Source: Gidaris et al. (2017)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Depth-Damage Functions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floods, </a:t>
            </a:r>
            <a:r>
              <a:rPr b="1"/>
              <a:t>depth-damage functions</a:t>
            </a:r>
            <a:r>
              <a:rPr/>
              <a:t> quantify vulnerability:</a:t>
            </a:r>
          </a:p>
        </p:txBody>
      </p:sp>
      <p:pic>
        <p:nvPicPr>
          <p:cNvPr descr="wing_vulnerability_2020_fig1.jp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508000"/>
            <a:ext cx="5105400" cy="3263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 4: Empirical depth-damage from NFIP claims data. Boxplots: Wing et al. (2020) analysis. Lines: USACE engineering curves.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Do You Notice?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the depth-damage data:</a:t>
            </a:r>
          </a:p>
          <a:p>
            <a:pPr lvl="0"/>
            <a:r>
              <a:rPr/>
              <a:t>Damage increases with depth (obvious)</a:t>
            </a:r>
          </a:p>
          <a:p>
            <a:pPr lvl="0"/>
            <a:r>
              <a:rPr b="1"/>
              <a:t>Huge uncertainty</a:t>
            </a:r>
            <a:r>
              <a:rPr/>
              <a:t> at any given depth</a:t>
            </a:r>
          </a:p>
          <a:p>
            <a:pPr lvl="0"/>
            <a:r>
              <a:rPr/>
              <a:t>Empirical data differs from engineering curves</a:t>
            </a:r>
          </a:p>
          <a:p>
            <a:pPr lvl="0"/>
            <a:r>
              <a:rPr/>
              <a:t>First foot of water causes significant damage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From Components to Risk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Risk = f(Hazard, Exposure, Vulnerability)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fundamental equation: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Damage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nor/>
                          <m:sty m:val="p"/>
                        </m:rPr>
                        <m:t>Vulnerability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h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×</m:t>
                      </m:r>
                      <m:r>
                        <m:rPr>
                          <m:nor/>
                          <m:sty m:val="p"/>
                        </m:rPr>
                        <m:t>Exposure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 </a:t>
                </a:r>
                <a14:m>
                  <m:oMath xmlns:m="http://schemas.openxmlformats.org/officeDocument/2006/math">
                    <m:r>
                      <m:t>h</m:t>
                    </m:r>
                  </m:oMath>
                </a14:m>
                <a:r>
                  <a:rPr/>
                  <a:t> is the hazard intensity (e.g., flood depth).</a:t>
                </a:r>
              </a:p>
              <a:p>
                <a:pPr lvl="0" indent="0" marL="0">
                  <a:buNone/>
                </a:pPr>
                <a:r>
                  <a:rPr/>
                  <a:t>For </a:t>
                </a:r>
                <a:r>
                  <a:rPr b="1"/>
                  <a:t>expected damages</a:t>
                </a:r>
                <a:r>
                  <a:rPr/>
                  <a:t>, we integrate over the hazard distribution: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E</m:t>
                      </m:r>
                      <m:r>
                        <m:rPr>
                          <m:sty m:val="p"/>
                        </m:rPr>
                        <m:t>[</m:t>
                      </m:r>
                      <m:r>
                        <m:rPr>
                          <m:nor/>
                          <m:sty m:val="p"/>
                        </m:rPr>
                        <m:t>Damage</m:t>
                      </m:r>
                      <m:r>
                        <m:rPr>
                          <m:sty m:val="p"/>
                        </m:rPr>
                        <m:t>]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∫</m:t>
                      </m:r>
                      <m:r>
                        <m:rPr>
                          <m:nor/>
                          <m:sty m:val="p"/>
                        </m:rPr>
                        <m:t>Vulnerability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h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×</m:t>
                      </m:r>
                      <m:r>
                        <m:rPr>
                          <m:nor/>
                          <m:sty m:val="p"/>
                        </m:rPr>
                        <m:t>Exposure</m:t>
                      </m:r>
                      <m:r>
                        <m:rPr>
                          <m:sty m:val="p"/>
                        </m:rPr>
                        <m:t>×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h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t> </m:t>
                      </m:r>
                      <m:r>
                        <m:t>d</m:t>
                      </m:r>
                      <m:r>
                        <m:t>h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Annual Expected Damages at Scale</a:t>
            </a:r>
          </a:p>
        </p:txBody>
      </p:sp>
      <p:pic>
        <p:nvPicPr>
          <p:cNvPr descr="demoel_reducing_2014_fig2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349500" y="1193800"/>
            <a:ext cx="4445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Figure 5: From hazard and exposure data through damage models to expected annual damage (EAD). Source: de Moel et al. (2014)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Turn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city is deciding whether to build a new seawall.</a:t>
            </a:r>
          </a:p>
          <a:p>
            <a:pPr lvl="0" indent="0" marL="0">
              <a:buNone/>
            </a:pPr>
            <a:r>
              <a:rPr/>
              <a:t>Identify the </a:t>
            </a:r>
            <a:r>
              <a:rPr b="1"/>
              <a:t>hazard</a:t>
            </a:r>
            <a:r>
              <a:rPr/>
              <a:t>, </a:t>
            </a:r>
            <a:r>
              <a:rPr b="1"/>
              <a:t>exposure</a:t>
            </a:r>
            <a:r>
              <a:rPr/>
              <a:t>, and </a:t>
            </a:r>
            <a:r>
              <a:rPr b="1"/>
              <a:t>vulnerability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Discuss with a neighbor for 60 seconds.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Convolution: Hazard → Damages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Key Mathematical Idea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We have:</a:t>
                </a:r>
              </a:p>
              <a:p>
                <a:pPr lvl="0"/>
                <a:r>
                  <a:rPr/>
                  <a:t>A </a:t>
                </a:r>
                <a:r>
                  <a:rPr b="1"/>
                  <a:t>hazard distribution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r>
                      <m:t>h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: probability of each flood depth</a:t>
                </a:r>
              </a:p>
              <a:p>
                <a:pPr lvl="0"/>
                <a:r>
                  <a:rPr/>
                  <a:t>A </a:t>
                </a:r>
                <a:r>
                  <a:rPr b="1"/>
                  <a:t>damage function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D</m:t>
                    </m:r>
                    <m:r>
                      <m:rPr>
                        <m:sty m:val="p"/>
                      </m:rPr>
                      <m:t>(</m:t>
                    </m:r>
                    <m:r>
                      <m:t>h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: damage given flood depth</a:t>
                </a:r>
              </a:p>
              <a:p>
                <a:pPr lvl="0" indent="0" marL="0">
                  <a:buNone/>
                </a:pPr>
                <a:r>
                  <a:rPr/>
                  <a:t>We want:</a:t>
                </a:r>
              </a:p>
              <a:p>
                <a:pPr lvl="0"/>
                <a:r>
                  <a:rPr/>
                  <a:t>The </a:t>
                </a:r>
                <a:r>
                  <a:rPr b="1"/>
                  <a:t>damage distribution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: probability of each damage level</a:t>
                </a:r>
              </a:p>
              <a:p>
                <a:pPr lvl="0" indent="0" marL="0">
                  <a:buNone/>
                </a:pPr>
                <a:r>
                  <a:rPr/>
                  <a:t>This transformation is called </a:t>
                </a:r>
                <a:r>
                  <a:rPr b="1"/>
                  <a:t>convolution</a:t>
                </a:r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Convolution Illustrated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Hazard Distribution</a:t>
            </a:r>
          </a:p>
          <a:p>
            <a:pPr lvl="0"/>
            <a:r>
              <a:rPr/>
              <a:t>50% chance: no flood (h=0)</a:t>
            </a:r>
          </a:p>
          <a:p>
            <a:pPr lvl="0"/>
            <a:r>
              <a:rPr/>
              <a:t>30% chance: minor flood (h=2ft)</a:t>
            </a:r>
          </a:p>
          <a:p>
            <a:pPr lvl="0"/>
            <a:r>
              <a:rPr/>
              <a:t>20% chance: major flood (h=6ft)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Damage Function</a:t>
            </a:r>
          </a:p>
          <a:p>
            <a:pPr lvl="0"/>
            <a:r>
              <a:rPr/>
              <a:t>h=0 → $0 damage</a:t>
            </a:r>
          </a:p>
          <a:p>
            <a:pPr lvl="0"/>
            <a:r>
              <a:rPr/>
              <a:t>h=2ft → $10,000 damage</a:t>
            </a:r>
          </a:p>
          <a:p>
            <a:pPr lvl="0"/>
            <a:r>
              <a:rPr/>
              <a:t>h=6ft → $100,000 damage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Damage Distribution:</a:t>
            </a:r>
          </a:p>
          <a:p>
            <a:pPr lvl="0"/>
            <a:r>
              <a:rPr/>
              <a:t>50% chance: $0</a:t>
            </a:r>
          </a:p>
          <a:p>
            <a:pPr lvl="0"/>
            <a:r>
              <a:rPr/>
              <a:t>30% chance: $10,000</a:t>
            </a:r>
          </a:p>
          <a:p>
            <a:pPr lvl="0"/>
            <a:r>
              <a:rPr/>
              <a:t>20% chance: $100,000</a:t>
            </a:r>
          </a:p>
          <a:p>
            <a:pPr lvl="0" indent="0" marL="0">
              <a:buNone/>
            </a:pPr>
            <a:r>
              <a:rPr/>
              <a:t>Expected damage = $0.5(0) + 0.3(10k) + 0.2(100k) = </a:t>
            </a:r>
            <a:r>
              <a:rPr b="1"/>
              <a:t>$23,000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Jensen’s Inequality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For any nonlinear function </a:t>
                </a:r>
                <a14:m>
                  <m:oMath xmlns:m="http://schemas.openxmlformats.org/officeDocument/2006/math">
                    <m:r>
                      <m:t>f</m:t>
                    </m:r>
                  </m:oMath>
                </a14:m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E</m:t>
                      </m:r>
                      <m:r>
                        <m:rPr>
                          <m:sty m:val="p"/>
                        </m:rPr>
                        <m:t>[</m:t>
                      </m:r>
                      <m:r>
                        <m:t>f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]</m:t>
                      </m:r>
                      <m:r>
                        <m:rPr>
                          <m:sty m:val="p"/>
                        </m:rPr>
                        <m:t>≠</m:t>
                      </m:r>
                      <m:r>
                        <m:t>f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E</m:t>
                      </m:r>
                      <m:r>
                        <m:rPr>
                          <m:sty m:val="p"/>
                        </m:rPr>
                        <m:t>[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]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This will be on assessments. Know it.</a:t>
                </a:r>
              </a:p>
            </p:txBody>
          </p:sp>
        </mc:Choice>
      </mc:AlternateContent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Jensen’s Inequality: Example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Hazard:</a:t>
                </a:r>
              </a:p>
              <a:p>
                <a:pPr lvl="0"/>
                <a:r>
                  <a:rPr/>
                  <a:t>50% chance: 2 ft flood</a:t>
                </a:r>
              </a:p>
              <a:p>
                <a:pPr lvl="0"/>
                <a:r>
                  <a:rPr/>
                  <a:t>50% chance: 8 ft flood</a:t>
                </a:r>
              </a:p>
              <a:p>
                <a:pPr lvl="0"/>
                <a14:m>
                  <m:oMath xmlns:m="http://schemas.openxmlformats.org/officeDocument/2006/math">
                    <m:r>
                      <m:t>E</m:t>
                    </m:r>
                    <m:r>
                      <m:rPr>
                        <m:sty m:val="p"/>
                      </m:rPr>
                      <m:t>[</m:t>
                    </m:r>
                    <m:r>
                      <m:t>h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=</m:t>
                    </m:r>
                    <m:r>
                      <m:t>5</m:t>
                    </m:r>
                  </m:oMath>
                </a14:m>
                <a:r>
                  <a:rPr/>
                  <a:t> ft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Damage function:</a:t>
                </a:r>
              </a:p>
              <a:p>
                <a:pPr lvl="0"/>
                <a14:m>
                  <m:oMath xmlns:m="http://schemas.openxmlformats.org/officeDocument/2006/math">
                    <m:r>
                      <m:t>D</m:t>
                    </m:r>
                    <m:r>
                      <m:rPr>
                        <m:sty m:val="p"/>
                      </m:rPr>
                      <m:t>(</m:t>
                    </m:r>
                    <m:r>
                      <m:t>2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$</m:t>
                    </m:r>
                    <m:r>
                      <m:t>5</m:t>
                    </m:r>
                    <m:r>
                      <m:rPr>
                        <m:sty m:val="p"/>
                      </m:rPr>
                      <m:t>,</m:t>
                    </m:r>
                    <m:r>
                      <m:t>000</m:t>
                    </m:r>
                  </m:oMath>
                </a14:m>
              </a:p>
              <a:p>
                <a:pPr lvl="0"/>
                <a14:m>
                  <m:oMath xmlns:m="http://schemas.openxmlformats.org/officeDocument/2006/math">
                    <m:r>
                      <m:t>D</m:t>
                    </m:r>
                    <m:r>
                      <m:rPr>
                        <m:sty m:val="p"/>
                      </m:rPr>
                      <m:t>(</m:t>
                    </m:r>
                    <m:r>
                      <m:t>8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$</m:t>
                    </m:r>
                    <m:r>
                      <m:t>90</m:t>
                    </m:r>
                    <m:r>
                      <m:rPr>
                        <m:sty m:val="p"/>
                      </m:rPr>
                      <m:t>,</m:t>
                    </m:r>
                    <m:r>
                      <m:t>000</m:t>
                    </m:r>
                  </m:oMath>
                </a14:m>
              </a:p>
              <a:p>
                <a:pPr lvl="0"/>
                <a14:m>
                  <m:oMath xmlns:m="http://schemas.openxmlformats.org/officeDocument/2006/math">
                    <m:r>
                      <m:t>D</m:t>
                    </m:r>
                    <m:r>
                      <m:rPr>
                        <m:sty m:val="p"/>
                      </m:rPr>
                      <m:t>(</m:t>
                    </m:r>
                    <m:r>
                      <m:t>5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$</m:t>
                    </m:r>
                    <m:r>
                      <m:t>20</m:t>
                    </m:r>
                    <m:r>
                      <m:rPr>
                        <m:sty m:val="p"/>
                      </m:rPr>
                      <m:t>,</m:t>
                    </m:r>
                    <m:r>
                      <m:t>000</m:t>
                    </m:r>
                  </m:oMath>
                </a14:m>
              </a:p>
            </p:txBody>
          </p:sp>
        </mc:Choice>
      </mc:AlternateContent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D</m:t>
                    </m:r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  <m:r>
                      <m:rPr>
                        <m:sty m:val="p"/>
                      </m:rPr>
                      <m:t>[</m:t>
                    </m:r>
                    <m:r>
                      <m:t>h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t>D</m:t>
                    </m:r>
                    <m:r>
                      <m:rPr>
                        <m:sty m:val="p"/>
                      </m:rPr>
                      <m:t>(</m:t>
                    </m:r>
                    <m:r>
                      <m:t>5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$</m:t>
                    </m:r>
                    <m:r>
                      <m:t>20</m:t>
                    </m:r>
                    <m:r>
                      <m:rPr>
                        <m:sty m:val="p"/>
                      </m:rPr>
                      <m:t>,</m:t>
                    </m:r>
                    <m:r>
                      <m:t>000</m:t>
                    </m:r>
                  </m:oMath>
                </a14:m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E</m:t>
                    </m:r>
                    <m:r>
                      <m:rPr>
                        <m:sty m:val="p"/>
                      </m:rPr>
                      <m:t>[</m:t>
                    </m:r>
                    <m:r>
                      <m:t>D</m:t>
                    </m:r>
                    <m:r>
                      <m:rPr>
                        <m:sty m:val="p"/>
                      </m:rPr>
                      <m:t>(</m:t>
                    </m:r>
                    <m:r>
                      <m:t>h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0.5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$</m:t>
                    </m:r>
                    <m:r>
                      <m:t>5</m:t>
                    </m:r>
                    <m:r>
                      <m:t>k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r>
                      <m:t>0.5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$</m:t>
                    </m:r>
                    <m:r>
                      <m:t>90</m:t>
                    </m:r>
                    <m:r>
                      <m:t>k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$</m:t>
                    </m:r>
                    <m:r>
                      <m:t>47</m:t>
                    </m:r>
                    <m:r>
                      <m:rPr>
                        <m:sty m:val="p"/>
                      </m:rPr>
                      <m:t>,</m:t>
                    </m:r>
                    <m:r>
                      <m:t>500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/>
                  <a:t>The difference matters: </a:t>
                </a:r>
                <a:r>
                  <a:rPr b="1"/>
                  <a:t>$27,500 underestimate</a:t>
                </a:r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Monte Carlo?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For continuous distributions, expected damage is an integral: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E</m:t>
                      </m:r>
                      <m:r>
                        <m:rPr>
                          <m:sty m:val="p"/>
                        </m:rPr>
                        <m:t>[</m:t>
                      </m:r>
                      <m:r>
                        <m:t>D</m:t>
                      </m:r>
                      <m:r>
                        <m:rPr>
                          <m:sty m:val="p"/>
                        </m:rPr>
                        <m:t>]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∫</m:t>
                      </m:r>
                      <m:r>
                        <m:t>D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h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⋅</m:t>
                      </m:r>
                      <m:r>
                        <m:t>p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h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t> </m:t>
                      </m:r>
                      <m:r>
                        <m:t>d</m:t>
                      </m:r>
                      <m:r>
                        <m:t>h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This integral is </a:t>
                </a:r>
                <a:r>
                  <a:rPr b="1"/>
                  <a:t>intractable</a:t>
                </a:r>
                <a:r>
                  <a:rPr/>
                  <a:t> for nontrivial damage functions or probability density functions.</a:t>
                </a:r>
              </a:p>
              <a:p>
                <a:pPr lvl="0" indent="0" marL="0">
                  <a:buNone/>
                </a:pPr>
                <a:r>
                  <a:rPr b="1"/>
                  <a:t>Solution:</a:t>
                </a:r>
                <a:r>
                  <a:rPr/>
                  <a:t> Monte Carlo integration approximates it with samples.</a:t>
                </a:r>
              </a:p>
            </p:txBody>
          </p:sp>
        </mc:Choice>
      </mc:AlternateContent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Law of Large Numbers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If we draw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samples </a:t>
                </a:r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…</m:t>
                    </m:r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N</m:t>
                        </m:r>
                      </m:sub>
                    </m:sSub>
                  </m:oMath>
                </a14:m>
                <a:r>
                  <a:rPr/>
                  <a:t> from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(</m:t>
                    </m:r>
                    <m:r>
                      <m:t>h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N</m:t>
                          </m:r>
                        </m:sup>
                        <m:e>
                          <m:r>
                            <m:t>D</m:t>
                          </m:r>
                        </m:e>
                      </m:nary>
                      <m:r>
                        <m:rPr>
                          <m:sty m:val="p"/>
                        </m:rPr>
                        <m:t>(</m:t>
                      </m:r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  <m:limUpp>
                        <m:e>
                          <m:r>
                            <m:rPr>
                              <m:sty m:val="p"/>
                            </m:rPr>
                            <m:t>→</m:t>
                          </m:r>
                        </m:e>
                        <m:lim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→</m:t>
                          </m:r>
                          <m:r>
                            <m:rPr>
                              <m:sty m:val="p"/>
                            </m:rPr>
                            <m:t>∞</m:t>
                          </m:r>
                        </m:lim>
                      </m:limUpp>
                      <m:r>
                        <m:t>E</m:t>
                      </m:r>
                      <m:r>
                        <m:rPr>
                          <m:sty m:val="p"/>
                        </m:rPr>
                        <m:t>[</m:t>
                      </m:r>
                      <m:r>
                        <m:t>D</m:t>
                      </m:r>
                      <m:r>
                        <m:rPr>
                          <m:sty m:val="p"/>
                        </m:rPr>
                        <m:t>]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The sample average converges to the true expected value.</a:t>
                </a:r>
              </a:p>
              <a:p>
                <a:pPr lvl="0" indent="0" marL="0">
                  <a:buNone/>
                </a:pPr>
                <a:r>
                  <a:rPr/>
                  <a:t>More samples → better approximation</a:t>
                </a:r>
              </a:p>
            </p:txBody>
          </p:sp>
        </mc:Choice>
      </mc:AlternateContent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Monte Carlo Recipe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-342900" marL="342900">
                  <a:buAutoNum type="arabicPeriod"/>
                </a:pPr>
                <a:r>
                  <a:rPr b="1"/>
                  <a:t>Sample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flood scenarios from hazard distribution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Apply</a:t>
                </a:r>
                <a:r>
                  <a:rPr/>
                  <a:t> damage function: compute </a:t>
                </a:r>
                <a14:m>
                  <m:oMath xmlns:m="http://schemas.openxmlformats.org/officeDocument/2006/math">
                    <m:r>
                      <m:t>D</m:t>
                    </m:r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for each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Summarize</a:t>
                </a:r>
                <a:r>
                  <a:rPr/>
                  <a:t> the damage samples</a:t>
                </a:r>
              </a:p>
              <a:p>
                <a:pPr lvl="0" indent="0" marL="0">
                  <a:buNone/>
                </a:pPr>
                <a:r>
                  <a:rPr/>
                  <a:t>Once we have samples, we can compute </a:t>
                </a:r>
                <a:r>
                  <a:rPr b="1"/>
                  <a:t>any statistic</a:t>
                </a:r>
                <a:r>
                  <a:rPr/>
                  <a:t>:</a:t>
                </a:r>
              </a:p>
              <a:p>
                <a:pPr lvl="0"/>
                <a:r>
                  <a:rPr/>
                  <a:t>Mean (expected annual damage)</a:t>
                </a:r>
              </a:p>
              <a:p>
                <a:pPr lvl="0"/>
                <a:r>
                  <a:rPr/>
                  <a:t>Variance (how much does damage vary year-to-year?)</a:t>
                </a:r>
              </a:p>
              <a:p>
                <a:pPr lvl="0"/>
                <a:r>
                  <a:rPr/>
                  <a:t>Quantiles (what’s the 99th percentile damage?)</a:t>
                </a:r>
              </a:p>
              <a:p>
                <a:pPr lvl="0" indent="0" marL="0">
                  <a:buNone/>
                </a:pPr>
                <a:r>
                  <a:rPr/>
                  <a:t>This is exactly what you’ll implement on Friday.</a:t>
                </a:r>
              </a:p>
            </p:txBody>
          </p:sp>
        </mc:Choice>
      </mc:AlternateContent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Extreme Value Theory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Extremes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flood damage comes from </a:t>
            </a:r>
            <a:r>
              <a:rPr b="1"/>
              <a:t>rare, extreme events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The problem: Normal distributions </a:t>
            </a:r>
            <a:r>
              <a:rPr b="1"/>
              <a:t>underestimate extreme risks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We need specialized tools for modeling the </a:t>
            </a:r>
            <a:r>
              <a:rPr b="1"/>
              <a:t>tails</a:t>
            </a:r>
            <a:r>
              <a:rPr/>
              <a:t> of distributions.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GEV Distribution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Generalized Extreme Value (GEV)</a:t>
                </a:r>
                <a:r>
                  <a:rPr/>
                  <a:t> distribution is designed for annual maxima.</a:t>
                </a:r>
              </a:p>
              <a:p>
                <a:pPr lvl="0" indent="0" marL="0">
                  <a:buNone/>
                </a:pPr>
                <a:r>
                  <a:rPr/>
                  <a:t>Three parameters:</a:t>
                </a:r>
              </a:p>
              <a:p>
                <a:pPr lvl="0"/>
                <a14:m>
                  <m:oMath xmlns:m="http://schemas.openxmlformats.org/officeDocument/2006/math">
                    <m:r>
                      <m:t>μ</m:t>
                    </m:r>
                  </m:oMath>
                </a14:m>
                <a:r>
                  <a:rPr/>
                  <a:t> (location): Where the distribution is centered</a:t>
                </a:r>
              </a:p>
              <a:p>
                <a:pPr lvl="0"/>
                <a14:m>
                  <m:oMath xmlns:m="http://schemas.openxmlformats.org/officeDocument/2006/math">
                    <m:r>
                      <m:t>σ</m:t>
                    </m:r>
                  </m:oMath>
                </a14:m>
                <a:r>
                  <a:rPr/>
                  <a:t> (scale): How spread out it is</a:t>
                </a:r>
              </a:p>
              <a:p>
                <a:pPr lvl="0"/>
                <a14:m>
                  <m:oMath xmlns:m="http://schemas.openxmlformats.org/officeDocument/2006/math">
                    <m:r>
                      <m:t>ξ</m:t>
                    </m:r>
                  </m:oMath>
                </a14:m>
                <a:r>
                  <a:rPr/>
                  <a:t> (shape): How heavy the tail is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ξ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0</m:t>
                    </m:r>
                  </m:oMath>
                </a14:m>
                <a:r>
                  <a:rPr/>
                  <a:t> means </a:t>
                </a:r>
                <a:r>
                  <a:rPr b="1"/>
                  <a:t>fat tails</a:t>
                </a:r>
                <a:r>
                  <a:rPr/>
                  <a:t>: extreme events are more likely than a normal distribution predicts.</a:t>
                </a:r>
              </a:p>
            </p:txBody>
          </p:sp>
        </mc:Choice>
      </mc:AlternateContent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GEV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lab on Friday, you will:</a:t>
            </a:r>
          </a:p>
          <a:p>
            <a:pPr lvl="0" indent="-342900" marL="342900">
              <a:buAutoNum type="arabicPeriod"/>
            </a:pPr>
            <a:r>
              <a:rPr/>
              <a:t>Define a GEV distribution for storm surge</a:t>
            </a:r>
          </a:p>
          <a:p>
            <a:pPr lvl="0" indent="-342900" marL="342900">
              <a:buAutoNum type="arabicPeriod"/>
            </a:pPr>
            <a:r>
              <a:rPr/>
              <a:t>Sample thousands of possible flood scenarios</a:t>
            </a:r>
          </a:p>
          <a:p>
            <a:pPr lvl="0" indent="-342900" marL="342900">
              <a:buAutoNum type="arabicPeriod"/>
            </a:pPr>
            <a:r>
              <a:rPr/>
              <a:t>Pass each through a depth-damage function</a:t>
            </a:r>
          </a:p>
          <a:p>
            <a:pPr lvl="0" indent="-342900" marL="342900">
              <a:buAutoNum type="arabicPeriod"/>
            </a:pPr>
            <a:r>
              <a:rPr/>
              <a:t>Analyze the resulting damage distribution</a:t>
            </a:r>
          </a:p>
          <a:p>
            <a:pPr lvl="0" indent="0" marL="0">
              <a:buNone/>
            </a:pPr>
            <a:r>
              <a:rPr/>
              <a:t>This is </a:t>
            </a:r>
            <a:r>
              <a:rPr b="1"/>
              <a:t>uncertainty quantification</a:t>
            </a:r>
            <a:r>
              <a:rPr/>
              <a:t> in action.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House Elevation Problem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Concrete Decision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homeowner faces a choice:</a:t>
            </a:r>
          </a:p>
          <a:p>
            <a:pPr lvl="0" indent="0" marL="0">
              <a:buNone/>
            </a:pPr>
            <a:r>
              <a:rPr b="1"/>
              <a:t>How high should I elevate my house?</a:t>
            </a:r>
          </a:p>
          <a:p>
            <a:pPr lvl="0" indent="0" marL="0">
              <a:buNone/>
            </a:pPr>
            <a:r>
              <a:rPr/>
              <a:t>Higher elevation = more upfront cost, but less future flood damage.</a:t>
            </a:r>
          </a:p>
        </p:txBody>
      </p:sp>
      <p:pic>
        <p:nvPicPr>
          <p:cNvPr descr="lee-meyerland-elevation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2954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House elevation in Meyerland, Houston. Photo: Allison Lee / Houston Public Media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Trade-off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Elevate 0 feet:</a:t>
            </a:r>
            <a:r>
              <a:rPr/>
              <a:t> No construction cost, high expected damages</a:t>
            </a:r>
          </a:p>
          <a:p>
            <a:pPr lvl="0"/>
            <a:r>
              <a:rPr b="1"/>
              <a:t>Elevate 14 feet:</a:t>
            </a:r>
            <a:r>
              <a:rPr/>
              <a:t> High construction cost, near-zero damages</a:t>
            </a:r>
          </a:p>
          <a:p>
            <a:pPr lvl="0"/>
            <a:r>
              <a:rPr b="1"/>
              <a:t>Somewhere in between:</a:t>
            </a:r>
            <a:r>
              <a:rPr/>
              <a:t> ???</a:t>
            </a:r>
          </a:p>
          <a:p>
            <a:pPr lvl="0" indent="0" marL="0">
              <a:buNone/>
            </a:pPr>
            <a:r>
              <a:rPr/>
              <a:t>Finding the optimal elevation requires:</a:t>
            </a:r>
          </a:p>
          <a:p>
            <a:pPr lvl="0" indent="-342900" marL="342900">
              <a:buAutoNum type="arabicPeriod"/>
            </a:pPr>
            <a:r>
              <a:rPr/>
              <a:t>A hazard model (GEV distribution for surge)</a:t>
            </a:r>
          </a:p>
          <a:p>
            <a:pPr lvl="0" indent="-342900" marL="342900">
              <a:buAutoNum type="arabicPeriod"/>
            </a:pPr>
            <a:r>
              <a:rPr/>
              <a:t>A damage model (depth-damage function)</a:t>
            </a:r>
          </a:p>
          <a:p>
            <a:pPr lvl="0" indent="-342900" marL="342900">
              <a:buAutoNum type="arabicPeriod"/>
            </a:pPr>
            <a:r>
              <a:rPr/>
              <a:t>A cost model (construction costs by elevation)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This Semester’s Sandbox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We’ll use the </a:t>
            </a:r>
            <a:r>
              <a:rPr b="1"/>
              <a:t>house elevation problem</a:t>
            </a:r>
            <a:r>
              <a:rPr/>
              <a:t> throughout the course: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We Add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Hazard-Damage Convolution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Basic Monte Carlo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3-5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Risk Metrics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EAD, VaR, CVaR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6-8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Decision Analysis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Optimal static decisions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10-13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Deep Uncertainty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Robust optimization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Wrap Up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Risk</a:t>
            </a:r>
            <a:r>
              <a:rPr/>
              <a:t> emerges from the interaction of hazard, exposure, and vulnerability</a:t>
            </a:r>
          </a:p>
          <a:p>
            <a:pPr lvl="0" indent="-342900" marL="342900">
              <a:buAutoNum type="arabicPeriod"/>
            </a:pPr>
            <a:r>
              <a:rPr b="1"/>
              <a:t>Exposure is growing</a:t>
            </a:r>
            <a:r>
              <a:rPr/>
              <a:t>: More assets in harm’s way</a:t>
            </a:r>
          </a:p>
          <a:p>
            <a:pPr lvl="0" indent="-342900" marL="342900">
              <a:buAutoNum type="arabicPeriod"/>
            </a:pPr>
            <a:r>
              <a:rPr b="1"/>
              <a:t>Convolution</a:t>
            </a:r>
            <a:r>
              <a:rPr/>
              <a:t> transforms hazard distributions into damage distributions</a:t>
            </a:r>
          </a:p>
          <a:p>
            <a:pPr lvl="0" indent="-342900" marL="342900">
              <a:buAutoNum type="arabicPeriod"/>
            </a:pPr>
            <a:r>
              <a:rPr b="1"/>
              <a:t>Monte Carlo</a:t>
            </a:r>
            <a:r>
              <a:rPr/>
              <a:t> lets us handle complex, nonlinear systems</a:t>
            </a:r>
          </a:p>
          <a:p>
            <a:pPr lvl="0" indent="-342900" marL="342900">
              <a:buAutoNum type="arabicPeriod"/>
            </a:pPr>
            <a:r>
              <a:rPr/>
              <a:t>The </a:t>
            </a:r>
            <a:r>
              <a:rPr b="1"/>
              <a:t>house elevation problem</a:t>
            </a:r>
            <a:r>
              <a:rPr/>
              <a:t> gives us a concrete sandbox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Lab Preview: Friday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 Friday, you will:</a:t>
            </a:r>
          </a:p>
          <a:p>
            <a:pPr lvl="0" indent="-342900" marL="342900">
              <a:buAutoNum type="arabicPeriod"/>
            </a:pPr>
            <a:r>
              <a:rPr/>
              <a:t>Define a GEV distribution for storm surge</a:t>
            </a:r>
          </a:p>
          <a:p>
            <a:pPr lvl="0" indent="-342900" marL="342900">
              <a:buAutoNum type="arabicPeriod"/>
            </a:pPr>
            <a:r>
              <a:rPr/>
              <a:t>Implement a depth-damage function</a:t>
            </a:r>
          </a:p>
          <a:p>
            <a:pPr lvl="0" indent="-342900" marL="342900">
              <a:buAutoNum type="arabicPeriod"/>
            </a:pPr>
            <a:r>
              <a:rPr/>
              <a:t>Use Monte Carlo to compute damage distributions</a:t>
            </a:r>
          </a:p>
          <a:p>
            <a:pPr lvl="0" indent="-342900" marL="342900">
              <a:buAutoNum type="arabicPeriod"/>
            </a:pPr>
            <a:r>
              <a:rPr/>
              <a:t>Extend to 100 houses at varying elevations</a:t>
            </a:r>
          </a:p>
          <a:p>
            <a:pPr lvl="0" indent="-342900" marL="342900">
              <a:buAutoNum type="arabicPeriod"/>
            </a:pPr>
            <a:r>
              <a:rPr/>
              <a:t>Begin using the SimOptDecisions.jl framework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Gidaris, Ioannis, Jamie E. Padgett, Andre R. Barbosa, et al. 2017. “Multiple-Hazard Fragility and Restoration Models of Highway Bridges for Regional Risk and Resilience Assessment in the United States: State-of-the-Art Review.” </a:t>
            </a:r>
            <a:r>
              <a:rPr i="1"/>
              <a:t>Journal of Structural Engineering</a:t>
            </a:r>
            <a:r>
              <a:rPr/>
              <a:t> 143 (3): 04016188. </a:t>
            </a:r>
            <a:r>
              <a:rPr>
                <a:hlinkClick r:id="rId2"/>
              </a:rPr>
              <a:t>https://doi.org/10.1061/(ASCE)ST.1943-541X.0001672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Jongman, Brenden, Philip J Ward, and Jeroen C J H Aerts. 2012. “Global Exposure to River and Coastal Flooding: Long Term Trends and Changes.” </a:t>
            </a:r>
            <a:r>
              <a:rPr i="1"/>
              <a:t>Global Environmental Change</a:t>
            </a:r>
            <a:r>
              <a:rPr/>
              <a:t> 22 (4): 823–35. </a:t>
            </a:r>
            <a:r>
              <a:rPr>
                <a:hlinkClick r:id="rId3"/>
              </a:rPr>
              <a:t>https://doi.org/10.1016/j.gloenvcha.2012.07.004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Moel, Hans de, Mathijs van Vliet, and Jeroen C. J. H. Aerts. 2014. “Evaluating the Effect of Flood Damage-Reducing Measures: A Case Study of the Unembanked Area of Rotterdam, the Netherlands.” </a:t>
            </a:r>
            <a:r>
              <a:rPr i="1"/>
              <a:t>Regional Environmental Change</a:t>
            </a:r>
            <a:r>
              <a:rPr/>
              <a:t> 14 (3): 895–908. </a:t>
            </a:r>
            <a:r>
              <a:rPr>
                <a:hlinkClick r:id="rId4"/>
              </a:rPr>
              <a:t>https://doi.org/10.1007/s10113-013-0420-z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Tedesco, Marco, Steven McAlpine, and Jeremy R. Porter. 2020. “Exposure of Real Estate Properties to the 2018 Hurricane Florence Flooding.” </a:t>
            </a:r>
            <a:r>
              <a:rPr i="1"/>
              <a:t>Natural Hazards and Earth System Sciences</a:t>
            </a:r>
            <a:r>
              <a:rPr/>
              <a:t> 20 (3): 907–20. </a:t>
            </a:r>
            <a:r>
              <a:rPr>
                <a:hlinkClick r:id="rId5"/>
              </a:rPr>
              <a:t>https://doi.org/10.5194/nhess-20-907-2020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Wing, Oliver E. J., Nicholas Pinter, Paul D. Bates, and Carolyn Kousky. 2020. “New Insights into US Flood Vulnerability Revealed from Flood Insurance Big Data.” </a:t>
            </a:r>
            <a:r>
              <a:rPr i="1"/>
              <a:t>Nature Communications</a:t>
            </a:r>
            <a:r>
              <a:rPr/>
              <a:t> 11 (1, 1): 1444. </a:t>
            </a:r>
            <a:r>
              <a:rPr>
                <a:hlinkClick r:id="rId6"/>
              </a:rPr>
              <a:t>https://doi.org/10.1038/s41467-020-15264-2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Hazard, Exposure, Vulnerability</dc:title>
  <dc:creator>James Doss-Gollin</dc:creator>
  <cp:keywords/>
  <dcterms:created xsi:type="dcterms:W3CDTF">2026-04-13T16:37:32Z</dcterms:created>
  <dcterms:modified xsi:type="dcterms:W3CDTF">2026-04-13T16:37:32Z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quarto-vars">
    <vt:lpwstr/>
  </property>
  <property fmtid="{D5CDD505-2E9C-101B-9397-08002B2CF9AE}" pid="3" name="authors">
    <vt:lpwstr/>
  </property>
  <property fmtid="{D5CDD505-2E9C-101B-9397-08002B2CF9AE}" pid="4" name="auto-agenda">
    <vt:lpwstr/>
  </property>
  <property fmtid="{D5CDD505-2E9C-101B-9397-08002B2CF9AE}" pid="5" name="biblio-config">
    <vt:lpwstr>True</vt:lpwstr>
  </property>
  <property fmtid="{D5CDD505-2E9C-101B-9397-08002B2CF9AE}" pid="6" name="bibliography">
    <vt:lpwstr/>
  </property>
  <property fmtid="{D5CDD505-2E9C-101B-9397-08002B2CF9AE}" pid="7" name="by-author">
    <vt:lpwstr/>
  </property>
  <property fmtid="{D5CDD505-2E9C-101B-9397-08002B2CF9AE}" pid="8" name="course">
    <vt:lpwstr>CEVE 421/521, Climate Risk Management</vt:lpwstr>
  </property>
  <property fmtid="{D5CDD505-2E9C-101B-9397-08002B2CF9AE}" pid="9" name="date">
    <vt:lpwstr>2026-01-21</vt:lpwstr>
  </property>
  <property fmtid="{D5CDD505-2E9C-101B-9397-08002B2CF9AE}" pid="10" name="engines">
    <vt:lpwstr/>
  </property>
  <property fmtid="{D5CDD505-2E9C-101B-9397-08002B2CF9AE}" pid="11" name="header-includes">
    <vt:lpwstr/>
  </property>
  <property fmtid="{D5CDD505-2E9C-101B-9397-08002B2CF9AE}" pid="12" name="include-after">
    <vt:lpwstr/>
  </property>
  <property fmtid="{D5CDD505-2E9C-101B-9397-08002B2CF9AE}" pid="13" name="include-before">
    <vt:lpwstr/>
  </property>
  <property fmtid="{D5CDD505-2E9C-101B-9397-08002B2CF9AE}" pid="14" name="institution">
    <vt:lpwstr>Rice University</vt:lpwstr>
  </property>
  <property fmtid="{D5CDD505-2E9C-101B-9397-08002B2CF9AE}" pid="15" name="labels">
    <vt:lpwstr/>
  </property>
  <property fmtid="{D5CDD505-2E9C-101B-9397-08002B2CF9AE}" pid="16" name="status">
    <vt:lpwstr>published</vt:lpwstr>
  </property>
  <property fmtid="{D5CDD505-2E9C-101B-9397-08002B2CF9AE}" pid="17" name="subtitle">
    <vt:lpwstr>Lecture</vt:lpwstr>
  </property>
  <property fmtid="{D5CDD505-2E9C-101B-9397-08002B2CF9AE}" pid="18" name="toc-title">
    <vt:lpwstr>Table of contents</vt:lpwstr>
  </property>
  <property fmtid="{D5CDD505-2E9C-101B-9397-08002B2CF9AE}" pid="19" name="week">
    <vt:lpwstr>2</vt:lpwstr>
  </property>
</Properties>
</file>
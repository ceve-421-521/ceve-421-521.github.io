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notesMaster" Target="notesMasters/notesMaster1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Hook: start with a concrete business decision. Insurance connects directly to risk quantification.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Frame the lecture around this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Show the Wing figure. Discuss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Pause and ask students what they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Quick review. Students should recognize this from week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Work through this example on the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Connect to course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Set up the model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Draw on board if no figure available. Simple triangle cross-section.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1:55. Map back to XLRM.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1:58. Set expectations for the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Reading assignment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1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ceve543.github.io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Relationship Id="rId3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Hook: The Insurance Dilemma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insurance company wants to offer flood insurance for coastal homes.</a:t>
            </a:r>
          </a:p>
          <a:p>
            <a:pPr lvl="0" indent="0" marL="0">
              <a:buNone/>
            </a:pPr>
            <a:r>
              <a:rPr/>
              <a:t>To set premiums, they need to answer:</a:t>
            </a:r>
          </a:p>
          <a:p>
            <a:pPr lvl="0"/>
            <a:r>
              <a:rPr/>
              <a:t>How often will floods occur?</a:t>
            </a:r>
          </a:p>
          <a:p>
            <a:pPr lvl="0"/>
            <a:r>
              <a:rPr/>
              <a:t>How bad will those floods be?</a:t>
            </a:r>
          </a:p>
          <a:p>
            <a:pPr lvl="0"/>
            <a:r>
              <a:rPr/>
              <a:t>How much damage will result?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do we translate hazards into damages?</a:t>
            </a:r>
          </a:p>
          <a:p>
            <a:pPr lvl="0" indent="0" marL="0">
              <a:buNone/>
            </a:pPr>
            <a:r>
              <a:rPr/>
              <a:t>Today we will:</a:t>
            </a:r>
          </a:p>
          <a:p>
            <a:pPr lvl="0" indent="-342900" marL="342900">
              <a:buAutoNum type="arabicPeriod"/>
            </a:pPr>
            <a:r>
              <a:rPr/>
              <a:t>Define key vocabulary: hazard, exposure, vulnerability</a:t>
            </a:r>
          </a:p>
          <a:p>
            <a:pPr lvl="0" indent="-342900" marL="342900">
              <a:buAutoNum type="arabicPeriod"/>
            </a:pPr>
            <a:r>
              <a:rPr/>
              <a:t>Review the XLRM framework for structuring risk problems</a:t>
            </a:r>
          </a:p>
          <a:p>
            <a:pPr lvl="0" indent="-342900" marL="342900">
              <a:buAutoNum type="arabicPeriod"/>
            </a:pPr>
            <a:r>
              <a:rPr/>
              <a:t>Introduce the GEV distribution for extreme events</a:t>
            </a:r>
          </a:p>
          <a:p>
            <a:pPr lvl="0" indent="-342900" marL="342900">
              <a:buAutoNum type="arabicPeriod"/>
            </a:pPr>
            <a:r>
              <a:rPr/>
              <a:t>Preview the iCOW model we’ll use all semester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Exposure:</a:t>
            </a:r>
            <a:r>
              <a:rPr/>
              <a:t> What is at risk?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  <a:p>
            <a:pPr lvl="0" indent="0" marL="0">
              <a:buNone/>
            </a:pPr>
            <a:r>
              <a:rPr/>
              <a:t>Key insight: Exposure </a:t>
            </a:r>
            <a:r>
              <a:rPr b="1"/>
              <a:t>changes over time</a:t>
            </a:r>
            <a:r>
              <a:rPr/>
              <a:t> with development and migration.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(continuous)</a:t>
            </a:r>
          </a:p>
          <a:p>
            <a:pPr lvl="0" indent="0" marL="0">
              <a:buNone/>
            </a:pPr>
            <a:r>
              <a:rPr/>
              <a:t>For floods, we typically use </a:t>
            </a:r>
            <a:r>
              <a:rPr b="1"/>
              <a:t>depth-damage functions</a:t>
            </a:r>
            <a:r>
              <a:rPr/>
              <a:t> to quantify vulnerability.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11400" y="1193800"/>
            <a:ext cx="4508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Empirical depth-damage relationships from NFIP claims data. Boxplots show Wing et al. (2020) analysis; lines show USACE depth-damage curves.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from Week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helps us structure decision problems under uncertainty:</a:t>
            </a:r>
          </a:p>
          <a:p>
            <a:pPr lvl="0"/>
            <a:r>
              <a:rPr b="1"/>
              <a:t>X</a:t>
            </a:r>
            <a:r>
              <a:rPr/>
              <a:t>: e</a:t>
            </a:r>
            <a:r>
              <a:rPr b="1"/>
              <a:t>X</a:t>
            </a:r>
            <a:r>
              <a:rPr/>
              <a:t>ogenous uncertainties (things we can’t control)</a:t>
            </a:r>
          </a:p>
          <a:p>
            <a:pPr lvl="0"/>
            <a:r>
              <a:rPr b="1"/>
              <a:t>L</a:t>
            </a:r>
            <a:r>
              <a:rPr/>
              <a:t>: </a:t>
            </a:r>
            <a:r>
              <a:rPr b="1"/>
              <a:t>L</a:t>
            </a:r>
            <a:r>
              <a:rPr/>
              <a:t>evers (things we can control)</a:t>
            </a:r>
          </a:p>
          <a:p>
            <a:pPr lvl="0"/>
            <a:r>
              <a:rPr b="1"/>
              <a:t>R</a:t>
            </a:r>
            <a:r>
              <a:rPr/>
              <a:t>: </a:t>
            </a:r>
            <a:r>
              <a:rPr b="1"/>
              <a:t>R</a:t>
            </a:r>
            <a:r>
              <a:rPr/>
              <a:t>elationships (models connecting X and L to outcomes)</a:t>
            </a:r>
          </a:p>
          <a:p>
            <a:pPr lvl="0"/>
            <a:r>
              <a:rPr b="1"/>
              <a:t>M</a:t>
            </a:r>
            <a:r>
              <a:rPr/>
              <a:t>: </a:t>
            </a:r>
            <a:r>
              <a:rPr b="1"/>
              <a:t>M</a:t>
            </a:r>
            <a:r>
              <a:rPr/>
              <a:t>etrics (how we measure success)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for Flood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Flood Risk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 level rise, storm intensity, housing prices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Elevate house, build seawall, buy insurance, retreat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Depth-damage function, storm surge model, economic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annual damages, probability of ruin, NPV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What are the </a:t>
            </a:r>
            <a:r>
              <a:rPr b="1"/>
              <a:t>X</a:t>
            </a:r>
            <a:r>
              <a:rPr/>
              <a:t>, </a:t>
            </a:r>
            <a:r>
              <a:rPr b="1"/>
              <a:t>L</a:t>
            </a:r>
            <a:r>
              <a:rPr/>
              <a:t>, </a:t>
            </a:r>
            <a:r>
              <a:rPr b="1"/>
              <a:t>R</a:t>
            </a:r>
            <a:r>
              <a:rPr/>
              <a:t>, and </a:t>
            </a:r>
            <a:r>
              <a:rPr b="1"/>
              <a:t>M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XLRM framework helps us:</a:t>
            </a:r>
          </a:p>
          <a:p>
            <a:pPr lvl="0" indent="-342900" marL="342900">
              <a:buAutoNum type="arabicPeriod"/>
            </a:pPr>
            <a:r>
              <a:rPr/>
              <a:t>Identify what we know vs. what is uncertain</a:t>
            </a:r>
          </a:p>
          <a:p>
            <a:pPr lvl="0" indent="-342900" marL="342900">
              <a:buAutoNum type="arabicPeriod"/>
            </a:pPr>
            <a:r>
              <a:rPr/>
              <a:t>Clarify what decisions we control</a:t>
            </a:r>
          </a:p>
          <a:p>
            <a:pPr lvl="0" indent="-342900" marL="342900">
              <a:buAutoNum type="arabicPeriod"/>
            </a:pPr>
            <a:r>
              <a:rPr/>
              <a:t>Make explicit how we model the system</a:t>
            </a:r>
          </a:p>
          <a:p>
            <a:pPr lvl="0" indent="-342900" marL="342900">
              <a:buAutoNum type="arabicPeriod"/>
            </a:pPr>
            <a:r>
              <a:rPr/>
              <a:t>Define how we measure success</a:t>
            </a:r>
          </a:p>
          <a:p>
            <a:pPr lvl="0" indent="0" marL="0">
              <a:buNone/>
            </a:pPr>
            <a:r>
              <a:rPr/>
              <a:t>This is how we structure complex problems throughout the course.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 (Brief)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tails of distributions.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:r>
                  <a:rPr/>
                  <a:t>For a deeper dive: </a:t>
                </a:r>
                <a:r>
                  <a:rPr>
                    <a:hlinkClick r:id="rId3"/>
                  </a:rPr>
                  <a:t>CEVE 543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Fit a GEV distribution to real gauge data</a:t>
            </a:r>
          </a:p>
          <a:p>
            <a:pPr lvl="0" indent="-342900" marL="342900">
              <a:buAutoNum type="arabicPeriod"/>
            </a:pPr>
            <a:r>
              <a:rPr/>
              <a:t>Sample from it to generate many possible flood scenarios</a:t>
            </a:r>
          </a:p>
          <a:p>
            <a:pPr lvl="0" indent="-342900" marL="342900">
              <a:buAutoNum type="arabicPeriod"/>
            </a:pPr>
            <a:r>
              <a:rPr/>
              <a:t>Pass those through a damage model</a:t>
            </a:r>
          </a:p>
          <a:p>
            <a:pPr lvl="0" indent="-342900" marL="342900">
              <a:buAutoNum type="arabicPeriod"/>
            </a:pPr>
            <a:r>
              <a:rPr/>
              <a:t>Study the resulting distribution of damages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iCOW Model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Introducing iCOW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</a:t>
            </a:r>
            <a:r>
              <a:rPr b="1"/>
              <a:t>i</a:t>
            </a:r>
            <a:r>
              <a:rPr/>
              <a:t>dealized </a:t>
            </a:r>
            <a:r>
              <a:rPr b="1"/>
              <a:t>C</a:t>
            </a:r>
            <a:r>
              <a:rPr/>
              <a:t>ost </a:t>
            </a:r>
            <a:r>
              <a:rPr b="1"/>
              <a:t>o</a:t>
            </a:r>
            <a:r>
              <a:rPr/>
              <a:t>f </a:t>
            </a:r>
            <a:r>
              <a:rPr b="1"/>
              <a:t>W</a:t>
            </a:r>
            <a:r>
              <a:rPr/>
              <a:t>aiting</a:t>
            </a:r>
          </a:p>
          <a:p>
            <a:pPr lvl="0" indent="0" marL="0">
              <a:buNone/>
            </a:pPr>
            <a:r>
              <a:rPr/>
              <a:t>Based on Ceres, Forest, and Keller (2019): “City on a Wedge”</a:t>
            </a:r>
          </a:p>
          <a:p>
            <a:pPr lvl="0" indent="0" marL="0">
              <a:buNone/>
            </a:pPr>
            <a:r>
              <a:rPr/>
              <a:t>A simple, fast, pedagogical model for flood risk management.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City on a Wedge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a city on a triangular wedge:</a:t>
            </a:r>
          </a:p>
          <a:p>
            <a:pPr lvl="0"/>
            <a:r>
              <a:rPr/>
              <a:t>One side faces the water</a:t>
            </a:r>
          </a:p>
          <a:p>
            <a:pPr lvl="0"/>
            <a:r>
              <a:rPr/>
              <a:t>Elevation increases as you move inland</a:t>
            </a:r>
          </a:p>
          <a:p>
            <a:pPr lvl="0"/>
            <a:r>
              <a:rPr/>
              <a:t>Houses at different elevations face different flood risks</a:t>
            </a:r>
          </a:p>
          <a:p>
            <a:pPr lvl="0" indent="0" marL="0">
              <a:buNone/>
            </a:pPr>
            <a:r>
              <a:rPr/>
              <a:t>Simple geometry makes calculations tractable.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 Components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iCOW 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Hazard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Storm surge / flood stage (GEV distribution)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Exposure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Houses at different elevations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Vulnerability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Depth-damage function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Levers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Elevate houses, build seawall, managed retreat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iCOW?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use this simplified model?</a:t>
            </a:r>
          </a:p>
          <a:p>
            <a:pPr lvl="0"/>
            <a:r>
              <a:rPr b="1"/>
              <a:t>Fast enough</a:t>
            </a:r>
            <a:r>
              <a:rPr/>
              <a:t> for many Monte Carlo simulations</a:t>
            </a:r>
          </a:p>
          <a:p>
            <a:pPr lvl="0"/>
            <a:r>
              <a:rPr b="1"/>
              <a:t>Simple enough</a:t>
            </a:r>
            <a:r>
              <a:rPr/>
              <a:t> to understand completely</a:t>
            </a:r>
          </a:p>
          <a:p>
            <a:pPr lvl="0"/>
            <a:r>
              <a:rPr b="1"/>
              <a:t>Rich enough</a:t>
            </a:r>
            <a:r>
              <a:rPr/>
              <a:t> to explore real trade-offs</a:t>
            </a:r>
          </a:p>
          <a:p>
            <a:pPr lvl="0" indent="0" marL="0">
              <a:buNone/>
            </a:pPr>
            <a:r>
              <a:rPr/>
              <a:t>We will use iCOW throughout the semester to explore risk management decisions.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XLRM</a:t>
            </a:r>
            <a:r>
              <a:rPr/>
              <a:t> helps us structure complex decision problems</a:t>
            </a:r>
          </a:p>
          <a:p>
            <a:pPr lvl="0" indent="-342900" marL="342900">
              <a:buAutoNum type="arabicPeriod"/>
            </a:pPr>
            <a:r>
              <a:rPr b="1"/>
              <a:t>Extreme events</a:t>
            </a:r>
            <a:r>
              <a:rPr/>
              <a:t> require specialized distributions (GEV)</a:t>
            </a:r>
          </a:p>
          <a:p>
            <a:pPr lvl="0" indent="-342900" marL="342900">
              <a:buAutoNum type="arabicPeriod"/>
            </a:pPr>
            <a:r>
              <a:rPr b="1"/>
              <a:t>iCOW</a:t>
            </a:r>
            <a:r>
              <a:rPr/>
              <a:t> is our pedagogical sandbox for exploring flood risk decisions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Fit a GEV distribution to real flood gauge data</a:t>
            </a:r>
          </a:p>
          <a:p>
            <a:pPr lvl="0" indent="-342900" marL="342900">
              <a:buAutoNum type="arabicPeriod"/>
            </a:pPr>
            <a:r>
              <a:rPr/>
              <a:t>Define a HAZUS-style depth-damage function</a:t>
            </a:r>
          </a:p>
          <a:p>
            <a:pPr lvl="0" indent="-342900" marL="342900">
              <a:buAutoNum type="arabicPeriod"/>
            </a:pPr>
            <a:r>
              <a:rPr/>
              <a:t>Compute damage distributions using Monte Carlo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Get started with the ICOW package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Reading:</a:t>
            </a:r>
            <a:r>
              <a:rPr/>
              <a:t> Ceres, Forest, and Keller (2019) “City on a Wedge”</a:t>
            </a:r>
          </a:p>
          <a:p>
            <a:pPr lvl="0"/>
            <a:r>
              <a:rPr/>
              <a:t>Focus on Sections 1-3 (model description)</a:t>
            </a:r>
          </a:p>
          <a:p>
            <a:pPr lvl="0"/>
            <a:r>
              <a:rPr/>
              <a:t>Understand the geometry and assumptions</a:t>
            </a:r>
          </a:p>
          <a:p>
            <a:pPr lvl="0"/>
            <a:r>
              <a:rPr/>
              <a:t>Come prepared with questions</a:t>
            </a:r>
          </a:p>
          <a:p>
            <a:pPr lvl="0" indent="0" marL="0">
              <a:buNone/>
            </a:pPr>
            <a:r>
              <a:rPr/>
              <a:t>This gives you context for the lab and the rest of the semester.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3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2026-01-14T16:53:44Z</dcterms:created>
  <dcterms:modified xsi:type="dcterms:W3CDTF">2026-01-14T16:53:44Z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
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a question that motivates the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Get brains working immediately. Give 30 seconds to think,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1:05. Key insight: we weight by probability.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Emphasize that hazard is the physical event, not the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Exposure is about WHAT is at risk, not how vulnerable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Local example: Houston’s footprint has exploded.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This is where depth-damage functions come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the Gidaris figure - panel (a) is a 3D fragility surface, panel (b) shows fragility curves.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Show the Wing figure. Discuss the huge uncertainty in these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Pause and ask students what they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Core equation for the course. Write on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This figure shows the full workflow from data to expected annual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Give students 60 seconds to think.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This is the bridge to Friday’s lab.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Simple example to build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Critical conceptual point. This equation WILL be on assessments. Draw convex function with secant line above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Concrete example demonstrating the inequality.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Connect Monte Carlo to the integration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Keep it simple - just the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Procedural summary connecting to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Just planting the seed here. Deeper coverage in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Keep it light. Just enough to use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Preview what they’ll do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Set up the problem students will use all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Connect to the iCOW model and SimOptDecisions.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Summarize main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Connect to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3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7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9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61/(ASCE)ST.1943-541X.0001672" TargetMode="External" /><Relationship Id="rId3" Type="http://schemas.openxmlformats.org/officeDocument/2006/relationships/hyperlink" Target="https://doi.org/10.1016/j.gloenvcha.2012.07.004" TargetMode="External" /><Relationship Id="rId4" Type="http://schemas.openxmlformats.org/officeDocument/2006/relationships/hyperlink" Target="https://doi.org/10.1007/s10113-013-0420-z" TargetMode="External" /><Relationship Id="rId5" Type="http://schemas.openxmlformats.org/officeDocument/2006/relationships/hyperlink" Target="https://doi.org/10.5194/nhess-20-907-2020" TargetMode="External" /><Relationship Id="rId6" Type="http://schemas.openxmlformats.org/officeDocument/2006/relationships/hyperlink" Target="https://doi.org/10.1038/s41467-020-1526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Hazard, Exposure, Vulnerability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Fair Insurance Premium?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own a house in a flood zone.</a:t>
            </a:r>
          </a:p>
          <a:p>
            <a:pPr lvl="0" indent="0" marL="0">
              <a:buNone/>
            </a:pPr>
            <a:r>
              <a:rPr/>
              <a:t>An insurance company offers you a policy.</a:t>
            </a:r>
          </a:p>
          <a:p>
            <a:pPr lvl="0" indent="0" marL="0">
              <a:buNone/>
            </a:pPr>
            <a:r>
              <a:rPr b="1"/>
              <a:t>How do they decide what to charge you?</a:t>
            </a:r>
          </a:p>
          <a:p>
            <a:pPr lvl="0" indent="0" marL="0">
              <a:buNone/>
            </a:pPr>
            <a:r>
              <a:rPr/>
              <a:t>Today: The math behind flood risk pricing.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Quick Estimate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house faces two possible flood scenarios this year: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Damage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ft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$50,000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the expected annual damage?</a:t>
            </a:r>
          </a:p>
          <a:p>
            <a:pPr lvl="0" indent="0" marL="0">
              <a:buNone/>
            </a:pPr>
            <a:r>
              <a:rPr i="1"/>
              <a:t>(30 seconds to think)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Estimate: Answer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0.8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50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simple calculation is the core of </a:t>
                </a:r>
                <a:r>
                  <a:rPr b="1"/>
                  <a:t>risk analysis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Today: How do we do this when floods and damages are </a:t>
                </a:r>
                <a:r>
                  <a:rPr i="1"/>
                  <a:t>continuous</a:t>
                </a:r>
                <a:r>
                  <a:rPr/>
                  <a:t>?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Define key vocabulary: hazard, exposure, vulnerability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See how these combine to produce </a:t>
                </a:r>
                <a:r>
                  <a:rPr b="1"/>
                  <a:t>risk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Learn why </a:t>
                </a:r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≠</m:t>
                    </m:r>
                    <m: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x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(Jensen’s inequality)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Introduce Monte Carlo for complex damage functions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Analysis Vocabulary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Hazard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Hazard:</a:t>
            </a:r>
            <a:r>
              <a:rPr/>
              <a:t> The physical event or phenomenon</a:t>
            </a:r>
          </a:p>
          <a:p>
            <a:pPr lvl="0"/>
            <a:r>
              <a:rPr/>
              <a:t>Flood depth at a location</a:t>
            </a:r>
          </a:p>
          <a:p>
            <a:pPr lvl="0"/>
            <a:r>
              <a:rPr/>
              <a:t>Wind speed during a storm</a:t>
            </a:r>
          </a:p>
          <a:p>
            <a:pPr lvl="0"/>
            <a:r>
              <a:rPr/>
              <a:t>Ground shaking from an earthquake</a:t>
            </a:r>
          </a:p>
          <a:p>
            <a:pPr lvl="0"/>
            <a:r>
              <a:rPr/>
              <a:t>Extreme temperature</a:t>
            </a:r>
          </a:p>
          <a:p>
            <a:pPr lvl="0" indent="0" marL="0">
              <a:buNone/>
            </a:pPr>
            <a:r>
              <a:rPr/>
              <a:t>Key insight: Hazards are characterized by </a:t>
            </a:r>
            <a:r>
              <a:rPr b="1"/>
              <a:t>probability distributions</a:t>
            </a:r>
            <a:r>
              <a:rPr/>
              <a:t>, not single values.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Exposure: What’s at Risk?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Exposure</a:t>
            </a:r>
            <a:r>
              <a:rPr/>
              <a:t> = assets that could be affected</a:t>
            </a:r>
          </a:p>
          <a:p>
            <a:pPr lvl="0"/>
            <a:r>
              <a:rPr/>
              <a:t>Buildings and infrastructure</a:t>
            </a:r>
          </a:p>
          <a:p>
            <a:pPr lvl="0"/>
            <a:r>
              <a:rPr/>
              <a:t>People and livelihoods</a:t>
            </a:r>
          </a:p>
          <a:p>
            <a:pPr lvl="0"/>
            <a:r>
              <a:rPr/>
              <a:t>Agricultural land</a:t>
            </a:r>
          </a:p>
          <a:p>
            <a:pPr lvl="0"/>
            <a:r>
              <a:rPr/>
              <a:t>Economic activity</a:t>
            </a:r>
          </a:p>
        </p:txBody>
      </p:sp>
      <p:pic>
        <p:nvPicPr>
          <p:cNvPr descr="jongman_exposure_2012_fi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Global flood exposure has grown 10× since 1970. Source: Jongman et al. (2012)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 Changes Over Time</a:t>
            </a:r>
          </a:p>
        </p:txBody>
      </p:sp>
      <p:pic>
        <p:nvPicPr>
          <p:cNvPr descr="tedesco_exposure_2020_fig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578100" y="1193800"/>
            <a:ext cx="3987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Houston’s built footprint 1800-2018. Development into flood-prone areas increases exposure. Source: Tedesco et al. (2020)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Vulnerability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Vulnerability:</a:t>
            </a:r>
            <a:r>
              <a:rPr/>
              <a:t> Propensity to suffer damage given exposure to hazard</a:t>
            </a:r>
          </a:p>
          <a:p>
            <a:pPr lvl="0" indent="0" marL="0">
              <a:buNone/>
            </a:pPr>
            <a:r>
              <a:rPr/>
              <a:t>Important distinction:</a:t>
            </a:r>
          </a:p>
          <a:p>
            <a:pPr lvl="0"/>
            <a:r>
              <a:rPr b="1"/>
              <a:t>Fragility:</a:t>
            </a:r>
            <a:r>
              <a:rPr/>
              <a:t> Probability of failure (binary)</a:t>
            </a:r>
          </a:p>
          <a:p>
            <a:pPr lvl="0"/>
            <a:r>
              <a:rPr b="1"/>
              <a:t>Vulnerability:</a:t>
            </a:r>
            <a:r>
              <a:rPr/>
              <a:t> Degree of damage (continuous, 0-1)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Fragility vs. Vulnerability</a:t>
            </a:r>
          </a:p>
        </p:txBody>
      </p:sp>
      <p:pic>
        <p:nvPicPr>
          <p:cNvPr descr="gidaris_multiplehazard_2017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38300" y="1193800"/>
            <a:ext cx="5880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Fragility surfaces (a) and curves (b) show probability of damage given hazard intensity. Source: Gidaris et al. (2017)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Depth-Damage Functions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floods, </a:t>
            </a:r>
            <a:r>
              <a:rPr b="1"/>
              <a:t>depth-damage functions</a:t>
            </a:r>
            <a:r>
              <a:rPr/>
              <a:t> quantify vulnerability:</a:t>
            </a:r>
          </a:p>
        </p:txBody>
      </p:sp>
      <p:pic>
        <p:nvPicPr>
          <p:cNvPr descr="wing_vulnerability_2020_fig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08000"/>
            <a:ext cx="51054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4: Empirical depth-damage from NFIP claims data. Boxplots: Wing et al. (2020) analysis. Lines: USACE engineering curves.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the depth-damage data:</a:t>
            </a:r>
          </a:p>
          <a:p>
            <a:pPr lvl="0"/>
            <a:r>
              <a:rPr/>
              <a:t>Damage increases with depth (obvious)</a:t>
            </a:r>
          </a:p>
          <a:p>
            <a:pPr lvl="0"/>
            <a:r>
              <a:rPr b="1"/>
              <a:t>Huge uncertainty</a:t>
            </a:r>
            <a:r>
              <a:rPr/>
              <a:t> at any given depth</a:t>
            </a:r>
          </a:p>
          <a:p>
            <a:pPr lvl="0"/>
            <a:r>
              <a:rPr/>
              <a:t>Empirical data differs from engineering curves</a:t>
            </a:r>
          </a:p>
          <a:p>
            <a:pPr lvl="0"/>
            <a:r>
              <a:rPr/>
              <a:t>First foot of water causes significant damage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Components to Risk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= f(Hazard, Exposure, Vulnerability)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is the hazard intensity (e.g., flood depth).</a:t>
                </a:r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expected damages</a:t>
                </a:r>
                <a:r>
                  <a:rPr/>
                  <a:t>, we integrate over the hazard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Annual Expected Damages at Scale</a:t>
            </a:r>
          </a:p>
        </p:txBody>
      </p:sp>
      <p:pic>
        <p:nvPicPr>
          <p:cNvPr descr="demoel_reducing_2014_fig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5: From hazard and exposure data through damage models to expected annual damage (EAD). Source: de Moel et al. (2014)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city is deciding whether to build a new seawall.</a:t>
            </a:r>
          </a:p>
          <a:p>
            <a:pPr lvl="0" indent="0" marL="0">
              <a:buNone/>
            </a:pPr>
            <a:r>
              <a:rPr/>
              <a:t>Identify the </a:t>
            </a:r>
            <a:r>
              <a:rPr b="1"/>
              <a:t>hazard</a:t>
            </a:r>
            <a:r>
              <a:rPr/>
              <a:t>, </a:t>
            </a:r>
            <a:r>
              <a:rPr b="1"/>
              <a:t>exposure</a:t>
            </a:r>
            <a:r>
              <a:rPr/>
              <a:t>, and </a:t>
            </a:r>
            <a:r>
              <a:rPr b="1"/>
              <a:t>vulnerability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Discuss with a neighbor for 60 seconds.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Convolution: Hazard → Damages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Key Mathematical Idea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have: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hazard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probability of each flood depth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damage 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damage given flood depth</a:t>
                </a:r>
              </a:p>
              <a:p>
                <a:pPr lvl="0" indent="0" marL="0">
                  <a:buNone/>
                </a:pPr>
                <a:r>
                  <a:rPr/>
                  <a:t>We want: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damage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D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probability of each damage level</a:t>
                </a:r>
              </a:p>
              <a:p>
                <a:pPr lvl="0" indent="0" marL="0">
                  <a:buNone/>
                </a:pPr>
                <a:r>
                  <a:rPr/>
                  <a:t>This transformation is called </a:t>
                </a:r>
                <a:r>
                  <a:rPr b="1"/>
                  <a:t>convolution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Convolution Illustrated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 Distribution</a:t>
            </a:r>
          </a:p>
          <a:p>
            <a:pPr lvl="0"/>
            <a:r>
              <a:rPr/>
              <a:t>50% chance: no flood (h=0)</a:t>
            </a:r>
          </a:p>
          <a:p>
            <a:pPr lvl="0"/>
            <a:r>
              <a:rPr/>
              <a:t>30% chance: minor flood (h=2ft)</a:t>
            </a:r>
          </a:p>
          <a:p>
            <a:pPr lvl="0"/>
            <a:r>
              <a:rPr/>
              <a:t>20% chance: major flood (h=6ft)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Function</a:t>
            </a:r>
          </a:p>
          <a:p>
            <a:pPr lvl="0"/>
            <a:r>
              <a:rPr/>
              <a:t>h=0 → $0 damage</a:t>
            </a:r>
          </a:p>
          <a:p>
            <a:pPr lvl="0"/>
            <a:r>
              <a:rPr/>
              <a:t>h=2ft → $10,000 damage</a:t>
            </a:r>
          </a:p>
          <a:p>
            <a:pPr lvl="0"/>
            <a:r>
              <a:rPr/>
              <a:t>h=6ft → $100,000 damage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Distribution:</a:t>
            </a:r>
          </a:p>
          <a:p>
            <a:pPr lvl="0"/>
            <a:r>
              <a:rPr/>
              <a:t>50% chance: $0</a:t>
            </a:r>
          </a:p>
          <a:p>
            <a:pPr lvl="0"/>
            <a:r>
              <a:rPr/>
              <a:t>30% chance: $10,000</a:t>
            </a:r>
          </a:p>
          <a:p>
            <a:pPr lvl="0"/>
            <a:r>
              <a:rPr/>
              <a:t>20% chance: $100,000</a:t>
            </a:r>
          </a:p>
          <a:p>
            <a:pPr lvl="0" indent="0" marL="0">
              <a:buNone/>
            </a:pPr>
            <a:r>
              <a:rPr/>
              <a:t>Expected damage = $0.5(0) + 0.3(10k) + 0.2(100k) = </a:t>
            </a:r>
            <a:r>
              <a:rPr b="1"/>
              <a:t>$23,000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nonlinear function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≠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This will be on assessments. Know it.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Inequality: Example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Hazard:</a:t>
                </a:r>
              </a:p>
              <a:p>
                <a:pPr lvl="0"/>
                <a:r>
                  <a:rPr/>
                  <a:t>50% chance: 2 ft flood</a:t>
                </a:r>
              </a:p>
              <a:p>
                <a:pPr lvl="0"/>
                <a:r>
                  <a:rPr/>
                  <a:t>50% chance: 8 ft flood</a:t>
                </a:r>
              </a:p>
              <a:p>
                <a:pPr lvl="0"/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h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ft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Damage function:</a:t>
                </a:r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2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8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5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h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5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t>k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0.5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t>k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47</m:t>
                    </m:r>
                    <m:r>
                      <m:rPr>
                        <m:sty m:val="p"/>
                      </m:rPr>
                      <m:t>,</m:t>
                    </m:r>
                    <m:r>
                      <m:t>500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difference matters: </a:t>
                </a:r>
                <a:r>
                  <a:rPr b="1"/>
                  <a:t>$27,500 underestimate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continuous distributions, expected damage is an integral: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integral is </a:t>
                </a:r>
                <a:r>
                  <a:rPr b="1"/>
                  <a:t>intractable</a:t>
                </a:r>
                <a:r>
                  <a:rPr/>
                  <a:t> for nontrivial damage functions or probability density functions.</a:t>
                </a:r>
              </a:p>
              <a:p>
                <a:pPr lvl="0" indent="0" marL="0">
                  <a:buNone/>
                </a:pPr>
                <a:r>
                  <a:rPr b="1"/>
                  <a:t>Solution:</a:t>
                </a:r>
                <a:r>
                  <a:rPr/>
                  <a:t> Monte Carlo integration approximates it with samples.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Law of Large Numbers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we draw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samples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t>D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rPr>
                              <m:sty m:val="p"/>
                            </m:rPr>
                            <m:t>∞</m:t>
                          </m:r>
                        </m:lim>
                      </m:limUpp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sample average converges to the true expected value.</a:t>
                </a:r>
              </a:p>
              <a:p>
                <a:pPr lvl="0" indent="0" marL="0">
                  <a:buNone/>
                </a:pPr>
                <a:r>
                  <a:rPr/>
                  <a:t>More samples → better approximation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Monte Carlo Recipe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Sample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flood scenarios from hazard distribution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Apply</a:t>
                </a:r>
                <a:r>
                  <a:rPr/>
                  <a:t> damage function: compute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for each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Summarize</a:t>
                </a:r>
                <a:r>
                  <a:rPr/>
                  <a:t> the damage samples</a:t>
                </a:r>
              </a:p>
              <a:p>
                <a:pPr lvl="0" indent="0" marL="0">
                  <a:buNone/>
                </a:pPr>
                <a:r>
                  <a:rPr/>
                  <a:t>Once we have samples, we can compute </a:t>
                </a:r>
                <a:r>
                  <a:rPr b="1"/>
                  <a:t>any statistic</a:t>
                </a:r>
                <a:r>
                  <a:rPr/>
                  <a:t>:</a:t>
                </a:r>
              </a:p>
              <a:p>
                <a:pPr lvl="0"/>
                <a:r>
                  <a:rPr/>
                  <a:t>Mean (expected annual damage)</a:t>
                </a:r>
              </a:p>
              <a:p>
                <a:pPr lvl="0"/>
                <a:r>
                  <a:rPr/>
                  <a:t>Variance (how much does damage vary year-to-year?)</a:t>
                </a:r>
              </a:p>
              <a:p>
                <a:pPr lvl="0"/>
                <a:r>
                  <a:rPr/>
                  <a:t>Quantiles (what’s the 99th percentile damage?)</a:t>
                </a:r>
              </a:p>
              <a:p>
                <a:pPr lvl="0" indent="0" marL="0">
                  <a:buNone/>
                </a:pPr>
                <a:r>
                  <a:rPr/>
                  <a:t>This is exactly what you’ll implement on Friday.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Extreme Value Theory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Extremes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flood damage comes from </a:t>
            </a:r>
            <a:r>
              <a:rPr b="1"/>
              <a:t>rare, extreme events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problem: Normal distributions </a:t>
            </a:r>
            <a:r>
              <a:rPr b="1"/>
              <a:t>underestimate extreme risks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We need specialized tools for modeling the </a:t>
            </a:r>
            <a:r>
              <a:rPr b="1"/>
              <a:t>tails</a:t>
            </a:r>
            <a:r>
              <a:rPr/>
              <a:t> of distributions.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GEV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Generalized Extreme Value (GEV)</a:t>
                </a:r>
                <a:r>
                  <a:rPr/>
                  <a:t> distribution is designed for annual maxima.</a:t>
                </a:r>
              </a:p>
              <a:p>
                <a:pPr lvl="0" indent="0" marL="0">
                  <a:buNone/>
                </a:pPr>
                <a:r>
                  <a:rPr/>
                  <a:t>Three parameters: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(location): Where the distribution is centered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(scale): How spread out it is</a:t>
                </a:r>
              </a:p>
              <a:p>
                <a:pPr lvl="0"/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  <a:r>
                  <a:rPr/>
                  <a:t> (shape): How heavy the tail is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ξ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means </a:t>
                </a:r>
                <a:r>
                  <a:rPr b="1"/>
                  <a:t>fat tails</a:t>
                </a:r>
                <a:r>
                  <a:rPr/>
                  <a:t>: extreme events are more likely than a normal distribution predicts.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GEV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lab 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Sample thousands of possible flood scenarios</a:t>
            </a:r>
          </a:p>
          <a:p>
            <a:pPr lvl="0" indent="-342900" marL="342900">
              <a:buAutoNum type="arabicPeriod"/>
            </a:pPr>
            <a:r>
              <a:rPr/>
              <a:t>Pass each through a depth-damage function</a:t>
            </a:r>
          </a:p>
          <a:p>
            <a:pPr lvl="0" indent="-342900" marL="342900">
              <a:buAutoNum type="arabicPeriod"/>
            </a:pPr>
            <a:r>
              <a:rPr/>
              <a:t>Analyze the resulting damage distribution</a:t>
            </a:r>
          </a:p>
          <a:p>
            <a:pPr lvl="0" indent="0" marL="0">
              <a:buNone/>
            </a:pPr>
            <a:r>
              <a:rPr/>
              <a:t>This is </a:t>
            </a:r>
            <a:r>
              <a:rPr b="1"/>
              <a:t>uncertainty quantification</a:t>
            </a:r>
            <a:r>
              <a:rPr/>
              <a:t> in action.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House Elevation Problem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Concrete Decision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homeowner faces a choice:</a:t>
            </a:r>
          </a:p>
          <a:p>
            <a:pPr lvl="0" indent="0" marL="0">
              <a:buNone/>
            </a:pPr>
            <a:r>
              <a:rPr b="1"/>
              <a:t>How high should I elevate my house?</a:t>
            </a:r>
          </a:p>
          <a:p>
            <a:pPr lvl="0" indent="0" marL="0">
              <a:buNone/>
            </a:pPr>
            <a:r>
              <a:rPr/>
              <a:t>Higher elevation = more upfront cost, but less future flood damage.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House elevation in Meyerland, Houston. Photo: Allison Lee / Houston Public Media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Elevate 0 feet:</a:t>
            </a:r>
            <a:r>
              <a:rPr/>
              <a:t> No construction cost, high expected damages</a:t>
            </a:r>
          </a:p>
          <a:p>
            <a:pPr lvl="0"/>
            <a:r>
              <a:rPr b="1"/>
              <a:t>Elevate 14 feet:</a:t>
            </a:r>
            <a:r>
              <a:rPr/>
              <a:t> High construction cost, near-zero damages</a:t>
            </a:r>
          </a:p>
          <a:p>
            <a:pPr lvl="0"/>
            <a:r>
              <a:rPr b="1"/>
              <a:t>Somewhere in between:</a:t>
            </a:r>
            <a:r>
              <a:rPr/>
              <a:t> ???</a:t>
            </a:r>
          </a:p>
          <a:p>
            <a:pPr lvl="0" indent="0" marL="0">
              <a:buNone/>
            </a:pPr>
            <a:r>
              <a:rPr/>
              <a:t>Finding the optimal elevation requires:</a:t>
            </a:r>
          </a:p>
          <a:p>
            <a:pPr lvl="0" indent="-342900" marL="342900">
              <a:buAutoNum type="arabicPeriod"/>
            </a:pPr>
            <a:r>
              <a:rPr/>
              <a:t>A hazard model (GEV distribution for surge)</a:t>
            </a:r>
          </a:p>
          <a:p>
            <a:pPr lvl="0" indent="-342900" marL="342900">
              <a:buAutoNum type="arabicPeriod"/>
            </a:pPr>
            <a:r>
              <a:rPr/>
              <a:t>A damage model (depth-damage function)</a:t>
            </a:r>
          </a:p>
          <a:p>
            <a:pPr lvl="0" indent="-342900" marL="342900">
              <a:buAutoNum type="arabicPeriod"/>
            </a:pPr>
            <a:r>
              <a:rPr/>
              <a:t>A cost model (construction costs by elevation)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Semester’s Sandbox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the </a:t>
            </a:r>
            <a:r>
              <a:rPr b="1"/>
              <a:t>house elevation problem</a:t>
            </a:r>
            <a:r>
              <a:rPr/>
              <a:t> throughout the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Add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Hazard-Damage Convolution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Monte Carlo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Risk Metrics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EAD, VaR, CVaR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Decision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Optimal static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10-13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Deep Uncertainty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Robust optimization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</a:t>
            </a:r>
            <a:r>
              <a:rPr/>
              <a:t> emerges from the interaction of hazard, exposure, and vulnerability</a:t>
            </a:r>
          </a:p>
          <a:p>
            <a:pPr lvl="0" indent="-342900" marL="342900">
              <a:buAutoNum type="arabicPeriod"/>
            </a:pPr>
            <a:r>
              <a:rPr b="1"/>
              <a:t>Exposure is growing</a:t>
            </a:r>
            <a:r>
              <a:rPr/>
              <a:t>: More assets in harm’s way</a:t>
            </a:r>
          </a:p>
          <a:p>
            <a:pPr lvl="0" indent="-342900" marL="342900">
              <a:buAutoNum type="arabicPeriod"/>
            </a:pPr>
            <a:r>
              <a:rPr b="1"/>
              <a:t>Convolution</a:t>
            </a:r>
            <a:r>
              <a:rPr/>
              <a:t> transforms hazard distributions into damage distributions</a:t>
            </a:r>
          </a:p>
          <a:p>
            <a:pPr lvl="0" indent="-342900" marL="342900">
              <a:buAutoNum type="arabicPeriod"/>
            </a:pPr>
            <a:r>
              <a:rPr b="1"/>
              <a:t>Monte Carlo</a:t>
            </a:r>
            <a:r>
              <a:rPr/>
              <a:t> lets us handle complex, nonlinear systems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house elevation problem</a:t>
            </a:r>
            <a:r>
              <a:rPr/>
              <a:t> gives us a concrete sandbox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Preview: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Implement a depth-damage function</a:t>
            </a:r>
          </a:p>
          <a:p>
            <a:pPr lvl="0" indent="-342900" marL="342900">
              <a:buAutoNum type="arabicPeriod"/>
            </a:pPr>
            <a:r>
              <a:rPr/>
              <a:t>Use Monte Carlo to compute damage distributions</a:t>
            </a:r>
          </a:p>
          <a:p>
            <a:pPr lvl="0" indent="-342900" marL="342900">
              <a:buAutoNum type="arabicPeriod"/>
            </a:pPr>
            <a:r>
              <a:rPr/>
              <a:t>Extend to 100 houses at varying elevations</a:t>
            </a:r>
          </a:p>
          <a:p>
            <a:pPr lvl="0" indent="-342900" marL="342900">
              <a:buAutoNum type="arabicPeriod"/>
            </a:pPr>
            <a:r>
              <a:rPr/>
              <a:t>Begin using the SimOptDecisions.jl framework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Gidaris, Ioannis, Jamie E. Padgett, Andre R. Barbosa, et al. 2017. “Multiple-Hazard Fragility and Restoration Models of Highway Bridges for Regional Risk and Resilience Assessment in the United States: State-of-the-Art Review.” </a:t>
            </a:r>
            <a:r>
              <a:rPr i="1"/>
              <a:t>Journal of Structural Engineering</a:t>
            </a:r>
            <a:r>
              <a:rPr/>
              <a:t> 143 (3): 04016188. </a:t>
            </a:r>
            <a:r>
              <a:rPr>
                <a:hlinkClick r:id="rId2"/>
              </a:rPr>
              <a:t>https://doi.org/10.1061/(ASCE)ST.1943-541X.0001672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Jongman, Brenden, Philip J Ward, and Jeroen C J H Aerts. 2012. “Global Exposure to River and Coastal Flooding: Long Term Trends and Changes.” </a:t>
            </a:r>
            <a:r>
              <a:rPr i="1"/>
              <a:t>Global Environmental Change</a:t>
            </a:r>
            <a:r>
              <a:rPr/>
              <a:t> 22 (4): 823–35. </a:t>
            </a:r>
            <a:r>
              <a:rPr>
                <a:hlinkClick r:id="rId3"/>
              </a:rPr>
              <a:t>https://doi.org/10.1016/j.gloenvcha.2012.07.004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Moel, Hans de, Mathijs van Vliet, and Jeroen C. J. H. Aerts. 2014. “Evaluating the Effect of Flood Damage-Reducing Measures: A Case Study of the Unembanked Area of Rotterdam, the Netherlands.” </a:t>
            </a:r>
            <a:r>
              <a:rPr i="1"/>
              <a:t>Regional Environmental Change</a:t>
            </a:r>
            <a:r>
              <a:rPr/>
              <a:t> 14 (3): 895–908. </a:t>
            </a:r>
            <a:r>
              <a:rPr>
                <a:hlinkClick r:id="rId4"/>
              </a:rPr>
              <a:t>https://doi.org/10.1007/s10113-013-0420-z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Tedesco, Marco, Steven McAlpine, and Jeremy R. Porter. 2020. “Exposure of Real Estate Properties to the 2018 Hurricane Florence Flooding.” </a:t>
            </a:r>
            <a:r>
              <a:rPr i="1"/>
              <a:t>Natural Hazards and Earth System Sciences</a:t>
            </a:r>
            <a:r>
              <a:rPr/>
              <a:t> 20 (3): 907–20. </a:t>
            </a:r>
            <a:r>
              <a:rPr>
                <a:hlinkClick r:id="rId5"/>
              </a:rPr>
              <a:t>https://doi.org/10.5194/nhess-20-907-2020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Wing, Oliver E. J., Nicholas Pinter, Paul D. Bates, and Carolyn Kousky. 2020. “New Insights into US Flood Vulnerability Revealed from Flood Insurance Big Data.” </a:t>
            </a:r>
            <a:r>
              <a:rPr i="1"/>
              <a:t>Nature Communications</a:t>
            </a:r>
            <a:r>
              <a:rPr/>
              <a:t> 11 (1, 1): 1444. </a:t>
            </a:r>
            <a:r>
              <a:rPr>
                <a:hlinkClick r:id="rId6"/>
              </a:rPr>
              <a:t>https://doi.org/10.1038/s41467-020-15264-2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Hazard, Exposure, Vulnerability</dc:title>
  <dc:creator>James Doss-Gollin</dc:creator>
  <cp:keywords/>
  <dcterms:created xsi:type="dcterms:W3CDTF">2026-03-25T21:26:27Z</dcterms:created>
  <dcterms:modified xsi:type="dcterms:W3CDTF">2026-03-25T21:26:27Z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2026-01-21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2</vt:lpwstr>
  </property>
</Properties>
</file>
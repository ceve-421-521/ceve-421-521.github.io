
<file path=[Content_Types].xml><?xml version="1.0" encoding="utf-8"?>
<Types xmlns="http://schemas.openxmlformats.org/package/2006/content-types">
  <Default Extension="xml" ContentType="application/xml"/>
  <Default Extension="rels" ContentType="application/vnd.openxmlformats-package.relationships+xml"/>
  <Default Extension="gif" ContentType="image/gif"/>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notesMaster" Target="notesMasters/notesMaster1.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Open with the historical disaster. Set the scene dramatically before introducing any formalism.</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1:02. Ask: “What should the Commission do?”</a:t>
            </a:r>
          </a:p>
          <a:p>
            <a:pPr lvl="0" indent="0" marL="0">
              <a:buNone/>
            </a:pPr>
          </a:p>
          <a:p>
            <a:pPr lvl="0" indent="0" marL="0">
              <a:buNone/>
            </a:pPr>
            <a:r>
              <a:rPr/>
              <a:t>Target: 1:05. Pause here. Let the tension sit. “This is fundamentally an optimization problem. And in 1956, a mathematician named van Dantzig figured out how to solve it.”</a:t>
            </a:r>
          </a:p>
          <a:p>
            <a:pPr lvl="0" indent="0" marL="0">
              <a:buNone/>
            </a:pPr>
          </a:p>
          <a:p>
            <a:pPr lvl="0" indent="0" marL="0">
              <a:buNone/>
            </a:pPr>
            <a:r>
              <a:rPr/>
              <a:t>Target: 1:07. Briefly review the notation diagram. Optimization is about choosing the </a:t>
            </a:r>
            <a:r>
              <a:rPr b="1"/>
              <a:t>levers</a:t>
            </a:r>
            <a:r>
              <a:rPr/>
              <a:t> (decision variables) to achieve the best </a:t>
            </a:r>
            <a:r>
              <a:rPr b="1"/>
              <a:t>metrics</a:t>
            </a:r>
            <a:r>
              <a:rPr/>
              <a:t> (objective) given the </a:t>
            </a:r>
            <a:r>
              <a:rPr b="1"/>
              <a:t>states of the world</a:t>
            </a:r>
            <a:r>
              <a:rPr/>
              <a:t> (scenarios/uncertainties) and the </a:t>
            </a:r>
            <a:r>
              <a:rPr b="1"/>
              <a:t>relationships</a:t>
            </a:r>
            <a:r>
              <a:rPr/>
              <a:t> (constraints and system model).</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Write these four on the board. We’ll keep coming back to them.</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Transition to the formal model. Emphasize that every assumption was shaped by computational constraints.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The exponential distribution wasn’t chosen because floods are truly exponential — it was chosen because it yields a tractable integral.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The 1953 event (marked on the figure) falls off the fitted line — it was more extreme than the model predicted. Ask: “What does that tell us about the exponential assumption?”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1:17. Students who did Lab 2 (hazard-damage convolution) know that damage is graduated. Ask: “What would change if we used a more realistic damage model?”</a:t>
            </a:r>
          </a:p>
          <a:p>
            <a:pPr lvl="0" indent="0" marL="0">
              <a:buNone/>
            </a:pPr>
          </a:p>
          <a:p>
            <a:pPr lvl="0" indent="0" marL="0">
              <a:buNone/>
            </a:pPr>
            <a:r>
              <a:rPr/>
              <a:t>Target: 1:20. The 100/δ comes from summing the infinite geometric series of discounted annual losses. This is the same present value calculation from last week.</a:t>
            </a:r>
          </a:p>
          <a:p>
            <a:pPr lvl="0" indent="0" marL="0">
              <a:buNone/>
            </a:pPr>
          </a:p>
          <a:p>
            <a:pPr lvl="0" indent="0" marL="0">
              <a:buNone/>
            </a:pPr>
            <a:r>
              <a:rPr/>
              <a:t>Target: 1:23. Walk through the figure. Ask: “What happens if V doubles? Which curve shifts?”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Don’t derive — show the result and focus on interpretation. Ask: “Which of these parameters do we know well? Which are uncertain?”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van Dantzig spends half the paper relaxing these assumptions.</a:t>
            </a:r>
          </a:p>
          <a:p>
            <a:pPr lvl="0" indent="0" marL="0">
              <a:buNone/>
            </a:pPr>
          </a:p>
          <a:p>
            <a:pPr lvl="0" indent="0" marL="0">
              <a:buNone/>
            </a:pPr>
            <a:r>
              <a:rPr/>
              <a:t>Target: 1:29.</a:t>
            </a:r>
          </a:p>
          <a:p>
            <a:pPr lvl="0" indent="0" marL="0">
              <a:buNone/>
            </a:pPr>
          </a:p>
          <a:p>
            <a:pPr lvl="0" indent="0" marL="0">
              <a:buNone/>
            </a:pPr>
            <a:r>
              <a:rPr/>
              <a:t>Target: 1:32. If wealth growth equals the discount rate, the present value of future losses diverges. Connect to discounting debates from Week 5.</a:t>
            </a:r>
          </a:p>
          <a:p>
            <a:pPr lvl="0" indent="0" marL="0">
              <a:buNone/>
            </a:pPr>
          </a:p>
          <a:p>
            <a:pPr lvl="0" indent="0" marL="0">
              <a:buNone/>
            </a:pPr>
            <a:r>
              <a:rPr/>
              <a:t>Target: 1:35. A 1956 paper grappling with the same uncertainty challenges we discuss today. Flag the connection to Week 8 (robustness and deep uncertainty).</a:t>
            </a:r>
          </a:p>
          <a:p>
            <a:pPr lvl="0" indent="0" marL="0">
              <a:buNone/>
            </a:pPr>
          </a:p>
          <a:p>
            <a:pPr lvl="0" indent="0" marL="0">
              <a:buNone/>
            </a:pPr>
            <a:r>
              <a:rPr/>
              <a:t>Target: 1:37. He’s doing robust optimization before the term existed.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Delta Works took 43 years and cost ~$7 billion.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Ask: “Is it ethical to put a dollar value on human life? Is it ethical </a:t>
            </a:r>
            <a:r>
              <a:rPr i="1"/>
              <a:t>not</a:t>
            </a:r>
            <a:r>
              <a:rPr/>
              <a:t> to, when making infrastructure decisions?” The value of a statistical life is still debated today.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“We’ve just seen one concrete example of using optimization to inform design. Now let’s name the pieces so you can recognize them in any context.”</a:t>
            </a:r>
          </a:p>
          <a:p>
            <a:pPr lvl="0" indent="0" marL="0">
              <a:buNone/>
            </a:pPr>
          </a:p>
          <a:p>
            <a:pPr lvl="0" indent="0" marL="0">
              <a:buNone/>
            </a:pPr>
            <a:r>
              <a:rPr/>
              <a:t>Target: 1:45. Write the canonical form on the board. “This notation is universal across engineering, economics, and operations research. If you can read this, you can read any optimization paper.” Map each piece to van Dantzig. One variable, one constraint, closed-form objective — the simplest possible case.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1:47. Just vocabulary. Students should recognize these terms when they see them in papers. The question for any study is: “how does uncertainty enter the optimization?” Different answers give very different solutions. Connect to Week 8 (robustness).</a:t>
            </a:r>
          </a:p>
          <a:p>
            <a:pPr lvl="0" indent="0" marL="0">
              <a:buNone/>
            </a:pPr>
          </a:p>
          <a:p>
            <a:pPr lvl="0" indent="0" marL="0">
              <a:buNone/>
            </a:pPr>
            <a:r>
              <a:rPr/>
              <a:t>Target: 1:49. One sentence per row. The organizing principle: “what structure does your problem have?” Other courses cover each technique in depth. Here we need to understand the tradeoffs between them.</a:t>
            </a:r>
          </a:p>
          <a:p>
            <a:pPr lvl="0" indent="0" marL="0">
              <a:buNone/>
            </a:pPr>
          </a:p>
          <a:p>
            <a:pPr lvl="0" indent="0" marL="0">
              <a:buNone/>
            </a:pPr>
            <a:r>
              <a:rPr/>
              <a:t>Target: 1:55. We’ll use “policy search” for the rest of the course. It changes how we think about and present results.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1:58. These four questions apply to van Dantzig, to ICOW, and to any optimization result you’ll encounter.</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commons.wikimedia.org/wiki/File:Watersnoodramp_1953.jpg" TargetMode="External" /><Relationship Id="rId2" Type="http://schemas.openxmlformats.org/officeDocument/2006/relationships/image" Target="../media/image1.gif"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 Id="rId3"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0.xml" /><Relationship Id="rId4" Type="http://schemas.openxmlformats.org/officeDocument/2006/relationships/hyperlink" Target="https://commons.wikimedia.org/wiki/File:Delta_works_B.jpg" TargetMode="External" /><Relationship Id="rId3" Type="http://schemas.openxmlformats.org/officeDocument/2006/relationships/image" Target="../media/image6.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hyperlink" Target="https://doi.org/10.2307/1911632"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Optimal Static Decisions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James Doss-Gollin</a:t>
            </a:r>
          </a:p>
        </p:txBody>
      </p:sp>
      <p:sp>
        <p:nvSpPr>
          <p:cNvPr id="4" name="Date Placeholder 3"/>
          <p:cNvSpPr>
            <a:spLocks noGrp="1"/>
          </p:cNvSpPr>
          <p:nvPr>
            <p:ph idx="10" sz="half" type="dt"/>
          </p:nvPr>
        </p:nvSpPr>
        <p:spPr/>
        <p:txBody>
          <a:bodyPr/>
          <a:lstStyle/>
          <a:p>
            <a:pPr lvl="0" indent="0" marL="0">
              <a:buNone/>
            </a:pPr>
            <a:r>
              <a:rPr/>
              <a:t>2026-02-16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1953 North Sea Flood</a:t>
            </a:r>
          </a:p>
        </p:txBody>
      </p:sp>
      <p:sp>
        <p:nvSpPr>
          <p:cNvPr id="3" name="Content Placeholder 2"/>
          <p:cNvSpPr>
            <a:spLocks noGrp="1"/>
          </p:cNvSpPr>
          <p:nvPr>
            <p:ph idx="1"/>
          </p:nvPr>
        </p:nvSpPr>
        <p:spPr/>
        <p:txBody>
          <a:bodyPr/>
          <a:lstStyle/>
          <a:p>
            <a:pPr lvl="0" indent="0" marL="0">
              <a:spcBef>
                <a:spcPts val="3000"/>
              </a:spcBef>
              <a:buNone/>
            </a:pPr>
            <a:r>
              <a:rPr b="1"/>
              <a:t>February 1, 1953</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watersnoodramp-1953.gif" id="0" name="Picture 1"/>
          <p:cNvPicPr>
            <a:picLocks noGrp="1" noChangeAspect="1"/>
          </p:cNvPicPr>
          <p:nvPr/>
        </p:nvPicPr>
        <p:blipFill>
          <a:blip r:embed="rId2"/>
          <a:stretch>
            <a:fillRect/>
          </a:stretch>
        </p:blipFill>
        <p:spPr bwMode="auto">
          <a:xfrm>
            <a:off x="685800" y="1193800"/>
            <a:ext cx="3581400" cy="28829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Flooding in the Netherlands, 1953. Source: </a:t>
            </a:r>
            <a:r>
              <a:rPr>
                <a:hlinkClick r:id="rId3"/>
              </a:rPr>
              <a:t>Wikimedia Commons</a:t>
            </a:r>
            <a:r>
              <a:rPr/>
              <a:t>, public domain.</a:t>
            </a:r>
          </a:p>
        </p:txBody>
      </p:sp>
      <p:sp>
        <p:nvSpPr>
          <p:cNvPr id="4" name="Content Placeholder 3"/>
          <p:cNvSpPr>
            <a:spLocks noGrp="1"/>
          </p:cNvSpPr>
          <p:nvPr>
            <p:ph idx="2" sz="half"/>
          </p:nvPr>
        </p:nvSpPr>
        <p:spPr/>
        <p:txBody>
          <a:bodyPr/>
          <a:lstStyle/>
          <a:p>
            <a:pPr lvl="0"/>
            <a:r>
              <a:rPr/>
              <a:t>1,800+ people killed</a:t>
            </a:r>
          </a:p>
          <a:p>
            <a:pPr lvl="0"/>
            <a:r>
              <a:rPr/>
              <a:t>150,000 hectares flooded</a:t>
            </a:r>
          </a:p>
          <a:p>
            <a:pPr lvl="0"/>
            <a:r>
              <a:rPr/>
              <a:t>9,000 buildings destroyed</a:t>
            </a:r>
          </a:p>
          <a:p>
            <a:pPr lvl="0"/>
            <a:r>
              <a:rPr/>
              <a:t>Economic loss: 1.5–2 billion guilders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Dutch government forms the </a:t>
            </a:r>
            <a:r>
              <a:rPr b="1"/>
              <a:t>Delta Commission</a:t>
            </a:r>
            <a:r>
              <a:rPr/>
              <a:t>. Their charge: </a:t>
            </a:r>
            <a:r>
              <a:rPr i="1"/>
              <a:t>make sure this never happens again.</a:t>
            </a:r>
          </a:p>
          <a:p>
            <a:pPr lvl="0" indent="0" marL="0">
              <a:spcBef>
                <a:spcPts val="3000"/>
              </a:spcBef>
              <a:buNone/>
            </a:pPr>
            <a:r>
              <a:rPr b="1"/>
              <a:t>“How High Should We Build the Dikes?”</a:t>
            </a:r>
          </a:p>
          <a:p>
            <a:pPr lvl="0" indent="0" marL="0">
              <a:buNone/>
            </a:pPr>
            <a:r>
              <a:rPr/>
              <a:t>Historical approach: build to the height of the highest observed flood.</a:t>
            </a:r>
          </a:p>
          <a:p>
            <a:pPr lvl="0" indent="0" marL="0">
              <a:buNone/>
            </a:pPr>
            <a:r>
              <a:rPr b="1"/>
              <a:t>Problem:</a:t>
            </a:r>
            <a:r>
              <a:rPr/>
              <a:t> there is </a:t>
            </a:r>
            <a:r>
              <a:rPr b="1"/>
              <a:t>no upper limit</a:t>
            </a:r>
            <a:r>
              <a:rPr/>
              <a:t> to flood height — every height has a positive exceedance probability.</a:t>
            </a:r>
          </a:p>
          <a:p>
            <a:pPr lvl="0"/>
            <a:r>
              <a:rPr/>
              <a:t>Higher dikes cost more money to build</a:t>
            </a:r>
          </a:p>
          <a:p>
            <a:pPr lvl="0"/>
            <a:r>
              <a:rPr/>
              <a:t>Lower dikes mean more expected flood damage</a:t>
            </a:r>
          </a:p>
          <a:p>
            <a:pPr lvl="0" indent="0" marL="0">
              <a:buNone/>
            </a:pPr>
            <a:r>
              <a:rPr b="1"/>
              <a:t>The question:</a:t>
            </a:r>
            <a:r>
              <a:rPr/>
              <a:t> what is the </a:t>
            </a:r>
            <a:r>
              <a:rPr i="1"/>
              <a:t>right</a:t>
            </a:r>
            <a:r>
              <a:rPr/>
              <a:t> height?</a:t>
            </a:r>
          </a:p>
          <a:p>
            <a:pPr lvl="0" indent="0" marL="0">
              <a:spcBef>
                <a:spcPts val="3000"/>
              </a:spcBef>
              <a:buNone/>
            </a:pPr>
            <a:r>
              <a:rPr b="1"/>
              <a:t>Review: Our System Dynamics Notation</a:t>
            </a:r>
          </a:p>
        </p:txBody>
      </p:sp>
      <p:pic>
        <p:nvPicPr>
          <p:cNvPr descr="bayes-rdm-I.png" id="0" name="Picture 1"/>
          <p:cNvPicPr>
            <a:picLocks noGrp="1" noChangeAspect="1"/>
          </p:cNvPicPr>
          <p:nvPr/>
        </p:nvPicPr>
        <p:blipFill>
          <a:blip r:embed="rId3"/>
          <a:stretch>
            <a:fillRect/>
          </a:stretch>
        </p:blipFill>
        <p:spPr bwMode="auto">
          <a:xfrm>
            <a:off x="3568700" y="977900"/>
            <a:ext cx="5105400" cy="23241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1: Notation for our system dynamics. Where does optimization fit?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Structure of an Optimization Problem</a:t>
            </a:r>
          </a:p>
          <a:p>
            <a:pPr lvl="0" indent="0" marL="0">
              <a:buNone/>
            </a:pPr>
            <a:r>
              <a:rPr/>
              <a:t>Every optimization problem has four components:</a:t>
            </a:r>
          </a:p>
          <a:p>
            <a:pPr lvl="0" indent="-342900" marL="342900">
              <a:buAutoNum type="arabicPeriod"/>
            </a:pPr>
            <a:r>
              <a:rPr b="1"/>
              <a:t>Decision variables:</a:t>
            </a:r>
            <a:r>
              <a:rPr/>
              <a:t> What can we control?</a:t>
            </a:r>
          </a:p>
          <a:p>
            <a:pPr lvl="0" indent="-342900" marL="342900">
              <a:buAutoNum type="arabicPeriod"/>
            </a:pPr>
            <a:r>
              <a:rPr b="1"/>
              <a:t>Objective function:</a:t>
            </a:r>
            <a:r>
              <a:rPr/>
              <a:t> What are we trying to minimize or maximize?</a:t>
            </a:r>
          </a:p>
          <a:p>
            <a:pPr lvl="0" indent="-342900" marL="342900">
              <a:buAutoNum type="arabicPeriod"/>
            </a:pPr>
            <a:r>
              <a:rPr b="1"/>
              <a:t>Constraints:</a:t>
            </a:r>
            <a:r>
              <a:rPr/>
              <a:t> What limits our choices?</a:t>
            </a:r>
          </a:p>
          <a:p>
            <a:pPr lvl="0" indent="-342900" marL="342900">
              <a:buAutoNum type="arabicPeriod"/>
            </a:pPr>
            <a:r>
              <a:rPr b="1"/>
              <a:t>Scenarios / states of the world:</a:t>
            </a:r>
            <a:r>
              <a:rPr/>
              <a:t> What uncertainties affect the outcome?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van Dantzig’s Simple Model</a:t>
            </a:r>
          </a:p>
        </p:txBody>
      </p:sp>
      <p:sp>
        <p:nvSpPr>
          <p:cNvPr id="3" name="Content Placeholder 2"/>
          <p:cNvSpPr>
            <a:spLocks noGrp="1"/>
          </p:cNvSpPr>
          <p:nvPr>
            <p:ph idx="1"/>
          </p:nvPr>
        </p:nvSpPr>
        <p:spPr/>
        <p:txBody>
          <a:bodyPr/>
          <a:lstStyle/>
          <a:p>
            <a:pPr lvl="0" indent="0" marL="0">
              <a:spcBef>
                <a:spcPts val="3000"/>
              </a:spcBef>
              <a:buNone/>
            </a:pPr>
            <a:r>
              <a:rPr b="1"/>
              <a:t>Historical Context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paper.png" id="0" name="Picture 1"/>
          <p:cNvPicPr>
            <a:picLocks noGrp="1" noChangeAspect="1"/>
          </p:cNvPicPr>
          <p:nvPr/>
        </p:nvPicPr>
        <p:blipFill>
          <a:blip r:embed="rId3"/>
          <a:stretch>
            <a:fillRect/>
          </a:stretch>
        </p:blipFill>
        <p:spPr bwMode="auto">
          <a:xfrm>
            <a:off x="1447800" y="1193800"/>
            <a:ext cx="2044700" cy="28829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First page of van Dantzig (1956).</a:t>
            </a:r>
          </a:p>
        </p:txBody>
      </p:sp>
      <p:sp>
        <p:nvSpPr>
          <p:cNvPr id="4" name="Content Placeholder 3"/>
          <p:cNvSpPr>
            <a:spLocks noGrp="1"/>
          </p:cNvSpPr>
          <p:nvPr>
            <p:ph idx="2" sz="half"/>
          </p:nvPr>
        </p:nvSpPr>
        <p:spPr/>
        <p:txBody>
          <a:bodyPr/>
          <a:lstStyle/>
          <a:p>
            <a:pPr lvl="0" indent="0" marL="0">
              <a:buNone/>
            </a:pPr>
            <a:r>
              <a:rPr/>
              <a:t>Published in </a:t>
            </a:r>
            <a:r>
              <a:rPr i="1"/>
              <a:t>Econometrica</a:t>
            </a:r>
            <a:r>
              <a:rPr/>
              <a:t>, 1956.</a:t>
            </a:r>
          </a:p>
          <a:p>
            <a:pPr lvl="0" indent="0" marL="0">
              <a:buNone/>
            </a:pPr>
            <a:r>
              <a:rPr/>
              <a:t>Models always trade off realism for tractability — they answer questions and inform decisions, not provide a 1:1 map of the real world.</a:t>
            </a:r>
          </a:p>
          <a:p>
            <a:pPr lvl="0" indent="0" marL="0">
              <a:buNone/>
            </a:pPr>
            <a:r>
              <a:rPr/>
              <a:t>With no computers available, van Dantzig needed a </a:t>
            </a:r>
            <a:r>
              <a:rPr b="1"/>
              <a:t>closed-form solution</a:t>
            </a:r>
            <a:r>
              <a:rPr/>
              <a:t> — so every assumption was chosen to keep the math tractable.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Flood Exceedance Probability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fig1.png" id="0" name="Picture 1"/>
          <p:cNvPicPr>
            <a:picLocks noGrp="1" noChangeAspect="1"/>
          </p:cNvPicPr>
          <p:nvPr/>
        </p:nvPicPr>
        <p:blipFill>
          <a:blip r:embed="rId3"/>
          <a:stretch>
            <a:fillRect/>
          </a:stretch>
        </p:blipFill>
        <p:spPr bwMode="auto">
          <a:xfrm>
            <a:off x="457200" y="1244600"/>
            <a:ext cx="4038600" cy="27813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van Dantzig’s Figure 1: exceedance probability vs. high tide height at Hook of Holland. Note the 1953 event marked as an outlier. Source: van Dantzig (1956).</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a:t>Assumed </a:t>
                </a:r>
                <a:r>
                  <a:rPr b="1"/>
                  <a:t>exponential</a:t>
                </a:r>
                <a:r>
                  <a:rPr/>
                  <a:t> exceedance probability:</a:t>
                </a:r>
              </a:p>
              <a:p>
                <a:pPr lvl="0" indent="0" marL="0">
                  <a:buNone/>
                </a:pPr>
                <a14:m>
                  <m:oMathPara xmlns:m="http://schemas.openxmlformats.org/officeDocument/2006/math">
                    <m:oMathParaPr>
                      <m:jc m:val="center"/>
                    </m:oMathParaPr>
                    <m:oMath>
                      <m:r>
                        <m:t>p</m:t>
                      </m:r>
                      <m:r>
                        <m:rPr>
                          <m:sty m:val="p"/>
                        </m:rPr>
                        <m:t>(</m:t>
                      </m:r>
                      <m:r>
                        <m:t>h</m:t>
                      </m:r>
                      <m:r>
                        <m:rPr>
                          <m:sty m:val="p"/>
                        </m:rPr>
                        <m:t>)</m:t>
                      </m:r>
                      <m:r>
                        <m:rPr>
                          <m:sty m:val="p"/>
                        </m:rPr>
                        <m:t>=</m:t>
                      </m:r>
                      <m:sSub>
                        <m:e>
                          <m:r>
                            <m:t>p</m:t>
                          </m:r>
                        </m:e>
                        <m:sub>
                          <m:r>
                            <m:t>0</m:t>
                          </m:r>
                        </m:sub>
                      </m:sSub>
                      <m:r>
                        <m:t> </m:t>
                      </m:r>
                      <m:sSup>
                        <m:e>
                          <m:r>
                            <m:t>e</m:t>
                          </m:r>
                        </m:e>
                        <m:sup>
                          <m:r>
                            <m:rPr>
                              <m:sty m:val="p"/>
                            </m:rPr>
                            <m:t>−</m:t>
                          </m:r>
                          <m:r>
                            <m:t>α</m:t>
                          </m:r>
                          <m:r>
                            <m:rPr>
                              <m:sty m:val="p"/>
                            </m:rPr>
                            <m:t>(</m:t>
                          </m:r>
                          <m:r>
                            <m:t>h</m:t>
                          </m:r>
                          <m:r>
                            <m:rPr>
                              <m:sty m:val="p"/>
                            </m:rPr>
                            <m:t>−</m:t>
                          </m:r>
                          <m:sSub>
                            <m:e>
                              <m:r>
                                <m:t>H</m:t>
                              </m:r>
                            </m:e>
                            <m:sub>
                              <m:r>
                                <m:t>0</m:t>
                              </m:r>
                            </m:sub>
                          </m:sSub>
                          <m:r>
                            <m:rPr>
                              <m:sty m:val="p"/>
                            </m:rPr>
                            <m:t>)</m:t>
                          </m:r>
                        </m:sup>
                      </m:sSup>
                    </m:oMath>
                  </m:oMathPara>
                </a14:m>
              </a:p>
              <a:p>
                <a:pPr lvl="0"/>
                <a14:m>
                  <m:oMath xmlns:m="http://schemas.openxmlformats.org/officeDocument/2006/math">
                    <m:r>
                      <m:t>h</m:t>
                    </m:r>
                  </m:oMath>
                </a14:m>
                <a:r>
                  <a:rPr/>
                  <a:t> = water height</a:t>
                </a:r>
              </a:p>
              <a:p>
                <a:pPr lvl="0"/>
                <a14:m>
                  <m:oMath xmlns:m="http://schemas.openxmlformats.org/officeDocument/2006/math">
                    <m:sSub>
                      <m:e>
                        <m:r>
                          <m:t>H</m:t>
                        </m:r>
                      </m:e>
                      <m:sub>
                        <m:r>
                          <m:t>0</m:t>
                        </m:r>
                      </m:sub>
                    </m:sSub>
                  </m:oMath>
                </a14:m>
                <a:r>
                  <a:rPr/>
                  <a:t> = current dike height</a:t>
                </a:r>
              </a:p>
              <a:p>
                <a:pPr lvl="0"/>
                <a14:m>
                  <m:oMath xmlns:m="http://schemas.openxmlformats.org/officeDocument/2006/math">
                    <m:sSub>
                      <m:e>
                        <m:r>
                          <m:t>p</m:t>
                        </m:r>
                      </m:e>
                      <m:sub>
                        <m:r>
                          <m:t>0</m:t>
                        </m:r>
                      </m:sub>
                    </m:sSub>
                  </m:oMath>
                </a14:m>
                <a:r>
                  <a:rPr/>
                  <a:t> = current exceedance probability</a:t>
                </a:r>
              </a:p>
              <a:p>
                <a:pPr lvl="0"/>
                <a14:m>
                  <m:oMath xmlns:m="http://schemas.openxmlformats.org/officeDocument/2006/math">
                    <m:r>
                      <m:t>α</m:t>
                    </m:r>
                  </m:oMath>
                </a14:m>
                <a:r>
                  <a:rPr/>
                  <a:t> = shape parameter</a:t>
                </a:r>
              </a:p>
              <a:p>
                <a:pPr lvl="0" indent="0" marL="0">
                  <a:buNone/>
                </a:pPr>
                <a:r>
                  <a:rPr/>
                  <a:t>The straight line on the log plot is the exponential fit.</a:t>
                </a:r>
              </a:p>
              <a:p>
                <a:pPr lvl="0" indent="0" marL="0">
                  <a:buNone/>
                </a:pPr>
                <a:r>
                  <a:rPr/>
                  <a:t>Why exponential? Because it makes the integral tractable.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The Loss Model</a:t>
                </a:r>
              </a:p>
              <a:p>
                <a:pPr lvl="0" indent="0" marL="0">
                  <a:buNone/>
                </a:pPr>
                <a:r>
                  <a:rPr/>
                  <a:t>van Dantzig assumes </a:t>
                </a:r>
                <a:r>
                  <a:rPr b="1"/>
                  <a:t>binary damage</a:t>
                </a:r>
                <a:r>
                  <a:rPr/>
                  <a:t>: if water exceeds dike height </a:t>
                </a:r>
                <a14:m>
                  <m:oMath xmlns:m="http://schemas.openxmlformats.org/officeDocument/2006/math">
                    <m:r>
                      <m:t>H</m:t>
                    </m:r>
                  </m:oMath>
                </a14:m>
                <a:r>
                  <a:rPr/>
                  <a:t>, everything in the polder is lost.</a:t>
                </a:r>
              </a:p>
              <a:p>
                <a:pPr lvl="0" indent="0" marL="0">
                  <a:buNone/>
                </a:pPr>
                <a14:m>
                  <m:oMathPara xmlns:m="http://schemas.openxmlformats.org/officeDocument/2006/math">
                    <m:oMathParaPr>
                      <m:jc m:val="center"/>
                    </m:oMathParaPr>
                    <m:oMath>
                      <m:r>
                        <m:t>S</m:t>
                      </m:r>
                      <m:r>
                        <m:rPr>
                          <m:sty m:val="p"/>
                        </m:rPr>
                        <m:t>=</m:t>
                      </m:r>
                      <m:d>
                        <m:dPr>
                          <m:begChr m:val="{"/>
                          <m:sepChr m:val=""/>
                          <m:endChr m:val=""/>
                          <m:grow/>
                        </m:dPr>
                        <m:e>
                          <m:m>
                            <m:mPr>
                              <m:baseJc m:val="center"/>
                              <m:plcHide m:val="on"/>
                              <m:mcs>
                                <m:mc>
                                  <m:mcPr>
                                    <m:mcJc m:val="left"/>
                                    <m:count m:val="1"/>
                                  </m:mcPr>
                                </m:mc>
                                <m:mc>
                                  <m:mcPr>
                                    <m:mcJc m:val="left"/>
                                    <m:count m:val="1"/>
                                  </m:mcPr>
                                </m:mc>
                              </m:mcs>
                            </m:mPr>
                            <m:mr>
                              <m:e>
                                <m:r>
                                  <m:t>0</m:t>
                                </m:r>
                              </m:e>
                              <m:e>
                                <m:r>
                                  <m:rPr>
                                    <m:nor/>
                                    <m:sty m:val="p"/>
                                  </m:rPr>
                                  <m:t>if </m:t>
                                </m:r>
                                <m:r>
                                  <m:t>h</m:t>
                                </m:r>
                                <m:r>
                                  <m:rPr>
                                    <m:sty m:val="p"/>
                                  </m:rPr>
                                  <m:t>≤</m:t>
                                </m:r>
                                <m:r>
                                  <m:t>H</m:t>
                                </m:r>
                              </m:e>
                            </m:mr>
                            <m:mr>
                              <m:e>
                                <m:r>
                                  <m:t>V</m:t>
                                </m:r>
                              </m:e>
                              <m:e>
                                <m:r>
                                  <m:rPr>
                                    <m:nor/>
                                    <m:sty m:val="p"/>
                                  </m:rPr>
                                  <m:t>if </m:t>
                                </m:r>
                                <m:r>
                                  <m:t>h</m:t>
                                </m:r>
                                <m:r>
                                  <m:rPr>
                                    <m:sty m:val="p"/>
                                  </m:rPr>
                                  <m:t>&gt;</m:t>
                                </m:r>
                                <m:r>
                                  <m:t>H</m:t>
                                </m:r>
                              </m:e>
                            </m:mr>
                          </m:m>
                        </m:e>
                      </m:d>
                    </m:oMath>
                  </m:oMathPara>
                </a14:m>
              </a:p>
              <a:p>
                <a:pPr lvl="0" indent="0" marL="0">
                  <a:buNone/>
                </a:pPr>
                <a:r>
                  <a:rPr/>
                  <a:t>where </a:t>
                </a:r>
                <a14:m>
                  <m:oMath xmlns:m="http://schemas.openxmlformats.org/officeDocument/2006/math">
                    <m:r>
                      <m:t>V</m:t>
                    </m:r>
                  </m:oMath>
                </a14:m>
                <a:r>
                  <a:rPr/>
                  <a:t> is the total value of all goods, buildings, farms, cattle, and industry in the polder.</a:t>
                </a:r>
              </a:p>
              <a:p>
                <a:pPr lvl="0" indent="0" marL="0">
                  <a:spcBef>
                    <a:spcPts val="3000"/>
                  </a:spcBef>
                  <a:buNone/>
                </a:pPr>
                <a:r>
                  <a:rPr b="1"/>
                  <a:t>Building the Cost Function</a:t>
                </a:r>
              </a:p>
              <a:p>
                <a:pPr lvl="0" indent="0" marL="0">
                  <a:buNone/>
                </a:pPr>
                <a:r>
                  <a:rPr b="1"/>
                  <a:t>Construction cost</a:t>
                </a:r>
                <a:r>
                  <a:rPr/>
                  <a:t> (linear approximation):</a:t>
                </a:r>
              </a:p>
              <a:p>
                <a:pPr lvl="0" indent="0" marL="0">
                  <a:buNone/>
                </a:pPr>
                <a14:m>
                  <m:oMathPara xmlns:m="http://schemas.openxmlformats.org/officeDocument/2006/math">
                    <m:oMathParaPr>
                      <m:jc m:val="center"/>
                    </m:oMathParaPr>
                    <m:oMath>
                      <m:r>
                        <m:t>I</m:t>
                      </m:r>
                      <m:r>
                        <m:rPr>
                          <m:sty m:val="p"/>
                        </m:rPr>
                        <m:t>(</m:t>
                      </m:r>
                      <m:r>
                        <m:t>X</m:t>
                      </m:r>
                      <m:r>
                        <m:rPr>
                          <m:sty m:val="p"/>
                        </m:rPr>
                        <m:t>)</m:t>
                      </m:r>
                      <m:r>
                        <m:rPr>
                          <m:sty m:val="p"/>
                        </m:rPr>
                        <m:t>=</m:t>
                      </m:r>
                      <m:sSub>
                        <m:e>
                          <m:r>
                            <m:t>I</m:t>
                          </m:r>
                        </m:e>
                        <m:sub>
                          <m:r>
                            <m:t>0</m:t>
                          </m:r>
                        </m:sub>
                      </m:sSub>
                      <m:r>
                        <m:rPr>
                          <m:sty m:val="p"/>
                        </m:rPr>
                        <m:t>+</m:t>
                      </m:r>
                      <m:r>
                        <m:t>k</m:t>
                      </m:r>
                      <m:r>
                        <m:t>X</m:t>
                      </m:r>
                    </m:oMath>
                  </m:oMathPara>
                </a14:m>
              </a:p>
              <a:p>
                <a:pPr lvl="0" indent="0" marL="0">
                  <a:buNone/>
                </a:pPr>
                <a:r>
                  <a:rPr b="1"/>
                  <a:t>Expected annual flood loss</a:t>
                </a:r>
                <a:r>
                  <a:rPr/>
                  <a:t> (probability </a:t>
                </a:r>
                <a14:m>
                  <m:oMath xmlns:m="http://schemas.openxmlformats.org/officeDocument/2006/math">
                    <m:r>
                      <m:rPr>
                        <m:sty m:val="p"/>
                      </m:rPr>
                      <m:t>×</m:t>
                    </m:r>
                  </m:oMath>
                </a14:m>
                <a:r>
                  <a:rPr/>
                  <a:t> total value at risk):</a:t>
                </a:r>
              </a:p>
              <a:p>
                <a:pPr lvl="0" indent="0" marL="0">
                  <a:buNone/>
                </a:pPr>
                <a14:m>
                  <m:oMathPara xmlns:m="http://schemas.openxmlformats.org/officeDocument/2006/math">
                    <m:oMathParaPr>
                      <m:jc m:val="center"/>
                    </m:oMathParaPr>
                    <m:oMath>
                      <m:sSub>
                        <m:e>
                          <m:r>
                            <m:t>p</m:t>
                          </m:r>
                        </m:e>
                        <m:sub>
                          <m:r>
                            <m:t>0</m:t>
                          </m:r>
                        </m:sub>
                      </m:sSub>
                      <m:r>
                        <m:rPr>
                          <m:sty m:val="p"/>
                        </m:rPr>
                        <m:t>⋅</m:t>
                      </m:r>
                      <m:r>
                        <m:t>V</m:t>
                      </m:r>
                      <m:r>
                        <m:rPr>
                          <m:sty m:val="p"/>
                        </m:rPr>
                        <m:t>⋅</m:t>
                      </m:r>
                      <m:sSup>
                        <m:e>
                          <m:r>
                            <m:t>e</m:t>
                          </m:r>
                        </m:e>
                        <m:sup>
                          <m:r>
                            <m:rPr>
                              <m:sty m:val="p"/>
                            </m:rPr>
                            <m:t>−</m:t>
                          </m:r>
                          <m:r>
                            <m:t>α</m:t>
                          </m:r>
                          <m:r>
                            <m:t>X</m:t>
                          </m:r>
                        </m:sup>
                      </m:sSup>
                    </m:oMath>
                  </m:oMathPara>
                </a14:m>
              </a:p>
              <a:p>
                <a:pPr lvl="0" indent="0" marL="0">
                  <a:buNone/>
                </a:pPr>
                <a:r>
                  <a:rPr b="1"/>
                  <a:t>Present value</a:t>
                </a:r>
                <a:r>
                  <a:rPr/>
                  <a:t> of ALL future expected losses (discounting!):</a:t>
                </a:r>
              </a:p>
              <a:p>
                <a:pPr lvl="0" indent="0" marL="0">
                  <a:buNone/>
                </a:pPr>
                <a14:m>
                  <m:oMathPara xmlns:m="http://schemas.openxmlformats.org/officeDocument/2006/math">
                    <m:oMathParaPr>
                      <m:jc m:val="center"/>
                    </m:oMathParaPr>
                    <m:oMath>
                      <m:r>
                        <m:t>L</m:t>
                      </m:r>
                      <m:r>
                        <m:rPr>
                          <m:sty m:val="p"/>
                        </m:rPr>
                        <m:t>(</m:t>
                      </m:r>
                      <m:r>
                        <m:t>X</m:t>
                      </m:r>
                      <m:r>
                        <m:rPr>
                          <m:sty m:val="p"/>
                        </m:rPr>
                        <m:t>)</m:t>
                      </m:r>
                      <m:r>
                        <m:rPr>
                          <m:sty m:val="p"/>
                        </m:rPr>
                        <m:t>=</m:t>
                      </m:r>
                      <m:f>
                        <m:fPr>
                          <m:type m:val="bar"/>
                        </m:fPr>
                        <m:num>
                          <m:r>
                            <m:t>100</m:t>
                          </m:r>
                          <m:r>
                            <m:t> </m:t>
                          </m:r>
                          <m:sSub>
                            <m:e>
                              <m:r>
                                <m:t>p</m:t>
                              </m:r>
                            </m:e>
                            <m:sub>
                              <m:r>
                                <m:t>0</m:t>
                              </m:r>
                            </m:sub>
                          </m:sSub>
                          <m:r>
                            <m:t> </m:t>
                          </m:r>
                          <m:r>
                            <m:t>V</m:t>
                          </m:r>
                          <m:r>
                            <m:t> </m:t>
                          </m:r>
                          <m:sSup>
                            <m:e>
                              <m:r>
                                <m:t>e</m:t>
                              </m:r>
                            </m:e>
                            <m:sup>
                              <m:r>
                                <m:rPr>
                                  <m:sty m:val="p"/>
                                </m:rPr>
                                <m:t>−</m:t>
                              </m:r>
                              <m:r>
                                <m:t>α</m:t>
                              </m:r>
                              <m:r>
                                <m:t>X</m:t>
                              </m:r>
                            </m:sup>
                          </m:sSup>
                        </m:num>
                        <m:den>
                          <m:r>
                            <m:t>δ</m:t>
                          </m:r>
                        </m:den>
                      </m:f>
                    </m:oMath>
                  </m:oMathPara>
                </a14:m>
              </a:p>
              <a:p>
                <a:pPr lvl="0" indent="0" marL="0">
                  <a:buNone/>
                </a:pPr>
                <a:r>
                  <a:rPr/>
                  <a:t>where </a:t>
                </a:r>
                <a14:m>
                  <m:oMath xmlns:m="http://schemas.openxmlformats.org/officeDocument/2006/math">
                    <m:r>
                      <m:t>δ</m:t>
                    </m:r>
                  </m:oMath>
                </a14:m>
                <a:r>
                  <a:rPr/>
                  <a:t> is the interest rate (in percent) — this is NPV, just like Week 5.</a:t>
                </a:r>
              </a:p>
              <a:p>
                <a:pPr lvl="0" indent="0" marL="0">
                  <a:spcBef>
                    <a:spcPts val="3000"/>
                  </a:spcBef>
                  <a:buNone/>
                </a:pPr>
                <a:r>
                  <a:rPr b="1"/>
                  <a:t>The U-Shaped Total Cost</a:t>
                </a:r>
              </a:p>
              <a:p>
                <a:pPr lvl="0" indent="0" marL="0">
                  <a:buNone/>
                </a:pPr>
                <a14:m>
                  <m:oMathPara xmlns:m="http://schemas.openxmlformats.org/officeDocument/2006/math">
                    <m:oMathParaPr>
                      <m:jc m:val="center"/>
                    </m:oMathParaPr>
                    <m:oMath>
                      <m:r>
                        <m:rPr>
                          <m:nor/>
                          <m:sty m:val="p"/>
                        </m:rPr>
                        <m:t>Total</m:t>
                      </m:r>
                      <m:r>
                        <m:rPr>
                          <m:sty m:val="p"/>
                        </m:rPr>
                        <m:t>(</m:t>
                      </m:r>
                      <m:r>
                        <m:t>X</m:t>
                      </m:r>
                      <m:r>
                        <m:rPr>
                          <m:sty m:val="p"/>
                        </m:rPr>
                        <m:t>)</m:t>
                      </m:r>
                      <m:r>
                        <m:rPr>
                          <m:sty m:val="p"/>
                        </m:rPr>
                        <m:t>=</m:t>
                      </m:r>
                      <m:limLow>
                        <m:e>
                          <m:limLow>
                            <m:e>
                              <m:sSub>
                                <m:e>
                                  <m:r>
                                    <m:t>I</m:t>
                                  </m:r>
                                </m:e>
                                <m:sub>
                                  <m:r>
                                    <m:t>0</m:t>
                                  </m:r>
                                </m:sub>
                              </m:sSub>
                              <m:r>
                                <m:rPr>
                                  <m:sty m:val="p"/>
                                </m:rPr>
                                <m:t>+</m:t>
                              </m:r>
                              <m:r>
                                <m:t>k</m:t>
                              </m:r>
                              <m:r>
                                <m:t>X</m:t>
                              </m:r>
                            </m:e>
                            <m:lim>
                              <m:r>
                                <m:rPr>
                                  <m:sty m:val="p"/>
                                </m:rPr>
                                <m:t>⏟</m:t>
                              </m:r>
                            </m:lim>
                          </m:limLow>
                        </m:e>
                        <m:lim>
                          <m:r>
                            <m:rPr>
                              <m:nor/>
                              <m:sty m:val="p"/>
                            </m:rPr>
                            <m:t>construction</m:t>
                          </m:r>
                        </m:lim>
                      </m:limLow>
                      <m:r>
                        <m:rPr>
                          <m:sty m:val="p"/>
                        </m:rPr>
                        <m:t>+</m:t>
                      </m:r>
                      <m:limLow>
                        <m:e>
                          <m:limLow>
                            <m:e>
                              <m:f>
                                <m:fPr>
                                  <m:type m:val="bar"/>
                                </m:fPr>
                                <m:num>
                                  <m:r>
                                    <m:t>100</m:t>
                                  </m:r>
                                  <m:r>
                                    <m:t> </m:t>
                                  </m:r>
                                  <m:sSub>
                                    <m:e>
                                      <m:r>
                                        <m:t>p</m:t>
                                      </m:r>
                                    </m:e>
                                    <m:sub>
                                      <m:r>
                                        <m:t>0</m:t>
                                      </m:r>
                                    </m:sub>
                                  </m:sSub>
                                  <m:r>
                                    <m:t> </m:t>
                                  </m:r>
                                  <m:r>
                                    <m:t>V</m:t>
                                  </m:r>
                                  <m:r>
                                    <m:t> </m:t>
                                  </m:r>
                                  <m:sSup>
                                    <m:e>
                                      <m:r>
                                        <m:t>e</m:t>
                                      </m:r>
                                    </m:e>
                                    <m:sup>
                                      <m:r>
                                        <m:rPr>
                                          <m:sty m:val="p"/>
                                        </m:rPr>
                                        <m:t>−</m:t>
                                      </m:r>
                                      <m:r>
                                        <m:t>α</m:t>
                                      </m:r>
                                      <m:r>
                                        <m:t>X</m:t>
                                      </m:r>
                                    </m:sup>
                                  </m:sSup>
                                </m:num>
                                <m:den>
                                  <m:r>
                                    <m:t>δ</m:t>
                                  </m:r>
                                </m:den>
                              </m:f>
                            </m:e>
                            <m:lim>
                              <m:r>
                                <m:rPr>
                                  <m:sty m:val="p"/>
                                </m:rPr>
                                <m:t>⏟</m:t>
                              </m:r>
                            </m:lim>
                          </m:limLow>
                        </m:e>
                        <m:lim>
                          <m:r>
                            <m:rPr>
                              <m:nor/>
                              <m:sty m:val="p"/>
                            </m:rPr>
                            <m:t>expected losses (NPV)</m:t>
                          </m:r>
                        </m:lim>
                      </m:limLow>
                    </m:oMath>
                  </m:oMathPara>
                </a14:m>
              </a:p>
            </p:txBody>
          </p:sp>
        </mc:Choice>
      </mc:AlternateContent>
      <p:pic>
        <p:nvPicPr>
          <p:cNvPr descr="index_files/figure-pptx/fig-u-shaped-output-1.png" id="0" name="Picture 1"/>
          <p:cNvPicPr>
            <a:picLocks noGrp="1" noChangeAspect="1"/>
          </p:cNvPicPr>
          <p:nvPr/>
        </p:nvPicPr>
        <p:blipFill>
          <a:blip r:embed="rId3"/>
          <a:stretch>
            <a:fillRect/>
          </a:stretch>
        </p:blipFill>
        <p:spPr bwMode="auto">
          <a:xfrm>
            <a:off x="3568700" y="495300"/>
            <a:ext cx="5105400" cy="3276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2: The classic trade-off: construction costs rise with dike height, expected losses fall. The optimum balances them. How would the optimum shift if the curves changed shape?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Analytical Solution</a:t>
                </a:r>
              </a:p>
              <a:p>
                <a:pPr lvl="0" indent="0" marL="0">
                  <a:buNone/>
                </a:pPr>
                <a:r>
                  <a:rPr/>
                  <a:t>Take the derivative, set equal to zero:</a:t>
                </a:r>
              </a:p>
              <a:p>
                <a:pPr lvl="0" indent="0" marL="0">
                  <a:buNone/>
                </a:pPr>
                <a14:m>
                  <m:oMathPara xmlns:m="http://schemas.openxmlformats.org/officeDocument/2006/math">
                    <m:oMathParaPr>
                      <m:jc m:val="center"/>
                    </m:oMathParaPr>
                    <m:oMath>
                      <m:sSup>
                        <m:e>
                          <m:r>
                            <m:t>X</m:t>
                          </m:r>
                        </m:e>
                        <m:sup>
                          <m:r>
                            <m:rPr>
                              <m:sty m:val="p"/>
                            </m:rPr>
                            <m:t>*</m:t>
                          </m:r>
                        </m:sup>
                      </m:sSup>
                      <m:r>
                        <m:rPr>
                          <m:sty m:val="p"/>
                        </m:rPr>
                        <m:t>=</m:t>
                      </m:r>
                      <m:f>
                        <m:fPr>
                          <m:type m:val="bar"/>
                        </m:fPr>
                        <m:num>
                          <m:r>
                            <m:t>1</m:t>
                          </m:r>
                        </m:num>
                        <m:den>
                          <m:r>
                            <m:t>α</m:t>
                          </m:r>
                        </m:den>
                      </m:f>
                      <m:r>
                        <m:rPr>
                          <m:sty m:val="p"/>
                        </m:rPr>
                        <m:t>ln</m:t>
                      </m:r>
                      <m:r>
                        <m:t>​</m:t>
                      </m:r>
                      <m:d>
                        <m:dPr>
                          <m:begChr m:val="("/>
                          <m:sepChr m:val=""/>
                          <m:endChr m:val=")"/>
                          <m:grow/>
                        </m:dPr>
                        <m:e>
                          <m:f>
                            <m:fPr>
                              <m:type m:val="bar"/>
                            </m:fPr>
                            <m:num>
                              <m:r>
                                <m:t>100</m:t>
                              </m:r>
                              <m:r>
                                <m:t> </m:t>
                              </m:r>
                              <m:sSub>
                                <m:e>
                                  <m:r>
                                    <m:t>p</m:t>
                                  </m:r>
                                </m:e>
                                <m:sub>
                                  <m:r>
                                    <m:t>0</m:t>
                                  </m:r>
                                </m:sub>
                              </m:sSub>
                              <m:r>
                                <m:t> </m:t>
                              </m:r>
                              <m:r>
                                <m:t>V</m:t>
                              </m:r>
                              <m:r>
                                <m:t> </m:t>
                              </m:r>
                              <m:r>
                                <m:t>α</m:t>
                              </m:r>
                            </m:num>
                            <m:den>
                              <m:r>
                                <m:t>δ</m:t>
                              </m:r>
                              <m:r>
                                <m:t> </m:t>
                              </m:r>
                              <m:r>
                                <m:t>k</m:t>
                              </m:r>
                            </m:den>
                          </m:f>
                        </m:e>
                      </m:d>
                    </m:oMath>
                  </m:oMathPara>
                </a14:m>
              </a:p>
              <a:p>
                <a:pPr lvl="0" indent="0" marL="0">
                  <a:buNone/>
                </a:pPr>
                <a:r>
                  <a:rPr/>
                  <a:t>Interpretation:</a:t>
                </a:r>
              </a:p>
              <a:p>
                <a:pPr lvl="0"/>
                <a:r>
                  <a:rPr/>
                  <a:t>Optimal height </a:t>
                </a:r>
                <a:r>
                  <a:rPr b="1"/>
                  <a:t>increases</a:t>
                </a:r>
                <a:r>
                  <a:rPr/>
                  <a:t> when value </a:t>
                </a:r>
                <a14:m>
                  <m:oMath xmlns:m="http://schemas.openxmlformats.org/officeDocument/2006/math">
                    <m:r>
                      <m:t>V</m:t>
                    </m:r>
                  </m:oMath>
                </a14:m>
                <a:r>
                  <a:rPr/>
                  <a:t> is high</a:t>
                </a:r>
              </a:p>
              <a:p>
                <a:pPr lvl="0"/>
                <a:r>
                  <a:rPr/>
                  <a:t>Optimal height </a:t>
                </a:r>
                <a:r>
                  <a:rPr b="1"/>
                  <a:t>increases</a:t>
                </a:r>
                <a:r>
                  <a:rPr/>
                  <a:t> when flood probability </a:t>
                </a:r>
                <a14:m>
                  <m:oMath xmlns:m="http://schemas.openxmlformats.org/officeDocument/2006/math">
                    <m:sSub>
                      <m:e>
                        <m:r>
                          <m:t>p</m:t>
                        </m:r>
                      </m:e>
                      <m:sub>
                        <m:r>
                          <m:t>0</m:t>
                        </m:r>
                      </m:sub>
                    </m:sSub>
                  </m:oMath>
                </a14:m>
                <a:r>
                  <a:rPr/>
                  <a:t> is high</a:t>
                </a:r>
              </a:p>
              <a:p>
                <a:pPr lvl="0"/>
                <a:r>
                  <a:rPr/>
                  <a:t>Optimal height </a:t>
                </a:r>
                <a:r>
                  <a:rPr b="1"/>
                  <a:t>decreases</a:t>
                </a:r>
                <a:r>
                  <a:rPr/>
                  <a:t> when discount rate </a:t>
                </a:r>
                <a14:m>
                  <m:oMath xmlns:m="http://schemas.openxmlformats.org/officeDocument/2006/math">
                    <m:r>
                      <m:t>δ</m:t>
                    </m:r>
                  </m:oMath>
                </a14:m>
                <a:r>
                  <a:rPr/>
                  <a:t> is high</a:t>
                </a:r>
              </a:p>
              <a:p>
                <a:pPr lvl="0"/>
                <a:r>
                  <a:rPr/>
                  <a:t>Optimal height </a:t>
                </a:r>
                <a:r>
                  <a:rPr b="1"/>
                  <a:t>decreases</a:t>
                </a:r>
                <a:r>
                  <a:rPr/>
                  <a:t> when construction cost </a:t>
                </a:r>
                <a14:m>
                  <m:oMath xmlns:m="http://schemas.openxmlformats.org/officeDocument/2006/math">
                    <m:r>
                      <m:t>k</m:t>
                    </m:r>
                  </m:oMath>
                </a14:m>
                <a:r>
                  <a:rPr/>
                  <a:t> is high</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Realism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Netherlands is Changing</a:t>
                </a:r>
              </a:p>
              <a:p>
                <a:pPr lvl="0" indent="0" marL="0">
                  <a:buNone/>
                </a:pPr>
                <a:r>
                  <a:rPr/>
                  <a:t>Two slow processes push the optimal dike height higher:</a:t>
                </a:r>
              </a:p>
              <a:p>
                <a:pPr lvl="0" indent="0" marL="0">
                  <a:buNone/>
                </a:pPr>
                <a:r>
                  <a:rPr b="1"/>
                  <a:t>Wealth growth:</a:t>
                </a:r>
                <a:r>
                  <a:rPr/>
                  <a:t> the economy grows at rate </a:t>
                </a:r>
                <a14:m>
                  <m:oMath xmlns:m="http://schemas.openxmlformats.org/officeDocument/2006/math">
                    <m:r>
                      <m:t>γ</m:t>
                    </m:r>
                  </m:oMath>
                </a14:m>
                <a:r>
                  <a:rPr/>
                  <a:t> (estimated 1.5–2.5% per year), so </a:t>
                </a:r>
                <a14:m>
                  <m:oMath xmlns:m="http://schemas.openxmlformats.org/officeDocument/2006/math">
                    <m:r>
                      <m:t>V</m:t>
                    </m:r>
                  </m:oMath>
                </a14:m>
                <a:r>
                  <a:rPr/>
                  <a:t> increases over time.</a:t>
                </a:r>
              </a:p>
              <a:p>
                <a:pPr lvl="0" indent="0" marL="0">
                  <a:buNone/>
                </a:pPr>
                <a:r>
                  <a:rPr b="1"/>
                  <a:t>Land subsidence:</a:t>
                </a:r>
                <a:r>
                  <a:rPr/>
                  <a:t> the Netherlands has been sinking for 9,000 years at rate </a:t>
                </a:r>
                <a14:m>
                  <m:oMath xmlns:m="http://schemas.openxmlformats.org/officeDocument/2006/math">
                    <m:r>
                      <m:t>ν</m:t>
                    </m:r>
                  </m:oMath>
                </a14:m>
                <a:r>
                  <a:rPr/>
                  <a:t> (~0.7 m/century), so effective dike height decreases.</a:t>
                </a:r>
              </a:p>
              <a:p>
                <a:pPr lvl="0" indent="0" marL="0">
                  <a:buNone/>
                </a:pPr>
                <a:r>
                  <a:rPr/>
                  <a:t>Both compound over centuries-long planning horizons.</a:t>
                </a:r>
              </a:p>
              <a:p>
                <a:pPr lvl="0" indent="0" marL="0">
                  <a:spcBef>
                    <a:spcPts val="3000"/>
                  </a:spcBef>
                  <a:buNone/>
                </a:pPr>
                <a:r>
                  <a:rPr b="1"/>
                  <a:t>The Reduced Interest Rate</a:t>
                </a:r>
              </a:p>
              <a:p>
                <a:pPr lvl="0" indent="0" marL="0">
                  <a:buNone/>
                </a:pPr>
                <a:r>
                  <a:rPr/>
                  <a:t>With wealth growth, the effective discount rate becomes:</a:t>
                </a:r>
              </a:p>
              <a:p>
                <a:pPr lvl="0" indent="0" marL="0">
                  <a:buNone/>
                </a:pPr>
                <a14:m>
                  <m:oMathPara xmlns:m="http://schemas.openxmlformats.org/officeDocument/2006/math">
                    <m:oMathParaPr>
                      <m:jc m:val="center"/>
                    </m:oMathParaPr>
                    <m:oMath>
                      <m:sSup>
                        <m:e>
                          <m:r>
                            <m:t>δ</m:t>
                          </m:r>
                        </m:e>
                        <m:sup>
                          <m:r>
                            <m:rPr>
                              <m:sty m:val="p"/>
                            </m:rPr>
                            <m:t>′</m:t>
                          </m:r>
                        </m:sup>
                      </m:sSup>
                      <m:r>
                        <m:rPr>
                          <m:sty m:val="p"/>
                        </m:rPr>
                        <m:t>=</m:t>
                      </m:r>
                      <m:r>
                        <m:t>δ</m:t>
                      </m:r>
                      <m:r>
                        <m:rPr>
                          <m:sty m:val="p"/>
                        </m:rPr>
                        <m:t>−</m:t>
                      </m:r>
                      <m:r>
                        <m:t>γ</m:t>
                      </m:r>
                    </m:oMath>
                  </m:oMathPara>
                </a14:m>
              </a:p>
              <a:p>
                <a:pPr lvl="0" indent="0" marL="0">
                  <a:buNone/>
                </a:pPr>
                <a:r>
                  <a:rPr/>
                  <a:t>van Dantzig estimates </a:t>
                </a:r>
                <a14:m>
                  <m:oMath xmlns:m="http://schemas.openxmlformats.org/officeDocument/2006/math">
                    <m:r>
                      <m:t>δ</m:t>
                    </m:r>
                    <m:r>
                      <m:rPr>
                        <m:sty m:val="p"/>
                      </m:rPr>
                      <m:t>≈</m:t>
                    </m:r>
                    <m:r>
                      <m:t>3.5</m:t>
                    </m:r>
                    <m:r>
                      <m:rPr>
                        <m:nor/>
                        <m:sty m:val="p"/>
                      </m:rPr>
                      <m:t>–</m:t>
                    </m:r>
                    <m:r>
                      <m:t>4.5</m:t>
                    </m:r>
                    <m:r>
                      <m:rPr>
                        <m:sty m:val="p"/>
                      </m:rPr>
                      <m:t>%</m:t>
                    </m:r>
                  </m:oMath>
                </a14:m>
                <a:r>
                  <a:rPr/>
                  <a:t> and </a:t>
                </a:r>
                <a14:m>
                  <m:oMath xmlns:m="http://schemas.openxmlformats.org/officeDocument/2006/math">
                    <m:r>
                      <m:t>γ</m:t>
                    </m:r>
                    <m:r>
                      <m:rPr>
                        <m:sty m:val="p"/>
                      </m:rPr>
                      <m:t>≈</m:t>
                    </m:r>
                    <m:r>
                      <m:t>1.5</m:t>
                    </m:r>
                    <m:r>
                      <m:rPr>
                        <m:nor/>
                        <m:sty m:val="p"/>
                      </m:rPr>
                      <m:t>–</m:t>
                    </m:r>
                    <m:r>
                      <m:t>2.5</m:t>
                    </m:r>
                    <m:r>
                      <m:rPr>
                        <m:sty m:val="p"/>
                      </m:rPr>
                      <m:t>%</m:t>
                    </m:r>
                  </m:oMath>
                </a14:m>
                <a:r>
                  <a:rPr/>
                  <a:t>, giving </a:t>
                </a:r>
                <a14:m>
                  <m:oMath xmlns:m="http://schemas.openxmlformats.org/officeDocument/2006/math">
                    <m:sSup>
                      <m:e>
                        <m:r>
                          <m:t>δ</m:t>
                        </m:r>
                      </m:e>
                      <m:sup>
                        <m:r>
                          <m:rPr>
                            <m:sty m:val="p"/>
                          </m:rPr>
                          <m:t>′</m:t>
                        </m:r>
                      </m:sup>
                    </m:sSup>
                    <m:r>
                      <m:rPr>
                        <m:sty m:val="p"/>
                      </m:rPr>
                      <m:t>≈</m:t>
                    </m:r>
                    <m:r>
                      <m:t>1</m:t>
                    </m:r>
                    <m:r>
                      <m:rPr>
                        <m:nor/>
                        <m:sty m:val="p"/>
                      </m:rPr>
                      <m:t>–</m:t>
                    </m:r>
                    <m:r>
                      <m:t>3</m:t>
                    </m:r>
                    <m:r>
                      <m:rPr>
                        <m:sty m:val="p"/>
                      </m:rPr>
                      <m:t>%</m:t>
                    </m:r>
                  </m:oMath>
                </a14:m>
                <a:r>
                  <a:rPr/>
                  <a:t>.</a:t>
                </a:r>
              </a:p>
              <a:p>
                <a:pPr lvl="0" indent="0" marL="0">
                  <a:buNone/>
                </a:pPr>
                <a:r>
                  <a:rPr/>
                  <a:t>A smaller effective discount rate means future losses matter more — and the optimal dike gets taller.</a:t>
                </a:r>
              </a:p>
              <a:p>
                <a:pPr lvl="0" indent="0" marL="0">
                  <a:buNone/>
                </a:pPr>
                <a:r>
                  <a:rPr/>
                  <a:t>What happens if </a:t>
                </a:r>
                <a14:m>
                  <m:oMath xmlns:m="http://schemas.openxmlformats.org/officeDocument/2006/math">
                    <m:r>
                      <m:t>γ</m:t>
                    </m:r>
                    <m:r>
                      <m:rPr>
                        <m:sty m:val="p"/>
                      </m:rPr>
                      <m:t>≥</m:t>
                    </m:r>
                    <m:r>
                      <m:t>δ</m:t>
                    </m:r>
                  </m:oMath>
                </a14:m>
                <a:r>
                  <a:rPr/>
                  <a:t>?</a:t>
                </a:r>
              </a:p>
              <a:p>
                <a:pPr lvl="0" indent="0" marL="0">
                  <a:buNone/>
                </a:pPr>
                <a:r>
                  <a:rPr/>
                  <a:t>The present value of future losses </a:t>
                </a:r>
                <a:r>
                  <a:rPr b="1"/>
                  <a:t>diverges</a:t>
                </a:r>
                <a:r>
                  <a:rPr/>
                  <a:t> — there is no finite optimum.</a:t>
                </a:r>
              </a:p>
              <a:p>
                <a:pPr lvl="0" indent="0" marL="0">
                  <a:spcBef>
                    <a:spcPts val="3000"/>
                  </a:spcBef>
                  <a:buNone/>
                </a:pPr>
                <a:r>
                  <a:rPr b="1"/>
                  <a:t>“The Doubtful Constants”</a:t>
                </a:r>
              </a:p>
              <a:p>
                <a:pPr lvl="0" indent="0" marL="0">
                  <a:buNone/>
                </a:pPr>
                <a:r>
                  <a:rPr/>
                  <a:t>van Dantzig devotes a whole section to parameter uncertainty (Section 6).</a:t>
                </a:r>
              </a:p>
              <a:p>
                <a:pPr lvl="0" indent="0" marL="0">
                  <a:buNone/>
                </a:pPr>
                <a:r>
                  <a:rPr/>
                  <a:t>Most of his parameters are “rather badly known”:</a:t>
                </a:r>
              </a:p>
              <a:p>
                <a:pPr lvl="0"/>
                <a14:m>
                  <m:oMath xmlns:m="http://schemas.openxmlformats.org/officeDocument/2006/math">
                    <m:r>
                      <m:t>α</m:t>
                    </m:r>
                  </m:oMath>
                </a14:m>
                <a:r>
                  <a:rPr/>
                  <a:t> and </a:t>
                </a:r>
                <a14:m>
                  <m:oMath xmlns:m="http://schemas.openxmlformats.org/officeDocument/2006/math">
                    <m:sSub>
                      <m:e>
                        <m:r>
                          <m:t>p</m:t>
                        </m:r>
                      </m:e>
                      <m:sub>
                        <m:r>
                          <m:t>0</m:t>
                        </m:r>
                      </m:sub>
                    </m:sSub>
                  </m:oMath>
                </a14:m>
                <a:r>
                  <a:rPr/>
                  <a:t> — physical constants, improvable with better data</a:t>
                </a:r>
              </a:p>
              <a:p>
                <a:pPr lvl="0"/>
                <a14:m>
                  <m:oMath xmlns:m="http://schemas.openxmlformats.org/officeDocument/2006/math">
                    <m:sSub>
                      <m:e>
                        <m:r>
                          <m:t>I</m:t>
                        </m:r>
                      </m:e>
                      <m:sub>
                        <m:r>
                          <m:t>0</m:t>
                        </m:r>
                      </m:sub>
                    </m:sSub>
                  </m:oMath>
                </a14:m>
                <a:r>
                  <a:rPr/>
                  <a:t> and </a:t>
                </a:r>
                <a14:m>
                  <m:oMath xmlns:m="http://schemas.openxmlformats.org/officeDocument/2006/math">
                    <m:r>
                      <m:t>k</m:t>
                    </m:r>
                  </m:oMath>
                </a14:m>
                <a:r>
                  <a:rPr/>
                  <a:t> — engineering estimates</a:t>
                </a:r>
              </a:p>
              <a:p>
                <a:pPr lvl="0"/>
                <a14:m>
                  <m:oMath xmlns:m="http://schemas.openxmlformats.org/officeDocument/2006/math">
                    <m:r>
                      <m:t>V</m:t>
                    </m:r>
                  </m:oMath>
                </a14:m>
                <a:r>
                  <a:rPr/>
                  <a:t> — determinable from economic data (with difficulty)</a:t>
                </a:r>
              </a:p>
              <a:p>
                <a:pPr lvl="0"/>
                <a14:m>
                  <m:oMath xmlns:m="http://schemas.openxmlformats.org/officeDocument/2006/math">
                    <m:r>
                      <m:t>δ</m:t>
                    </m:r>
                  </m:oMath>
                </a14:m>
                <a:r>
                  <a:rPr/>
                  <a:t> and </a:t>
                </a:r>
                <a14:m>
                  <m:oMath xmlns:m="http://schemas.openxmlformats.org/officeDocument/2006/math">
                    <m:r>
                      <m:t>γ</m:t>
                    </m:r>
                  </m:oMath>
                </a14:m>
                <a:r>
                  <a:rPr/>
                  <a:t> — “secular” economic quantities, deeply uncertain over centuries</a:t>
                </a:r>
              </a:p>
              <a:p>
                <a:pPr lvl="0" indent="0" marL="0">
                  <a:buNone/>
                </a:pPr>
                <a:r>
                  <a:rPr/>
                  <a:t>Which of these can we learn? Which are fundamentally unknowable?</a:t>
                </a:r>
              </a:p>
              <a:p>
                <a:pPr lvl="0" indent="0" marL="0">
                  <a:buNone/>
                </a:pPr>
                <a:r>
                  <a:rPr/>
                  <a:t>We’ll return to this distinction when we study </a:t>
                </a:r>
                <a:r>
                  <a:rPr b="1"/>
                  <a:t>robustness</a:t>
                </a:r>
                <a:r>
                  <a:rPr/>
                  <a:t> later in the semester.</a:t>
                </a:r>
              </a:p>
              <a:p>
                <a:pPr lvl="0" indent="0" marL="0">
                  <a:spcBef>
                    <a:spcPts val="3000"/>
                  </a:spcBef>
                  <a:buNone/>
                </a:pPr>
                <a:r>
                  <a:rPr b="1"/>
                  <a:t>The “Safe Side” Approach</a:t>
                </a:r>
              </a:p>
              <a:p>
                <a:pPr lvl="0" indent="0" marL="0">
                  <a:buNone/>
                </a:pPr>
                <a:r>
                  <a:rPr/>
                  <a:t>van Dantzig’s solution to parameter uncertainty:</a:t>
                </a:r>
              </a:p>
              <a:p>
                <a:pPr lvl="0" indent="0" marL="1270000">
                  <a:buNone/>
                </a:pPr>
                <a:r>
                  <a:rPr sz="2000"/>
                  <a:t>“The best thing we can do is to ascertain that our solution will hold under the most unfavourable circumstances which must be considered to be realistic.”</a:t>
                </a:r>
              </a:p>
              <a:p>
                <a:pPr lvl="0" indent="0" marL="0">
                  <a:buNone/>
                </a:pPr>
                <a:r>
                  <a:rPr/>
                  <a:t>Take the highest reasonable </a:t>
                </a:r>
                <a14:m>
                  <m:oMath xmlns:m="http://schemas.openxmlformats.org/officeDocument/2006/math">
                    <m:sSub>
                      <m:e>
                        <m:r>
                          <m:t>p</m:t>
                        </m:r>
                      </m:e>
                      <m:sub>
                        <m:r>
                          <m:t>0</m:t>
                        </m:r>
                      </m:sub>
                    </m:sSub>
                  </m:oMath>
                </a14:m>
                <a:r>
                  <a:rPr/>
                  <a:t>, </a:t>
                </a:r>
                <a14:m>
                  <m:oMath xmlns:m="http://schemas.openxmlformats.org/officeDocument/2006/math">
                    <m:r>
                      <m:t>V</m:t>
                    </m:r>
                  </m:oMath>
                </a14:m>
                <a:r>
                  <a:rPr/>
                  <a:t>, </a:t>
                </a:r>
                <a14:m>
                  <m:oMath xmlns:m="http://schemas.openxmlformats.org/officeDocument/2006/math">
                    <m:r>
                      <m:t>η</m:t>
                    </m:r>
                  </m:oMath>
                </a14:m>
                <a:r>
                  <a:rPr/>
                  <a:t> and the lowest reasonable </a:t>
                </a:r>
                <a14:m>
                  <m:oMath xmlns:m="http://schemas.openxmlformats.org/officeDocument/2006/math">
                    <m:r>
                      <m:t>k</m:t>
                    </m:r>
                  </m:oMath>
                </a14:m>
                <a:r>
                  <a:rPr/>
                  <a:t>, </a:t>
                </a:r>
                <a14:m>
                  <m:oMath xmlns:m="http://schemas.openxmlformats.org/officeDocument/2006/math">
                    <m:sSup>
                      <m:e>
                        <m:r>
                          <m:t>δ</m:t>
                        </m:r>
                      </m:e>
                      <m:sup>
                        <m:r>
                          <m:rPr>
                            <m:sty m:val="p"/>
                          </m:rPr>
                          <m:t>′</m:t>
                        </m:r>
                      </m:sup>
                    </m:sSup>
                  </m:oMath>
                </a14:m>
                <a:r>
                  <a:rPr/>
                  <a:t>.</a:t>
                </a:r>
              </a:p>
              <a:p>
                <a:pPr lvl="0" indent="0" marL="0">
                  <a:buNone/>
                </a:pPr>
                <a:r>
                  <a:rPr/>
                  <a:t>This is a </a:t>
                </a:r>
                <a:r>
                  <a:rPr b="1"/>
                  <a:t>minimax</a:t>
                </a:r>
                <a:r>
                  <a:rPr/>
                  <a:t> strategy — minimize cost under the worst-case parameter values.</a:t>
                </a:r>
              </a:p>
              <a:p>
                <a:pPr lvl="0" indent="0" marL="0">
                  <a:buNone/>
                </a:pPr>
                <a:r>
                  <a:rPr/>
                  <a:t>The trade-off: minimax will </a:t>
                </a:r>
                <a:r>
                  <a:rPr b="1"/>
                  <a:t>overdesign</a:t>
                </a:r>
                <a:r>
                  <a:rPr/>
                  <a:t> relative to the expected case. Choosing to err on the side of safety is defensible — but overdesign has real costs.</a:t>
                </a:r>
              </a:p>
              <a:p>
                <a:pPr lvl="0" indent="0" marL="0">
                  <a:buNone/>
                </a:pPr>
                <a:r>
                  <a:rPr/>
                  <a:t>We’ll return to robustness more formally in Week 8.</a:t>
                </a:r>
              </a:p>
              <a:p>
                <a:pPr lvl="0" indent="0" marL="0">
                  <a:spcBef>
                    <a:spcPts val="3000"/>
                  </a:spcBef>
                  <a:buNone/>
                </a:pPr>
                <a:r>
                  <a:rPr b="1"/>
                  <a:t>The Numerical Result</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 paper considers additional parameters and processes (wealth growth, land subsidence, safe-side estimates) that shift both curves — pushing the optimum higher.</a:t>
            </a:r>
          </a:p>
          <a:p>
            <a:pPr lvl="0" indent="0" marL="0">
              <a:buNone/>
            </a:pPr>
            <a:r>
              <a:rPr/>
              <a:t>van Dantzig concludes that a dike height of roughly 6 meters “may be considered as a sufficiently safe height.”</a:t>
            </a:r>
          </a:p>
          <a:p>
            <a:pPr lvl="0" indent="0" marL="0">
              <a:buNone/>
            </a:pPr>
            <a:r>
              <a:rPr/>
              <a:t>This informed the Delta Commission’s decisions — and ultimately the Delta Works.</a:t>
            </a:r>
          </a:p>
        </p:txBody>
      </p:sp>
      <p:pic>
        <p:nvPicPr>
          <p:cNvPr descr="deltaworks-b.jpg" id="0" name="Picture 1"/>
          <p:cNvPicPr>
            <a:picLocks noGrp="1" noChangeAspect="1"/>
          </p:cNvPicPr>
          <p:nvPr/>
        </p:nvPicPr>
        <p:blipFill>
          <a:blip r:embed="rId3"/>
          <a:stretch>
            <a:fillRect/>
          </a:stretch>
        </p:blipFill>
        <p:spPr bwMode="auto">
          <a:xfrm>
            <a:off x="4914900" y="1193800"/>
            <a:ext cx="3492500" cy="28829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The Oosterscheldekering, part of the Delta Works. Source: </a:t>
            </a:r>
            <a:r>
              <a:rPr>
                <a:hlinkClick r:id="rId4"/>
              </a:rPr>
              <a:t>Wikimedia Commons</a:t>
            </a:r>
            <a:r>
              <a:rPr/>
              <a:t>, CC BY-SA 3.0.</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About Human Lives?</a:t>
            </a:r>
          </a:p>
          <a:p>
            <a:pPr lvl="0" indent="0" marL="0">
              <a:buNone/>
            </a:pPr>
            <a:r>
              <a:rPr/>
              <a:t>The 1953 flood killed 1,800 people. Material losses were 1.5–2 billion guilders. At ~100,000 guilders per life lost, the economic framing seems inadequate.</a:t>
            </a:r>
          </a:p>
          <a:p>
            <a:pPr lvl="0" indent="0" marL="0">
              <a:buNone/>
            </a:pPr>
            <a:r>
              <a:rPr/>
              <a:t>van Dantzig’s approach: look at what the state </a:t>
            </a:r>
            <a:r>
              <a:rPr i="1"/>
              <a:t>actually spends</a:t>
            </a:r>
            <a:r>
              <a:rPr/>
              <a:t> to save lives in other domains (railway safety, factory regulations) to derive an implicit value.</a:t>
            </a:r>
          </a:p>
          <a:p>
            <a:pPr lvl="0" indent="0" marL="1270000">
              <a:buNone/>
            </a:pPr>
            <a:r>
              <a:rPr sz="2000"/>
              <a:t>“It does not make sense to increase the dikes by an extra centimeter to account for the value of human lives.”</a:t>
            </a:r>
          </a:p>
          <a:p>
            <a:pPr lvl="0" indent="0" marL="0">
              <a:buNone/>
            </a:pPr>
            <a:r>
              <a:rPr/>
              <a:t>But the dikes should be higher than pure material-loss optimization suggests.</a:t>
            </a:r>
          </a:p>
        </p:txBody>
      </p:sp>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457201" y="204787" /><a:ext cx="3008313" cy="871538" /></a:xfrm></p:spPr><p:txBody><a:bodyPr /><a:lstStyle /><a:p><a:pPr lvl="0" indent="0" marL="0"><a:buNone /></a:pPr><a:r><a:rPr /><a:t>Optimization and Policy Search</a:t></a:r></a:p></p:txBody></p:sp><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buNone /></a:pPr><a:r><a:rPr /><a:t>van Dantzig used optimization to inform an engineering design decision. Let’s formalize the general framework.</a:t></a:r></a:p><a:p><a:pPr lvl="0" indent="0" marL="0"><a:spcBef><a:spcPts val="3000" /></a:spcBef><a:buNone /></a:pPr><a:r><a:rPr b="1" /><a:t>Optimization Fundamentals</a:t></a:r></a:p><a:p><a:pPr lvl="0" indent="0" marL="0"><a:buNone /></a:pPr><a:r><a:rPr /><a:t>Every optimization problem has the same mathematical structure:</a:t></a:r></a:p><a:p><a:pPr lvl="0" indent="0" marL="0"><a:buNone /></a:pPr><a14:m><m:oMathPara xmlns:m="http://schemas.openxmlformats.org/officeDocument/2006/math"><m:oMathParaPr><m:jc m:val="center" /></m:oMathParaPr><m:oMath><m:m><m:mPr><m:baseJc m:val="center" /><m:plcHide m:val="on" /><m:mcs><m:mc><m:mcPr><m:mcJc m:val="right" /><m:count m:val="1" /></m:mcPr></m:mc><m:mc><m:mcPr><m:mcJc m:val="left" /><m:count m:val="1" /></m:mcPr></m:mc><m:mc><m:mcPr><m:mcJc m:val="right" /><m:count m:val="1" /></m:mcPr></m:mc></m:mcs></m:mPr><m:mr><m:e><m:limLow><m:e><m:r><m:rPr><m:sty m:val="p" /></m:rPr><m:t>min</m:t></m:r></m:e><m:lim><m:r><m:rPr><m:sty m:val="b" /></m:rPr><m:t>x</m:t></m:r></m:lim></m:limLow><m:r><m:t> </m:t></m:r></m:e><m:e><m:r><m:t>f</m:t></m:r><m:r><m:rPr><m:sty m:val="p" /></m:rPr><m:t>(</m:t></m:r><m:r><m:rPr><m:sty m:val="b" /></m:rPr><m:t>x</m:t></m:r><m:r><m:rPr><m:sty m:val="p" /></m:rPr><m:t>)</m:t></m:r></m:e></m:mr><m:mr><m:e><m:r><m:rPr><m:nor /><m:sty m:val="p" /></m:rPr><m:t>subject to</m:t></m:r><m:r><m:t> </m:t></m:r></m:e><m:e><m:sSub><m:e><m:r><m:t>g</m:t></m:r></m:e><m:sub><m:r><m:t>j</m:t></m:r></m:sub></m:sSub><m:r><m:rPr><m:sty m:val="p" /></m:rPr><m:t>(</m:t></m:r><m:r><m:rPr><m:sty m:val="b" /></m:rPr><m:t>x</m:t></m:r><m:r><m:rPr><m:sty m:val="p" /></m:rPr><m:t>)</m:t></m:r><m:r><m:rPr><m:sty m:val="p" /></m:rPr><m:t>≤</m:t></m:r><m:r><m:t>0</m:t></m:r><m:r><m:rPr><m:sty m:val="p" /></m:rPr><m:t>,</m:t></m:r></m:e><m:e><m:r><m:t>j</m:t></m:r><m:r><m:rPr><m:sty m:val="p" /></m:rPr><m:t>=</m:t></m:r><m:r><m:t>1</m:t></m:r><m:r><m:rPr><m:sty m:val="p" /></m:rPr><m:t>,</m:t></m:r><m:r><m:rPr><m:sty m:val="p" /></m:rPr><m:t>…</m:t></m:r><m:r><m:rPr><m:sty m:val="p" /></m:rPr><m:t>,</m:t></m:r><m:r><m:t>J</m:t></m:r></m:e></m:mr><m:mr><m:e /><m:e><m:sSub><m:e><m:r><m:t>h</m:t></m:r></m:e><m:sub><m:r><m:t>k</m:t></m:r></m:sub></m:sSub><m:r><m:rPr><m:sty m:val="p" /></m:rPr><m:t>(</m:t></m:r><m:r><m:rPr><m:sty m:val="b" /></m:rPr><m:t>x</m:t></m:r><m:r><m:rPr><m:sty m:val="p" /></m:rPr><m:t>)</m:t></m:r><m:r><m:rPr><m:sty m:val="p" /></m:rPr><m:t>=</m:t></m:r><m:r><m:t>0</m:t></m:r><m:r><m:rPr><m:sty m:val="p" /></m:rPr><m:t>,</m:t></m:r></m:e><m:e><m:r><m:t>k</m:t></m:r><m:r><m:rPr><m:sty m:val="p" /></m:rPr><m:t>=</m:t></m:r><m:r><m:t>1</m:t></m:r><m:r><m:rPr><m:sty m:val="p" /></m:rPr><m:t>,</m:t></m:r><m:r><m:rPr><m:sty m:val="p" /></m:rPr><m:t>…</m:t></m:r><m:r><m:rPr><m:sty m:val="p" /></m:rPr><m:t>,</m:t></m:r><m:r><m:t>K</m:t></m:r></m:e></m:mr></m:m></m:oMath></m:oMathPara></a14:m></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Notation</a:t></a:r></a:p></a:txBody><a:tcPr /></a:tc><a:tc><a:txBody><a:bodyPr /><a:lstStyle /><a:p><a:pPr lvl="0" indent="0" marL="0" algn="l"><a:buNone /></a:pPr><a:r><a:rPr /><a:t>Meaning</a:t></a:r></a:p></a:txBody><a:tcPr /></a:tc><a:tc><a:txBody><a:bodyPr /><a:lstStyle /><a:p><a:pPr lvl="0" indent="0" marL="0" algn="l"><a:buNone /></a:pPr><a:r><a:rPr /><a:t>van Dantzig</a:t></a:r></a:p></a:txBody><a:tcPr /></a:tc></a:tr><a:tr h="0"><a:tc><a:txBody><a:bodyPr /><a:lstStyle /><a:p><a:pPr lvl="0" indent="0" marL="0" algn="l"><a:buNone /></a:pPr><a14:m><m:oMath xmlns:m="http://schemas.openxmlformats.org/officeDocument/2006/math"><m:r><m:rPr><m:sty m:val="b" /></m:rPr><m:t>x</m:t></m:r></m:oMath></a14:m></a:p></a:txBody></a:tc><a:tc><a:txBody><a:bodyPr /><a:lstStyle /><a:p><a:pPr lvl="0" indent="0" marL="0" algn="l"><a:buNone /></a:pPr><a:r><a:rPr /><a:t>Decision variables</a:t></a:r></a:p></a:txBody></a:tc><a:tc><a:txBody><a:bodyPr /><a:lstStyle /><a:p><a:pPr lvl="0" indent="0" marL="0" algn="l"><a:buNone /></a:pPr><a14:m><m:oMath xmlns:m="http://schemas.openxmlformats.org/officeDocument/2006/math"><m:r><m:t>X</m:t></m:r></m:oMath></a14:m><a:r><a:rPr /><a:t> = dike heightening</a:t></a:r></a:p></a:txBody></a:tc></a:tr><a:tr h="0"><a:tc><a:txBody><a:bodyPr /><a:lstStyle /><a:p><a:pPr lvl="0" indent="0" marL="0" algn="l"><a:buNone /></a:pPr><a14:m><m:oMath xmlns:m="http://schemas.openxmlformats.org/officeDocument/2006/math"><m:r><m:t>f</m:t></m:r><m:r><m:rPr><m:sty m:val="p" /></m:rPr><m:t>(</m:t></m:r><m:r><m:rPr><m:sty m:val="b" /></m:rPr><m:t>x</m:t></m:r><m:r><m:rPr><m:sty m:val="p" /></m:rPr><m:t>)</m:t></m:r></m:oMath></a14:m></a:p></a:txBody></a:tc><a:tc><a:txBody><a:bodyPr /><a:lstStyle /><a:p><a:pPr lvl="0" indent="0" marL="0" algn="l"><a:buNone /></a:pPr><a:r><a:rPr /><a:t>Objective function</a:t></a:r></a:p></a:txBody></a:tc><a:tc><a:txBody><a:bodyPr /><a:lstStyle /><a:p><a:pPr lvl="0" indent="0" marL="0" algn="l"><a:buNone /></a:pPr><a:r><a:rPr /><a:t>Total cost </a:t></a:r><a14:m><m:oMath xmlns:m="http://schemas.openxmlformats.org/officeDocument/2006/math"><m:r><m:t>I</m:t></m:r><m:r><m:rPr><m:sty m:val="p" /></m:rPr><m:t>(</m:t></m:r><m:r><m:t>X</m:t></m:r><m:r><m:rPr><m:sty m:val="p" /></m:rPr><m:t>)</m:t></m:r><m:r><m:rPr><m:sty m:val="p" /></m:rPr><m:t>+</m:t></m:r><m:r><m:t>L</m:t></m:r><m:r><m:rPr><m:sty m:val="p" /></m:rPr><m:t>(</m:t></m:r><m:r><m:t>X</m:t></m:r><m:r><m:rPr><m:sty m:val="p" /></m:rPr><m:t>)</m:t></m:r></m:oMath></a14:m></a:p></a:txBody></a:tc></a:tr><a:tr h="0"><a:tc><a:txBody><a:bodyPr /><a:lstStyle /><a:p><a:pPr lvl="0" indent="0" marL="0" algn="l"><a:buNone /></a:pPr><a14:m><m:oMath xmlns:m="http://schemas.openxmlformats.org/officeDocument/2006/math"><m:sSub><m:e><m:r><m:t>g</m:t></m:r></m:e><m:sub><m:r><m:t>j</m:t></m:r></m:sub></m:sSub><m:r><m:rPr><m:sty m:val="p" /></m:rPr><m:t>≤</m:t></m:r><m:r><m:t>0</m:t></m:r></m:oMath></a14:m></a:p></a:txBody></a:tc><a:tc><a:txBody><a:bodyPr /><a:lstStyle /><a:p><a:pPr lvl="0" indent="0" marL="0" algn="l"><a:buNone /></a:pPr><a:r><a:rPr /><a:t>Constraints</a:t></a:r></a:p></a:txBody></a:tc><a:tc><a:txBody><a:bodyPr /><a:lstStyle /><a:p><a:pPr lvl="0" indent="0" marL="0" algn="l"><a:buNone /></a:pPr><a14:m><m:oMath xmlns:m="http://schemas.openxmlformats.org/officeDocument/2006/math"><m:r><m:t>X</m:t></m:r><m:r><m:rPr><m:sty m:val="p" /></m:rPr><m:t>≥</m:t></m:r><m:r><m:t>0</m:t></m:r></m:oMath></a14:m></a:p></a:txBody></a:tc></a:tr></a:tbl></a:graphicData></a:graphic></p:graphicFrame></p:spTree></p:cSld></p:sld>
</file>

<file path=ppt/slides/slide16.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spcBef><a:spcPts val="3000" /></a:spcBef><a:buNone /></a:pPr><a:r><a:rPr b="1" /><a:t>Stochastic Optimization: How Uncertainty Enters</a:t></a:r></a:p><a:p><a:pPr lvl="0" indent="0" marL="0"><a:buNone /></a:pPr><a:r><a:rPr /><a:t>van Dantzig averaged over flood uncertainty analytically. More generally, when the objective or constraints depend on uncertain quantities </a:t></a:r><a14:m><m:oMath xmlns:m="http://schemas.openxmlformats.org/officeDocument/2006/math"><m:r><m:rPr><m:sty m:val="b" /></m:rPr><m:t>θ</m:t></m:r></m:oMath></a14:m><a:r><a:rPr /><a:t>:</a:t></a:r></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Approach</a:t></a:r></a:p></a:txBody><a:tcPr /></a:tc><a:tc><a:txBody><a:bodyPr /><a:lstStyle /><a:p><a:pPr lvl="0" indent="0" marL="0" algn="l"><a:buNone /></a:pPr><a:r><a:rPr /><a:t>Formulation</a:t></a:r></a:p></a:txBody><a:tcPr /></a:tc><a:tc><a:txBody><a:bodyPr /><a:lstStyle /><a:p><a:pPr lvl="0" indent="0" marL="0" algn="l"><a:buNone /></a:pPr><a:r><a:rPr /><a:t>Plain English</a:t></a:r></a:p></a:txBody><a:tcPr /></a:tc></a:tr><a:tr h="0"><a:tc><a:txBody><a:bodyPr /><a:lstStyle /><a:p><a:pPr lvl="0" indent="0" marL="0" algn="l"><a:buNone /></a:pPr><a:r><a:rPr /><a:t>Expected value</a:t></a:r></a:p></a:txBody></a:tc><a:tc><a:txBody><a:bodyPr /><a:lstStyle /><a:p><a:pPr lvl="0" indent="0" marL="0" algn="l"><a:buNone /></a:pPr><a14:m><m:oMath xmlns:m="http://schemas.openxmlformats.org/officeDocument/2006/math"><m:sSub><m:e><m:r><m:rPr><m:sty m:val="p" /></m:rPr><m:t>min</m:t></m:r></m:e><m:sub><m:r><m:rPr><m:sty m:val="b" /></m:rPr><m:t>x</m:t></m:r></m:sub></m:sSub><m:r><m:t> </m:t></m:r><m:r><m:rPr><m:scr m:val="double-struck" /><m:sty m:val="p" /></m:rPr><m:t>E</m:t></m:r><m:r><m:rPr><m:sty m:val="p" /></m:rPr><m:t>[</m:t></m:r><m:r><m:t>f</m:t></m:r><m:r><m:rPr><m:sty m:val="p" /></m:rPr><m:t>(</m:t></m:r><m:r><m:rPr><m:sty m:val="b" /></m:rPr><m:t>x</m:t></m:r><m:r><m:rPr><m:sty m:val="p" /></m:rPr><m:t>,</m:t></m:r><m:r><m:rPr><m:sty m:val="b" /></m:rPr><m:t>θ</m:t></m:r><m:r><m:rPr><m:sty m:val="p" /></m:rPr><m:t>)</m:t></m:r><m:r><m:rPr><m:sty m:val="p" /></m:rPr><m:t>]</m:t></m:r></m:oMath></a14:m></a:p></a:txBody></a:tc><a:tc><a:txBody><a:bodyPr /><a:lstStyle /><a:p><a:pPr lvl="0" indent="0" marL="0" algn="l"><a:buNone /></a:pPr><a:r><a:rPr /><a:t>Minimize the average outcome</a:t></a:r></a:p></a:txBody></a:tc></a:tr><a:tr h="0"><a:tc><a:txBody><a:bodyPr /><a:lstStyle /><a:p><a:pPr lvl="0" indent="0" marL="0" algn="l"><a:buNone /></a:pPr><a:r><a:rPr /><a:t>Chance constraint</a:t></a:r></a:p></a:txBody></a:tc><a:tc><a:txBody><a:bodyPr /><a:lstStyle /><a:p><a:pPr lvl="0" indent="0" marL="0" algn="l"><a:buNone /></a:pPr><a14:m><m:oMath xmlns:m="http://schemas.openxmlformats.org/officeDocument/2006/math"><m:r><m:rPr><m:sty m:val="p" /></m:rPr><m:t>Pr</m:t></m:r><m:r><m:rPr><m:sty m:val="p" /></m:rPr><m:t>[</m:t></m:r><m:r><m:t>g</m:t></m:r><m:r><m:rPr><m:sty m:val="p" /></m:rPr><m:t>(</m:t></m:r><m:r><m:rPr><m:sty m:val="b" /></m:rPr><m:t>x</m:t></m:r><m:r><m:rPr><m:sty m:val="p" /></m:rPr><m:t>,</m:t></m:r><m:r><m:rPr><m:sty m:val="b" /></m:rPr><m:t>θ</m:t></m:r><m:r><m:rPr><m:sty m:val="p" /></m:rPr><m:t>)</m:t></m:r><m:r><m:rPr><m:sty m:val="p" /></m:rPr><m:t>≤</m:t></m:r><m:r><m:t>0</m:t></m:r><m:r><m:rPr><m:sty m:val="p" /></m:rPr><m:t>]</m:t></m:r><m:r><m:rPr><m:sty m:val="p" /></m:rPr><m:t>≥</m:t></m:r><m:r><m:t>1</m:t></m:r><m:r><m:rPr><m:sty m:val="p" /></m:rPr><m:t>−</m:t></m:r><m:r><m:t>ϵ</m:t></m:r></m:oMath></a14:m></a:p></a:txBody></a:tc><a:tc><a:txBody><a:bodyPr /><a:lstStyle /><a:p><a:pPr lvl="0" indent="0" marL="0" algn="l"><a:buNone /></a:pPr><a:r><a:rPr /><a:t>Meet constraints with high probability</a:t></a:r></a:p></a:txBody></a:tc></a:tr><a:tr h="0"><a:tc><a:txBody><a:bodyPr /><a:lstStyle /><a:p><a:pPr lvl="0" indent="0" marL="0" algn="l"><a:buNone /></a:pPr><a:r><a:rPr /><a:t>Robust</a:t></a:r></a:p></a:txBody></a:tc><a:tc><a:txBody><a:bodyPr /><a:lstStyle /><a:p><a:pPr lvl="0" indent="0" marL="0" algn="l"><a:buNone /></a:pPr><a14:m><m:oMath xmlns:m="http://schemas.openxmlformats.org/officeDocument/2006/math"><m:sSub><m:e><m:r><m:rPr><m:sty m:val="p" /></m:rPr><m:t>min</m:t></m:r></m:e><m:sub><m:r><m:rPr><m:sty m:val="b" /></m:rPr><m:t>x</m:t></m:r></m:sub></m:sSub><m:sSub><m:e><m:r><m:rPr><m:sty m:val="p" /></m:rPr><m:t>max</m:t></m:r></m:e><m:sub><m:r><m:rPr><m:sty m:val="b" /></m:rPr><m:t>θ</m:t></m:r></m:sub></m:sSub><m:r><m:t>f</m:t></m:r><m:r><m:rPr><m:sty m:val="p" /></m:rPr><m:t>(</m:t></m:r><m:r><m:rPr><m:sty m:val="b" /></m:rPr><m:t>x</m:t></m:r><m:r><m:rPr><m:sty m:val="p" /></m:rPr><m:t>,</m:t></m:r><m:r><m:rPr><m:sty m:val="b" /></m:rPr><m:t>θ</m:t></m:r><m:r><m:rPr><m:sty m:val="p" /></m:rPr><m:t>)</m:t></m:r></m:oMath></a14:m></a:p></a:txBody></a:tc><a:tc><a:txBody><a:bodyPr /><a:lstStyle /><a:p><a:pPr lvl="0" indent="0" marL="0" algn="l"><a:buNone /></a:pPr><a:r><a:rPr /><a:t>Minimize the worst case</a:t></a:r></a:p></a:txBody></a:tc></a:tr></a:tbl></a:graphicData></a:graphic></p:graphicFrame></p:spTree></p:cSld></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van Dantzig used </a:t>
                </a:r>
                <a:r>
                  <a:rPr b="1"/>
                  <a:t>expected value</a:t>
                </a:r>
                <a:r>
                  <a:rPr/>
                  <a:t> for losses and </a:t>
                </a:r>
                <a:r>
                  <a:rPr b="1"/>
                  <a:t>robust</a:t>
                </a:r>
                <a:r>
                  <a:rPr/>
                  <a:t> (“safe side”) for parameters — decades before “robust optimization” had a name.</a:t>
                </a:r>
              </a:p>
              <a:p>
                <a:pPr lvl="0" indent="0" marL="0">
                  <a:spcBef>
                    <a:spcPts val="3000"/>
                  </a:spcBef>
                  <a:buNone/>
                </a:pPr>
                <a:r>
                  <a:rPr b="1"/>
                  <a:t>Classes of Optimization Algorithms</a:t>
                </a:r>
              </a:p>
              <a:p>
                <a:pPr lvl="0" indent="0" marL="0">
                  <a:buNone/>
                </a:pPr>
                <a:r>
                  <a:rPr/>
                  <a:t>The choice of algorithm depends on what structure is available in </a:t>
                </a:r>
                <a14:m>
                  <m:oMath xmlns:m="http://schemas.openxmlformats.org/officeDocument/2006/math">
                    <m:r>
                      <m:t>f</m:t>
                    </m:r>
                    <m:r>
                      <m:rPr>
                        <m:sty m:val="p"/>
                      </m:rPr>
                      <m:t>(</m:t>
                    </m:r>
                    <m:r>
                      <m:rPr>
                        <m:sty m:val="b"/>
                      </m:rPr>
                      <m:t>x</m:t>
                    </m:r>
                    <m:r>
                      <m:rPr>
                        <m:sty m:val="p"/>
                      </m:rPr>
                      <m:t>)</m:t>
                    </m:r>
                  </m:oMath>
                </a14:m>
                <a:r>
                  <a:rPr/>
                  <a:t>:</a:t>
                </a:r>
              </a:p>
              <a:p>
                <a:pPr lvl="0" indent="0" marL="0">
                  <a:buNone/>
                </a:pPr>
                <a:r>
                  <a:rPr b="1"/>
                  <a:t>The less structure you can exploit, the more computation you need.</a:t>
                </a:r>
              </a:p>
              <a:p>
                <a:pPr lvl="0" indent="0" marL="0">
                  <a:spcBef>
                    <a:spcPts val="3000"/>
                  </a:spcBef>
                  <a:buNone/>
                </a:pPr>
                <a:r>
                  <a:rPr b="1"/>
                  <a:t>Optimization vs. Policy Search</a:t>
                </a:r>
              </a:p>
              <a:p>
                <a:pPr lvl="0" indent="0" marL="0">
                  <a:buNone/>
                </a:pPr>
                <a:r>
                  <a:rPr/>
                  <a:t>“Optimization” implies we found THE optimal answer. But it’s only optimal within our model and assumptions.</a:t>
                </a:r>
              </a:p>
              <a:p>
                <a:pPr lvl="0" indent="0" marL="0">
                  <a:buNone/>
                </a:pPr>
                <a:r>
                  <a:rPr/>
                  <a:t>I prefer the term </a:t>
                </a:r>
                <a:r>
                  <a:rPr b="1"/>
                  <a:t>policy search</a:t>
                </a:r>
                <a:r>
                  <a:rPr/>
                  <a:t>: using computers to suggest promising alternatives.</a:t>
                </a:r>
              </a:p>
              <a:p>
                <a:pPr lvl="0"/>
                <a:r>
                  <a:rPr/>
                  <a:t>van Dantzig’s answer was optimal — in a model with binary damage and exponential floods</a:t>
                </a:r>
              </a:p>
              <a:p>
                <a:pPr lvl="0"/>
                <a:r>
                  <a:rPr/>
                  <a:t>In practice, a set of good options to evaluate beats a single “optimal” answer</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Evaluating Optimization Claims</a:t>
            </a:r>
          </a:p>
        </p:txBody>
      </p:sp>
      <p:sp>
        <p:nvSpPr>
          <p:cNvPr id="3" name="Content Placeholder 2"/>
          <p:cNvSpPr>
            <a:spLocks noGrp="1"/>
          </p:cNvSpPr>
          <p:nvPr>
            <p:ph idx="1"/>
          </p:nvPr>
        </p:nvSpPr>
        <p:spPr/>
        <p:txBody>
          <a:bodyPr/>
          <a:lstStyle/>
          <a:p>
            <a:pPr lvl="0" indent="0" marL="0">
              <a:spcBef>
                <a:spcPts val="3000"/>
              </a:spcBef>
              <a:buNone/>
            </a:pPr>
            <a:r>
              <a:rPr b="1"/>
              <a:t>Four Key Questions</a:t>
            </a:r>
          </a:p>
          <a:p>
            <a:pPr lvl="0" indent="0" marL="0">
              <a:buNone/>
            </a:pPr>
            <a:r>
              <a:rPr/>
              <a:t>When someone presents an “optimal” solution:</a:t>
            </a:r>
          </a:p>
          <a:p>
            <a:pPr lvl="0" indent="-342900" marL="342900">
              <a:buAutoNum type="arabicPeriod"/>
            </a:pPr>
            <a:r>
              <a:rPr b="1"/>
              <a:t>Decision variables:</a:t>
            </a:r>
            <a:r>
              <a:rPr/>
              <a:t> What levers are we pulling? What was left out?</a:t>
            </a:r>
          </a:p>
          <a:p>
            <a:pPr lvl="0" indent="-342900" marL="342900">
              <a:buAutoNum type="arabicPeriod"/>
            </a:pPr>
            <a:r>
              <a:rPr b="1"/>
              <a:t>Objective:</a:t>
            </a:r>
            <a:r>
              <a:rPr/>
              <a:t> What are we optimizing? Whose costs and benefits count? What isn’t monetized?</a:t>
            </a:r>
          </a:p>
          <a:p>
            <a:pPr lvl="0" indent="-342900" marL="342900">
              <a:buAutoNum type="arabicPeriod"/>
            </a:pPr>
            <a:r>
              <a:rPr b="1"/>
              <a:t>Constraints:</a:t>
            </a:r>
            <a:r>
              <a:rPr/>
              <a:t> Are these real physical limits or modeling assumptions?</a:t>
            </a:r>
          </a:p>
          <a:p>
            <a:pPr lvl="0" indent="-342900" marL="342900">
              <a:buAutoNum type="arabicPeriod"/>
            </a:pPr>
            <a:r>
              <a:rPr b="1"/>
              <a:t>Scenarios:</a:t>
            </a:r>
            <a:r>
              <a:rPr/>
              <a:t> Over what states of the world is this “optimal”? One scenario, a few, or a full representation of uncertainty?</a:t>
            </a:r>
          </a:p>
          <a:p>
            <a:pPr lvl="0" indent="0" marL="0">
              <a:spcBef>
                <a:spcPts val="3000"/>
              </a:spcBef>
              <a:buNone/>
            </a:pPr>
            <a:r>
              <a:rPr b="1"/>
              <a:t>What’s Next</a:t>
            </a:r>
          </a:p>
          <a:p>
            <a:pPr lvl="0"/>
            <a:r>
              <a:rPr b="1"/>
              <a:t>Wednesday:</a:t>
            </a:r>
            <a:r>
              <a:rPr/>
              <a:t> Exam 1 (covers Weeks 1–4)</a:t>
            </a:r>
          </a:p>
          <a:p>
            <a:pPr lvl="0"/>
            <a:r>
              <a:rPr b="1"/>
              <a:t>Friday:</a:t>
            </a:r>
            <a:r>
              <a:rPr/>
              <a:t> Lab 5 — Policy search with ICOW</a:t>
            </a:r>
          </a:p>
          <a:p>
            <a:pPr lvl="0"/>
            <a:r>
              <a:rPr b="1"/>
              <a:t>Coming up in Module 2:</a:t>
            </a:r>
            <a:r>
              <a:rPr/>
              <a:t> sensitivity analysis, value of information, robustness — all about what happens when your model assumptions are wrong</a:t>
            </a:r>
          </a:p>
          <a:p>
            <a:pPr lvl="0" indent="0" marL="0">
              <a:spcBef>
                <a:spcPts val="3000"/>
              </a:spcBef>
              <a:buNone/>
            </a:pPr>
            <a:r>
              <a:rPr b="1"/>
              <a:t>References</a:t>
            </a:r>
          </a:p>
          <a:p>
            <a:pPr lvl="0" indent="0" marL="0">
              <a:buNone/>
            </a:pPr>
            <a:r>
              <a:rPr/>
              <a:t>Dantzig, D. van. 1956. “Economic Decision Problems for Flood Prevention.” </a:t>
            </a:r>
            <a:r>
              <a:rPr i="1"/>
              <a:t>Econometrica</a:t>
            </a:r>
            <a:r>
              <a:rPr/>
              <a:t> 24 (3): 276–87. </a:t>
            </a:r>
            <a:r>
              <a:rPr>
                <a:hlinkClick r:id="rId3"/>
              </a:rPr>
              <a:t>https://doi.org/10.2307/1911632</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Optimal Static Decisions</dc:title>
  <dc:creator>James Doss-Gollin</dc:creator>
  <cp:keywords/>
  <dcterms:created xsi:type="dcterms:W3CDTF">2026-04-10T15:14:36Z</dcterms:created>
  <dcterms:modified xsi:type="dcterms:W3CDTF">2026-04-10T15:14:36Z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2026-02-16</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vt:lpwstr>
  </property>
  <property fmtid="{D5CDD505-2E9C-101B-9397-08002B2CF9AE}" pid="18" name="toc-title">
    <vt:lpwstr>Table of contents</vt:lpwstr>
  </property>
  <property fmtid="{D5CDD505-2E9C-101B-9397-08002B2CF9AE}" pid="19" name="week">
    <vt:lpwstr>6</vt:lpwstr>
  </property>
</Properties>
</file>
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notesMaster" Target="notesMasters/notesMaster1.xml" /><Relationship Id="rId12" Type="http://schemas.openxmlformats.org/officeDocument/2006/relationships/viewProps" Target="viewProps.xml" /><Relationship Id="rId11" Type="http://schemas.openxmlformats.org/officeDocument/2006/relationships/presProps" Target="presProps.xml" /><Relationship Id="rId1" Type="http://schemas.openxmlformats.org/officeDocument/2006/relationships/slideMaster" Target="slideMasters/slideMaster1.xml" /><Relationship Id="rId14" Type="http://schemas.openxmlformats.org/officeDocument/2006/relationships/tableStyles" Target="tableStyles.xml" /><Relationship Id="rId1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Transition from exam review. “The exam practice problems all had a single objective: net benefits. But even that framing embedded choices. Let’s name them.”</a:t>
            </a:r>
          </a:p>
          <a:p>
            <a:pPr lvl="0" indent="0" marL="0">
              <a:buNone/>
            </a:pPr>
          </a:p>
          <a:p>
            <a:pPr lvl="0" indent="0" marL="0">
              <a:buNone/>
            </a:pPr>
            <a:r>
              <a:rPr/>
              <a:t>Target: 1:18. Let students sit with the discomfort. Ask in chat: “Can you think of a trade-off in climate adaptation that feels taboo to put a dollar value on?” Expect: loss of cultural heritage, displacement, loss of life. Daw et al. studied Kenyan fisheries where aggregate “ecosystem services” masked that some families lost their livelihoods while others gained.</a:t>
            </a:r>
          </a:p>
          <a:p>
            <a:pPr lvl="0" indent="0" marL="0">
              <a:buNone/>
            </a:pPr>
          </a:p>
          <a:p>
            <a:pPr lvl="0" indent="0" marL="0">
              <a:buNone/>
            </a:pPr>
            <a:r>
              <a:rPr/>
              <a:t>Target: 1:20. Values permeate every stage of risk management — from problem framing to metric choice to model structure. BCA is not “objective” just because it uses numbers. The choice of </a:t>
            </a:r>
            <a:r>
              <a:rPr i="1"/>
              <a:t>what to measure</a:t>
            </a:r>
            <a:r>
              <a:rPr/>
              <a:t> is itself a value judgment.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1:23. If value choices are unavoidable, how do we handle multiple competing values at once? MCDA is a family of approaches for this. Keep conceptual here — formal multi-objective optimization with Pareto fronts comes in Week 12.</a:t>
            </a:r>
          </a:p>
          <a:p>
            <a:pPr lvl="0" indent="0" marL="0">
              <a:buNone/>
            </a:pPr>
          </a:p>
          <a:p>
            <a:pPr lvl="0" indent="0" marL="0">
              <a:buNone/>
            </a:pPr>
            <a:r>
              <a:rPr/>
              <a:t>Target: 1:25. This is the running example for the rest of the lecture — refer back to it at each abstract point. The framework is publicly available, so students can look it up. Key thing to flag now: HCFCD explicitly rejected pure BCR. Their stated mission is “worst first” — but watch how that principle plays out (or doesn’t) in the actual weights.</a:t>
            </a:r>
          </a:p>
          <a:p>
            <a:pPr lvl="0" indent="0" marL="0">
              <a:buNone/>
            </a:pPr>
          </a:p>
          <a:p>
            <a:pPr lvl="0" indent="0" marL="0">
              <a:buNone/>
            </a:pPr>
            <a:r>
              <a:rPr/>
              <a:t>HCFCD uses the weighted sum approach — scores on seven criteria combined with explicit percentage weights. The weights (30/15/20/20/5/5/5) are public and debatable. Why does cost-per-structure get 2× the weight of cost-per-person? That’s a value judgment dressed up as a technical parameter.</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1:33. Transition: we’ve been talking abstractly about “incommensurable values.” Now use equity as a concrete case — something everyone agrees is important, but where the measurement choices are deeply contested.</a:t>
            </a:r>
          </a:p>
          <a:p>
            <a:pPr lvl="0" indent="0" marL="0">
              <a:buNone/>
            </a:pPr>
          </a:p>
          <a:p>
            <a:pPr lvl="0" indent="0" marL="0">
              <a:buNone/>
            </a:pPr>
            <a:r>
              <a:rPr/>
              <a:t>Target: 1:34. Two-sentence bridge. The MCDA section showed that value choices are unavoidable. Equity shows </a:t>
            </a:r>
            <a:r>
              <a:rPr i="1"/>
              <a:t>where</a:t>
            </a:r>
            <a:r>
              <a:rPr/>
              <a:t> those choices live and </a:t>
            </a:r>
            <a:r>
              <a:rPr i="1"/>
              <a:t>how</a:t>
            </a:r>
            <a:r>
              <a:rPr/>
              <a:t> to make them deliberately.</a:t>
            </a:r>
          </a:p>
          <a:p>
            <a:pPr lvl="0" indent="0" marL="0">
              <a:buNone/>
            </a:pPr>
          </a:p>
          <a:p>
            <a:pPr lvl="0" indent="0" marL="0">
              <a:buNone/>
            </a:pPr>
            <a:r>
              <a:rPr/>
              <a:t>Target: 1:36. Wait for chat responses — 60 seconds. The point is that students have already encountered these debates; they just may not have had a framework for them. Pick 2–3 responses and connect them to the analytical challenge: in each case, someone had to define what “fair” means before they could act.</a:t>
            </a:r>
          </a:p>
          <a:p>
            <a:pPr lvl="0" indent="0" marL="0">
              <a:buNone/>
            </a:pPr>
          </a:p>
          <a:p>
            <a:pPr lvl="0" indent="0" marL="0">
              <a:buNone/>
            </a:pPr>
            <a:r>
              <a:rPr/>
              <a:t>Target: 1:38. Present neutrally — this is an analytical observation, not a political one. Justice40 is essentially an equity indicator: funding outcome, disadvantaged communities as characteristics, implicitly invoking an environmental justice rationale. The Trump EO directly constrains the characteristics axis — race cannot be used as a grouping variable in federal analysis, which changes which equity indicators are legally permissible. The key analytical point: even the legal framework reflects value choices about what equity means. This directly motivates the next question: so what </a:t>
            </a:r>
            <a:r>
              <a:rPr i="1"/>
              <a:t>should</a:t>
            </a:r>
            <a:r>
              <a:rPr/>
              <a:t> it mean?</a:t>
            </a:r>
          </a:p>
          <a:p>
            <a:pPr lvl="0" indent="0" marL="0">
              <a:buNone/>
            </a:pPr>
          </a:p>
          <a:p>
            <a:pPr lvl="0" indent="0" marL="0">
              <a:buNone/>
            </a:pPr>
            <a:r>
              <a:rPr/>
              <a:t>Target: 1:38. Wait for chat responses — 60–90 seconds is worth it. Read a few aloud and note the variety. The point: equity is not a single thing. Reasonable people with good intentions disagree about what it means. This isn’t a problem to solve by picking the “right” definition — it’s a reason to be explicit about which definition you’re using.</a:t>
            </a:r>
          </a:p>
          <a:p>
            <a:pPr lvl="0" indent="0" marL="0">
              <a:buNone/>
            </a:pPr>
          </a:p>
          <a:p>
            <a:pPr lvl="0" indent="0" marL="0">
              <a:buNone/>
            </a:pPr>
            <a:r>
              <a:rPr/>
              <a:t>Target: 1:41. Not a philosophy course — these are entry-level descriptions. The key point: these are not interchangeable. They can recommend different actions from the same data. The reparative framework is directly relevant to US flood policy — redlining shaped which neighborhoods got levees and which didn’t. For more depth: Jafino et al. (2021) provides a good overview of operationalizing these in flood-risk analysis.</a:t>
            </a:r>
          </a:p>
          <a:p>
            <a:pPr lvl="0" indent="0" marL="0">
              <a:buNone/>
            </a:pPr>
          </a:p>
          <a:p>
            <a:pPr lvl="0" indent="0" marL="0">
              <a:buNone/>
            </a:pPr>
            <a:r>
              <a:rPr/>
              <a:t>Target: 1:43. This connection is pedagogically powerful — students just practiced this rule in the exam review at the start of class, and will apply it on Friday’s exam. The insight: moral philosophy and decision theory share mathematical structure. Maximin as a decision rule = Rawlsian justice = worst-first principle. The only difference is what “worst” refers to: a future scenario, or a person’s position in society.</a:t>
            </a:r>
          </a:p>
          <a:p>
            <a:pPr lvl="0" indent="0" marL="0">
              <a:buNone/>
            </a:pPr>
          </a:p>
          <a:p>
            <a:pPr lvl="0" indent="0" marL="0">
              <a:buNone/>
            </a:pPr>
            <a:r>
              <a:rPr/>
              <a:t>Target: 1:44. Pollack et al. (2024) surveyed 167 papers invoking equity in flood-risk management. Only 11 of 99 quantitative studies actually measured equity with all four axes specified and a transparent justification. Most papers claim to measure equity but leave the axes implicit — hiding value judgments inside the analysis. This pattern is exactly what this lecture is about: subjectivity that’s present but unnamed.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1:46. The two-column schematic is based on a study comparing Rawlsian, egalitarian, and utilitarian frameworks for flood adaptation in Vietnam (cited in Pollack et al.). Same model, same data — different axis-4 (principle) choice, different recommended policy. This is the core pattern of Module 3: subjectivity that was always there, now made visible. HCFCD callback: their “cost per structure” metric (30%) is essentially utilitarian — favors dense, high-value areas. Their SVI criterion (20%) + “cost per person” metric (15%) pull in the worst-first direction. The weights are the value judgment: why does property get twice the weight of people?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1:47. This is the punchline connecting MCDA to equity: the “weights” are often hidden in bureaucratic formulas (cost-share ratios, eligibility criteria, scoring rubrics). Making them explicit lets us debate them as the value choices they are. HCFCD made their weights public and explicit — that’s actually unusual and worth noting. Even so, the choice of 30/15 for structures vs. people is a value judgment that was probably not debated publicly. Directly relevant to students’ final projects if they work on flood risk.</a:t>
            </a:r>
          </a:p>
          <a:p>
            <a:pPr lvl="0" indent="0" marL="0">
              <a:buNone/>
            </a:pPr>
          </a:p>
          <a:p>
            <a:pPr lvl="0" indent="0" marL="0">
              <a:buNone/>
            </a:pPr>
            <a:r>
              <a:rPr/>
              <a:t>Target: 1:48. Brief but important. This is the dimension of equity that quantitative modelers tend to overlook. Fletcher et al. argue that modelers should explicitly engage with procedural equity, not just distributional outcomes.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1:50. Stress: these tools don’t eliminate subjectivity. They surface it. A decision-maker who sees the Pareto front can make an informed choice about which trade-off they prefer. A decision-maker who only sees a single NPV number doesn’t know what they’re choosing.</a:t>
            </a:r>
          </a:p>
          <a:p>
            <a:pPr lvl="0" indent="0" marL="0">
              <a:buNone/>
            </a:pPr>
          </a:p>
          <a:p>
            <a:pPr lvl="0" indent="0" marL="0">
              <a:buNone/>
            </a:pPr>
            <a:r>
              <a:rPr/>
              <a:t>Target: 1:50. Remind students about exam Friday. Point them to the practice questions we reviewed at the start. Office hours Wednesday afternoon for last-minute exam questions.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hyperlink" Target="https://doi.org/10.1073/pnas.1414900112" TargetMode="External" /><Relationship Id="rId4" Type="http://schemas.openxmlformats.org/officeDocument/2006/relationships/hyperlink" Target="https://doi.org/10.1061/(ASCE)WR.1943-5452.0001573" TargetMode="External" /><Relationship Id="rId5" Type="http://schemas.openxmlformats.org/officeDocument/2006/relationships/hyperlink" Target="https://www.hcfcd.org/Portals/62/Documents/2022%2004%2026%20Prioritization%20Framework%20for%20the%20Allocation%20of%20Flood%20Resilience%20Trust%20Funding.pdf" TargetMode="External" /><Relationship Id="rId6" Type="http://schemas.openxmlformats.org/officeDocument/2006/relationships/hyperlink" Target="https://doi.org/10.1146/annurev-earth-080320-055847" TargetMode="External" /><Relationship Id="rId7" Type="http://schemas.openxmlformats.org/officeDocument/2006/relationships/hyperlink" Target="https://doi.org/10.1038/s41893-024-01345-3" TargetMode="External" /><Relationship Id="rId8" Type="http://schemas.openxmlformats.org/officeDocument/2006/relationships/hyperlink" Target="https://doi.org/10.1073/pnas.2418711121"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Trade-offs &amp; Values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 (Remote)</a:t>
            </a:r>
            <a:br/>
            <a:br/>
            <a:r>
              <a:rPr/>
              <a:t>James Doss-Gollin</a:t>
            </a:r>
          </a:p>
        </p:txBody>
      </p:sp>
      <p:sp>
        <p:nvSpPr>
          <p:cNvPr id="4" name="Date Placeholder 3"/>
          <p:cNvSpPr>
            <a:spLocks noGrp="1"/>
          </p:cNvSpPr>
          <p:nvPr>
            <p:ph idx="10" sz="half" type="dt"/>
          </p:nvPr>
        </p:nvSpPr>
        <p:spPr/>
        <p:txBody>
          <a:bodyPr/>
          <a:lstStyle/>
          <a:p>
            <a:pPr lvl="0" indent="0" marL="0">
              <a:buNone/>
            </a:pPr>
            <a:r>
              <a:rPr/>
              <a:t>2026-03-11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Subjectivity in Decision-Making</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Recall: Module 2</a:t>
                </a:r>
              </a:p>
              <a:p>
                <a:pPr lvl="0" indent="0" marL="0">
                  <a:buNone/>
                </a:pPr>
                <a:r>
                  <a:rPr/>
                  <a:t>In Weeks 5–8, we built a rigorous decision framework:</a:t>
                </a:r>
              </a:p>
              <a:p>
                <a:pPr lvl="0"/>
                <a:r>
                  <a:rPr/>
                  <a:t>Model uncertainty explicitly: </a:t>
                </a:r>
                <a14:m>
                  <m:oMath xmlns:m="http://schemas.openxmlformats.org/officeDocument/2006/math">
                    <m:r>
                      <m:rPr>
                        <m:sty m:val="b"/>
                      </m:rPr>
                      <m:t>s</m:t>
                    </m:r>
                  </m:oMath>
                </a14:m>
                <a:r>
                  <a:rPr/>
                  <a:t> is a distribution, not a point estimate</a:t>
                </a:r>
              </a:p>
              <a:p>
                <a:pPr lvl="0"/>
                <a:r>
                  <a:rPr/>
                  <a:t>Propagate uncertainty through costs and benefits</a:t>
                </a:r>
              </a:p>
              <a:p>
                <a:pPr lvl="0"/>
                <a:r>
                  <a:rPr/>
                  <a:t>Analyze sensitivity: which uncertainties drive the outcome?</a:t>
                </a:r>
              </a:p>
              <a:p>
                <a:pPr lvl="0"/>
                <a:r>
                  <a:rPr/>
                  <a:t>Ask: is more information worth getting? (VOI)</a:t>
                </a:r>
              </a:p>
              <a:p>
                <a:pPr lvl="0"/>
                <a:r>
                  <a:rPr/>
                  <a:t>Choose </a:t>
                </a:r>
                <a14:m>
                  <m:oMath xmlns:m="http://schemas.openxmlformats.org/officeDocument/2006/math">
                    <m:sSup>
                      <m:e>
                        <m:r>
                          <m:t>a</m:t>
                        </m:r>
                      </m:e>
                      <m:sup>
                        <m:r>
                          <m:rPr>
                            <m:sty m:val="p"/>
                          </m:rPr>
                          <m:t>*</m:t>
                        </m:r>
                      </m:sup>
                    </m:sSup>
                    <m:r>
                      <m:rPr>
                        <m:sty m:val="p"/>
                      </m:rPr>
                      <m:t>=</m:t>
                    </m:r>
                    <m:r>
                      <m:rPr>
                        <m:sty m:val="p"/>
                      </m:rPr>
                      <m:t>arg</m:t>
                    </m:r>
                    <m:sSub>
                      <m:e>
                        <m:r>
                          <m:rPr>
                            <m:sty m:val="p"/>
                          </m:rPr>
                          <m:t>max</m:t>
                        </m:r>
                      </m:e>
                      <m:sub>
                        <m:r>
                          <m:t>a</m:t>
                        </m:r>
                      </m:sub>
                    </m:sSub>
                    <m:r>
                      <m:t> </m:t>
                    </m:r>
                    <m:r>
                      <m:rPr>
                        <m:scr m:val="double-struck"/>
                        <m:sty m:val="p"/>
                      </m:rPr>
                      <m:t>E</m:t>
                    </m:r>
                    <m:r>
                      <m:rPr>
                        <m:sty m:val="p"/>
                      </m:rPr>
                      <m:t>[</m:t>
                    </m:r>
                    <m:r>
                      <m:rPr>
                        <m:nor/>
                        <m:sty m:val="p"/>
                      </m:rPr>
                      <m:t>NPV</m:t>
                    </m:r>
                    <m:r>
                      <m:rPr>
                        <m:sty m:val="p"/>
                      </m:rPr>
                      <m:t>(</m:t>
                    </m:r>
                    <m:r>
                      <m:t>a</m:t>
                    </m:r>
                    <m:r>
                      <m:rPr>
                        <m:sty m:val="p"/>
                      </m:rPr>
                      <m:t>,</m:t>
                    </m:r>
                    <m:r>
                      <m:rPr>
                        <m:sty m:val="b"/>
                      </m:rPr>
                      <m:t>s</m:t>
                    </m:r>
                    <m:r>
                      <m:rPr>
                        <m:sty m:val="p"/>
                      </m:rPr>
                      <m:t>)</m:t>
                    </m:r>
                    <m:r>
                      <m:rPr>
                        <m:sty m:val="p"/>
                      </m:rPr>
                      <m:t>]</m:t>
                    </m:r>
                  </m:oMath>
                </a14:m>
              </a:p>
              <a:p>
                <a:pPr lvl="0" indent="0" marL="0">
                  <a:spcBef>
                    <a:spcPts val="3000"/>
                  </a:spcBef>
                  <a:buNone/>
                </a:pPr>
                <a:r>
                  <a:rPr b="1"/>
                  <a:t>BCA Key Assumptions</a:t>
                </a:r>
              </a:p>
              <a:p>
                <a:pPr lvl="0" indent="0" marL="0">
                  <a:buNone/>
                </a:pPr>
                <a:r>
                  <a:rPr/>
                  <a:t>Every BCA embeds value judgments:</a:t>
                </a:r>
              </a:p>
              <a:p>
                <a:pPr lvl="0"/>
                <a:r>
                  <a:rPr/>
                  <a:t>Everything can be converted to a common unit (usually dollars)</a:t>
                </a:r>
              </a:p>
              <a:p>
                <a:pPr lvl="0"/>
                <a:r>
                  <a:rPr/>
                  <a:t>The “right” trade-off between present and future is captured by the discount rate</a:t>
                </a:r>
              </a:p>
              <a:p>
                <a:pPr lvl="0"/>
                <a:r>
                  <a:rPr/>
                  <a:t>Expectations are sufficient (any risk aversion goes in the utility function)</a:t>
                </a:r>
              </a:p>
              <a:p>
                <a:pPr lvl="0" indent="0" marL="0">
                  <a:spcBef>
                    <a:spcPts val="3000"/>
                  </a:spcBef>
                  <a:buNone/>
                </a:pPr>
                <a:r>
                  <a:rPr b="1"/>
                  <a:t>Taboo Trade-Offs</a:t>
                </a:r>
              </a:p>
              <a:p>
                <a:pPr lvl="0" indent="0" marL="0">
                  <a:buNone/>
                </a:pPr>
                <a:r>
                  <a:rPr/>
                  <a:t>Some conversions feel morally unacceptable (Daw et al. 2015):</a:t>
                </a:r>
              </a:p>
              <a:p>
                <a:pPr lvl="0"/>
                <a:r>
                  <a:rPr/>
                  <a:t>“How many species extinctions are worth $X billion in economic growth?”</a:t>
                </a:r>
              </a:p>
              <a:p>
                <a:pPr lvl="0"/>
                <a:r>
                  <a:rPr/>
                  <a:t>“How many additional flood deaths are acceptable to save $Y in infrastructure costs?”</a:t>
                </a:r>
              </a:p>
              <a:p>
                <a:pPr lvl="0"/>
                <a:r>
                  <a:rPr/>
                  <a:t>“Is it okay to displace a community if the aggregate NPV is positive?”</a:t>
                </a:r>
              </a:p>
              <a:p>
                <a:pPr lvl="0" indent="0" marL="0">
                  <a:buNone/>
                </a:pPr>
                <a:r>
                  <a:rPr/>
                  <a:t>These are </a:t>
                </a:r>
                <a:r>
                  <a:rPr b="1"/>
                  <a:t>taboo trade-offs</a:t>
                </a:r>
                <a:r>
                  <a:rPr/>
                  <a:t> — converting them to dollars feels wrong, even if the math works.</a:t>
                </a:r>
              </a:p>
              <a:p>
                <a:pPr lvl="0" indent="0" marL="0">
                  <a:spcBef>
                    <a:spcPts val="3000"/>
                  </a:spcBef>
                  <a:buNone/>
                </a:pPr>
                <a:r>
                  <a:rPr b="1"/>
                  <a:t>Values in Decision-Making</a:t>
                </a:r>
              </a:p>
            </p:txBody>
          </p:sp>
        </mc:Choice>
      </mc:AlternateContent>
      <p:pic>
        <p:nvPicPr>
          <p:cNvPr descr="keller_values.jpg" id="0" name="Picture 1"/>
          <p:cNvPicPr>
            <a:picLocks noGrp="1" noChangeAspect="1"/>
          </p:cNvPicPr>
          <p:nvPr/>
        </p:nvPicPr>
        <p:blipFill>
          <a:blip r:embed="rId3"/>
          <a:stretch>
            <a:fillRect/>
          </a:stretch>
        </p:blipFill>
        <p:spPr bwMode="auto">
          <a:xfrm>
            <a:off x="3568700" y="1054100"/>
            <a:ext cx="5105400" cy="21590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Keller et al. (2021)</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4">
                                            <p:txEl>
                                              <p:pRg st="15" end="15"/>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Multiple Objectives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Case Study: Harris County Flood Resilience Trust</a:t>
                </a:r>
              </a:p>
              <a:p>
                <a:pPr lvl="0" indent="0" marL="0">
                  <a:buNone/>
                </a:pPr>
                <a:r>
                  <a:rPr/>
                  <a:t>After Hurricane Harvey, Harris County passed a </a:t>
                </a:r>
                <a:r>
                  <a:rPr b="1"/>
                  <a:t>$2.5 billion flood bond</a:t>
                </a:r>
                <a:r>
                  <a:rPr/>
                  <a:t> (2018). Limited Resilience Trust funds must be allocated across 200+ competing projects.</a:t>
                </a:r>
              </a:p>
              <a:p>
                <a:pPr lvl="0" indent="0" marL="0">
                  <a:buNone/>
                </a:pPr>
                <a:r>
                  <a:rPr/>
                  <a:t>. . .</a:t>
                </a:r>
              </a:p>
              <a:p>
                <a:pPr lvl="0" indent="0" marL="0">
                  <a:buNone/>
                </a:pPr>
                <a:r>
                  <a:rPr b="1"/>
                  <a:t>The question:</a:t>
                </a:r>
                <a:r>
                  <a:rPr/>
                  <a:t> which projects get funded?</a:t>
                </a:r>
              </a:p>
              <a:p>
                <a:pPr lvl="0"/>
                <a:r>
                  <a:rPr/>
                  <a:t>Pure BCR? Favors neighborhoods with the most property value</a:t>
                </a:r>
              </a:p>
              <a:p>
                <a:pPr lvl="0"/>
                <a:r>
                  <a:rPr/>
                  <a:t>HCFCD instead built a </a:t>
                </a:r>
                <a:r>
                  <a:rPr b="1"/>
                  <a:t>multi-criteria weighted scoring system</a:t>
                </a:r>
                <a:r>
                  <a:rPr/>
                  <a:t> (Harris County Flood Control District 2022)</a:t>
                </a:r>
              </a:p>
              <a:p>
                <a:pPr lvl="0"/>
                <a:r>
                  <a:rPr/>
                  <a:t>Each project scored 0–10 on seven criteria, combined with explicit weights</a:t>
                </a:r>
              </a:p>
              <a:p>
                <a:pPr lvl="0" indent="0" marL="0">
                  <a:spcBef>
                    <a:spcPts val="3000"/>
                  </a:spcBef>
                  <a:buNone/>
                </a:pPr>
                <a:r>
                  <a:rPr b="1"/>
                  <a:t>What’s Hard to Compare?</a:t>
                </a:r>
              </a:p>
              <a:p>
                <a:pPr lvl="0" indent="0" marL="0">
                  <a:buNone/>
                </a:pPr>
                <a:r>
                  <a:rPr b="1"/>
                  <a:t>Chat question:</a:t>
                </a:r>
                <a:r>
                  <a:rPr/>
                  <a:t> Give an example for</a:t>
                </a:r>
              </a:p>
              <a:p>
                <a:pPr lvl="0" indent="-342900" marL="342900">
                  <a:buAutoNum type="alphaLcParenBoth"/>
                </a:pPr>
                <a:r>
                  <a:rPr/>
                  <a:t>coastal adaptation in Galveston</a:t>
                </a:r>
              </a:p>
              <a:p>
                <a:pPr lvl="0" indent="-342900" marL="342900">
                  <a:buAutoNum startAt="2" type="alphaLcParenBoth"/>
                </a:pPr>
                <a:r>
                  <a:rPr/>
                  <a:t>a case study of interest to you</a:t>
                </a:r>
              </a:p>
              <a:p>
                <a:pPr lvl="0" indent="0" marL="0">
                  <a:buNone/>
                </a:pPr>
                <a:r>
                  <a:rPr/>
                  <a:t>where two important things are genuinely hard to compare as apples to apples.</a:t>
                </a:r>
              </a:p>
              <a:p>
                <a:pPr lvl="0" indent="0" marL="0">
                  <a:spcBef>
                    <a:spcPts val="3000"/>
                  </a:spcBef>
                  <a:buNone/>
                </a:pPr>
                <a:r>
                  <a:rPr b="1"/>
                  <a:t>Multiple Objectives in Practice</a:t>
                </a:r>
              </a:p>
              <a:p>
                <a:pPr lvl="0" indent="0" marL="0">
                  <a:buNone/>
                </a:pPr>
                <a:r>
                  <a:rPr/>
                  <a:t>HCFCD’s 2022 framework scores each project on seven criteria (Harris County Flood Control District 2022):</a:t>
                </a:r>
              </a:p>
              <a:p>
                <a:pPr lvl="0"/>
                <a:r>
                  <a:rPr b="1"/>
                  <a:t>Cost per structure</a:t>
                </a:r>
                <a:r>
                  <a:rPr/>
                  <a:t> benefited in a 100-year event (30%)</a:t>
                </a:r>
              </a:p>
              <a:p>
                <a:pPr lvl="0"/>
                <a:r>
                  <a:rPr b="1"/>
                  <a:t>Cost per person</a:t>
                </a:r>
                <a:r>
                  <a:rPr/>
                  <a:t> benefited in a 100-year event (15%)</a:t>
                </a:r>
              </a:p>
              <a:p>
                <a:pPr lvl="0"/>
                <a:r>
                  <a:rPr b="1"/>
                  <a:t>Existing conditions</a:t>
                </a:r>
                <a:r>
                  <a:rPr/>
                  <a:t>: how severely does the area currently flood? (20%)</a:t>
                </a:r>
              </a:p>
              <a:p>
                <a:pPr lvl="0"/>
                <a:r>
                  <a:rPr b="1"/>
                  <a:t>Social Vulnerability Index</a:t>
                </a:r>
                <a:r>
                  <a:rPr/>
                  <a:t> of the affected community (20%)</a:t>
                </a:r>
              </a:p>
              <a:p>
                <a:pPr lvl="0"/>
                <a:r>
                  <a:rPr/>
                  <a:t>Long-term maintenance costs (5%)</a:t>
                </a:r>
              </a:p>
              <a:p>
                <a:pPr lvl="0"/>
                <a:r>
                  <a:rPr/>
                  <a:t>Environmental impacts (5%)</a:t>
                </a:r>
              </a:p>
              <a:p>
                <a:pPr lvl="0"/>
                <a:r>
                  <a:rPr/>
                  <a:t>Potential for multiple benefits — recreation, ecology (5%)</a:t>
                </a:r>
              </a:p>
              <a:p>
                <a:pPr lvl="0" indent="0" marL="0">
                  <a:buNone/>
                </a:pPr>
                <a:r>
                  <a:rPr/>
                  <a:t>These may </a:t>
                </a:r>
                <a:r>
                  <a:rPr i="1"/>
                  <a:t>conflict</a:t>
                </a:r>
                <a:r>
                  <a:rPr/>
                  <a:t>, leading to </a:t>
                </a:r>
                <a:r>
                  <a:rPr i="1"/>
                  <a:t>trade-offs</a:t>
                </a:r>
                <a:r>
                  <a:rPr/>
                  <a:t>.</a:t>
                </a:r>
              </a:p>
              <a:p>
                <a:pPr lvl="0" indent="0" marL="0">
                  <a:spcBef>
                    <a:spcPts val="3000"/>
                  </a:spcBef>
                  <a:buNone/>
                </a:pPr>
                <a:r>
                  <a:rPr b="1"/>
                  <a:t>Three Approaches</a:t>
                </a:r>
              </a:p>
              <a:p>
                <a:pPr lvl="0" indent="-342900" marL="342900">
                  <a:buAutoNum type="arabicPeriod"/>
                </a:pPr>
                <a:r>
                  <a:rPr b="1"/>
                  <a:t>Weighted sum</a:t>
                </a:r>
                <a:r>
                  <a:rPr/>
                  <a:t>: Collapse into one number</a:t>
                </a:r>
              </a:p>
              <a:p>
                <a:pPr lvl="0" indent="-342900" marL="342900">
                  <a:buAutoNum type="arabicPeriod"/>
                </a:pPr>
                <a14:m>
                  <m:oMathPara xmlns:m="http://schemas.openxmlformats.org/officeDocument/2006/math">
                    <m:oMathParaPr>
                      <m:jc m:val="center"/>
                    </m:oMathParaPr>
                    <m:oMath>
                      <m:sSub>
                        <m:e>
                          <m:r>
                            <m:t>w</m:t>
                          </m:r>
                        </m:e>
                        <m:sub>
                          <m:r>
                            <m:t>1</m:t>
                          </m:r>
                        </m:sub>
                      </m:sSub>
                      <m:r>
                        <m:rPr>
                          <m:sty m:val="p"/>
                        </m:rPr>
                        <m:t>⋅</m:t>
                      </m:r>
                      <m:r>
                        <m:rPr>
                          <m:nor/>
                          <m:sty m:val="p"/>
                        </m:rPr>
                        <m:t>cost</m:t>
                      </m:r>
                      <m:r>
                        <m:rPr>
                          <m:sty m:val="p"/>
                        </m:rPr>
                        <m:t>+</m:t>
                      </m:r>
                      <m:sSub>
                        <m:e>
                          <m:r>
                            <m:t>w</m:t>
                          </m:r>
                        </m:e>
                        <m:sub>
                          <m:r>
                            <m:t>2</m:t>
                          </m:r>
                        </m:sub>
                      </m:sSub>
                      <m:r>
                        <m:rPr>
                          <m:sty m:val="p"/>
                        </m:rPr>
                        <m:t>⋅</m:t>
                      </m:r>
                      <m:r>
                        <m:rPr>
                          <m:nor/>
                          <m:sty m:val="p"/>
                        </m:rPr>
                        <m:t>risk</m:t>
                      </m:r>
                      <m:r>
                        <m:rPr>
                          <m:sty m:val="p"/>
                        </m:rPr>
                        <m:t>+</m:t>
                      </m:r>
                      <m:sSub>
                        <m:e>
                          <m:r>
                            <m:t>w</m:t>
                          </m:r>
                        </m:e>
                        <m:sub>
                          <m:r>
                            <m:t>3</m:t>
                          </m:r>
                        </m:sub>
                      </m:sSub>
                      <m:r>
                        <m:rPr>
                          <m:sty m:val="p"/>
                        </m:rPr>
                        <m:t>⋅</m:t>
                      </m:r>
                      <m:r>
                        <m:rPr>
                          <m:nor/>
                          <m:sty m:val="p"/>
                        </m:rPr>
                        <m:t>equity</m:t>
                      </m:r>
                    </m:oMath>
                  </m:oMathPara>
                </a14:m>
              </a:p>
              <a:p>
                <a:pPr lvl="0" indent="-342900" marL="342900">
                  <a:buAutoNum type="arabicPeriod"/>
                </a:pPr>
                <a:r>
                  <a:rPr/>
                  <a:t>Simple, but hides the trade-offs.</a:t>
                </a:r>
              </a:p>
              <a:p>
                <a:pPr lvl="0" indent="-342900" marL="342900">
                  <a:buAutoNum type="arabicPeriod"/>
                </a:pPr>
                <a:r>
                  <a:rPr b="1"/>
                  <a:t>Satisficing / constraints</a:t>
                </a:r>
                <a:r>
                  <a:rPr/>
                  <a:t>: Set minimum thresholds (“</a:t>
                </a:r>
                <a14:m>
                  <m:oMath xmlns:m="http://schemas.openxmlformats.org/officeDocument/2006/math">
                    <m:r>
                      <m:t>B</m:t>
                    </m:r>
                    <m:r>
                      <m:t>C</m:t>
                    </m:r>
                    <m:r>
                      <m:t>R</m:t>
                    </m:r>
                    <m:r>
                      <m:rPr>
                        <m:sty m:val="p"/>
                      </m:rPr>
                      <m:t>≥</m:t>
                    </m:r>
                    <m:r>
                      <m:t>1</m:t>
                    </m:r>
                  </m:oMath>
                </a14:m>
                <a:r>
                  <a:rPr/>
                  <a:t>”) and optimize remaining objectives. Avoids explicit weighting but requires choosing thresholds.</a:t>
                </a:r>
              </a:p>
              <a:p>
                <a:pPr lvl="0" indent="-342900" marL="342900">
                  <a:buAutoNum type="arabicPeriod"/>
                </a:pPr>
                <a:r>
                  <a:rPr b="1"/>
                  <a:t>Pareto analysis</a:t>
                </a:r>
                <a:r>
                  <a:rPr/>
                  <a:t>: Find solutions where no objective can improve without worsening another. Reveals trade-offs without choosing weights. </a:t>
                </a:r>
                <a:r>
                  <a:rPr i="1"/>
                  <a:t>(We’ll formalize this in Week 12.)</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23" end="2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24" end="2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25" end="2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26" end="2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27" end="2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Equity</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Equity as a Case Study</a:t>
                </a:r>
              </a:p>
              <a:p>
                <a:pPr lvl="0" indent="0" marL="0">
                  <a:buNone/>
                </a:pPr>
                <a:r>
                  <a:rPr/>
                  <a:t>MCDA asks us to handle multiple competing objectives. What do we do when one of those objectives is </a:t>
                </a:r>
                <a:r>
                  <a:rPr b="1"/>
                  <a:t>“be fair”</a:t>
                </a:r>
                <a:r>
                  <a:rPr/>
                  <a:t>?</a:t>
                </a:r>
              </a:p>
              <a:p>
                <a:pPr lvl="0"/>
                <a:r>
                  <a:rPr/>
                  <a:t>Everyone agrees it matters</a:t>
                </a:r>
              </a:p>
              <a:p>
                <a:pPr lvl="0"/>
                <a:r>
                  <a:rPr/>
                  <a:t>But measuring it requires explicit value choices at every step</a:t>
                </a:r>
              </a:p>
              <a:p>
                <a:pPr lvl="0"/>
                <a:r>
                  <a:rPr/>
                  <a:t>Those choices are often hidden — which is exactly the problem this lecture is about</a:t>
                </a:r>
              </a:p>
              <a:p>
                <a:pPr lvl="0" indent="0" marL="0">
                  <a:spcBef>
                    <a:spcPts val="3000"/>
                  </a:spcBef>
                  <a:buNone/>
                </a:pPr>
                <a:r>
                  <a:rPr b="1"/>
                  <a:t>Equity in Climate Risk</a:t>
                </a:r>
              </a:p>
              <a:p>
                <a:pPr lvl="0" indent="0" marL="0">
                  <a:buNone/>
                </a:pPr>
                <a:r>
                  <a:rPr b="1"/>
                  <a:t>Chat question:</a:t>
                </a:r>
                <a:r>
                  <a:rPr/>
                  <a:t> Where have you heard people talking about equity in climate risk or infrastructure?</a:t>
                </a:r>
              </a:p>
              <a:p>
                <a:pPr lvl="0" indent="0" marL="0">
                  <a:buNone/>
                </a:pPr>
                <a:r>
                  <a:rPr/>
                  <a:t>. . .</a:t>
                </a:r>
              </a:p>
              <a:p>
                <a:pPr lvl="0"/>
                <a:r>
                  <a:rPr/>
                  <a:t>Which neighborhoods get buyouts after floods — and which don’t</a:t>
                </a:r>
              </a:p>
              <a:p>
                <a:pPr lvl="0"/>
                <a:r>
                  <a:rPr/>
                  <a:t>Who is consulted in flood protection planning</a:t>
                </a:r>
              </a:p>
              <a:p>
                <a:pPr lvl="0"/>
                <a:r>
                  <a:rPr/>
                  <a:t>Whether FEMA flood maps reflect cumulative environmental burdens</a:t>
                </a:r>
              </a:p>
              <a:p>
                <a:pPr lvl="0"/>
                <a:r>
                  <a:rPr/>
                  <a:t>Which communities receive green infrastructure investment</a:t>
                </a:r>
              </a:p>
              <a:p>
                <a:pPr lvl="0"/>
                <a:r>
                  <a:rPr/>
                  <a:t>Federal funding formulas for disaster recovery</a:t>
                </a:r>
              </a:p>
              <a:p>
                <a:pPr lvl="0" indent="0" marL="0">
                  <a:spcBef>
                    <a:spcPts val="3000"/>
                  </a:spcBef>
                  <a:buNone/>
                </a:pPr>
                <a:r>
                  <a:rPr b="1"/>
                  <a:t>Equity in Policy</a:t>
                </a:r>
              </a:p>
              <a:p>
                <a:pPr lvl="0" indent="0" marL="0">
                  <a:buNone/>
                </a:pPr>
                <a:r>
                  <a:rPr/>
                  <a:t>How to account for equity is actively contested in law and policy:</a:t>
                </a:r>
              </a:p>
              <a:p>
                <a:pPr lvl="0"/>
                <a:r>
                  <a:rPr b="1"/>
                  <a:t>Justice40</a:t>
                </a:r>
                <a:r>
                  <a:rPr/>
                  <a:t> (Biden, 2021): 40% of benefits from certain federal climate investments must flow to disadvantaged communities — Equity operationalized via investment targeting; specifies outcome + characteristics, but leaves principle implicit</a:t>
                </a:r>
              </a:p>
              <a:p>
                <a:pPr lvl="0"/>
                <a:r>
                  <a:rPr b="1"/>
                  <a:t>Executive Order 14173</a:t>
                </a:r>
                <a:r>
                  <a:rPr/>
                  <a:t> (Trump, 2025): Prohibits federal agencies from using protected characteristics (race, sex) in decision-making — Restricts which </a:t>
                </a:r>
                <a:r>
                  <a:rPr i="1"/>
                  <a:t>characteristics</a:t>
                </a:r>
                <a:r>
                  <a:rPr/>
                  <a:t> axis options are legally available for federal programs</a:t>
                </a:r>
              </a:p>
              <a:p>
                <a:pPr lvl="0" indent="0" marL="0">
                  <a:spcBef>
                    <a:spcPts val="3000"/>
                  </a:spcBef>
                  <a:buNone/>
                </a:pPr>
                <a:r>
                  <a:rPr b="1"/>
                  <a:t>What Do We Mean by Equity?</a:t>
                </a:r>
              </a:p>
              <a:p>
                <a:pPr lvl="0" indent="0" marL="0">
                  <a:buNone/>
                </a:pPr>
                <a:r>
                  <a:rPr b="1"/>
                  <a:t>Chat question:</a:t>
                </a:r>
                <a:r>
                  <a:rPr/>
                  <a:t> When you hear “equity” or “environmental justice,” what comes to mind?</a:t>
                </a:r>
              </a:p>
              <a:p>
                <a:pPr lvl="0" indent="0" marL="0">
                  <a:spcBef>
                    <a:spcPts val="3000"/>
                  </a:spcBef>
                  <a:buNone/>
                </a:pPr>
                <a:r>
                  <a:rPr b="1"/>
                  <a:t>Normative Frameworks</a:t>
                </a:r>
              </a:p>
              <a:p>
                <a:pPr lvl="0" indent="0" marL="0">
                  <a:buNone/>
                </a:pPr>
                <a:r>
                  <a:rPr/>
                  <a:t>How should we evaluate whether a distribution is fair? Some key frameworks:</a:t>
                </a:r>
              </a:p>
              <a:p>
                <a:pPr lvl="0" indent="-342900" marL="342900">
                  <a:buAutoNum type="arabicPeriod"/>
                </a:pPr>
                <a:r>
                  <a:rPr b="1"/>
                  <a:t>Worst-first</a:t>
                </a:r>
                <a:r>
                  <a:rPr/>
                  <a:t> (Rawlsian maximin): prioritize the least well-off — The same principle as the maximin rule from your exam, now applied to </a:t>
                </a:r>
                <a:r>
                  <a:rPr i="1"/>
                  <a:t>people</a:t>
                </a:r>
              </a:p>
              <a:p>
                <a:pPr lvl="0" indent="-342900" marL="342900">
                  <a:buAutoNum type="arabicPeriod"/>
                </a:pPr>
                <a:r>
                  <a:rPr b="1"/>
                  <a:t>Maximize aggregate welfare</a:t>
                </a:r>
                <a:r>
                  <a:rPr/>
                  <a:t> (utilitarian): best average outcome — This is what standard BCA does</a:t>
                </a:r>
              </a:p>
              <a:p>
                <a:pPr lvl="0" indent="-342900" marL="342900">
                  <a:buAutoNum type="arabicPeriod"/>
                </a:pPr>
                <a:r>
                  <a:rPr b="1"/>
                  <a:t>Restore past wrongs</a:t>
                </a:r>
                <a:r>
                  <a:rPr/>
                  <a:t> (reparative / corrective justice): address historical injustice — Redlining, discriminatory flood insurance, and underinvestment shaped today’s disparities</a:t>
                </a:r>
              </a:p>
              <a:p>
                <a:pPr lvl="0" indent="-342900" marL="342900">
                  <a:buAutoNum type="arabicPeriod"/>
                </a:pPr>
                <a:r>
                  <a:rPr b="1"/>
                  <a:t>Equal treatment</a:t>
                </a:r>
                <a:r>
                  <a:rPr/>
                  <a:t> (egalitarian): same outcomes or resources for everyone</a:t>
                </a:r>
              </a:p>
              <a:p>
                <a:pPr lvl="0" indent="-342900" marL="342900">
                  <a:buAutoNum type="arabicPeriod"/>
                </a:pPr>
                <a:r>
                  <a:rPr b="1"/>
                  <a:t>Sufficiency</a:t>
                </a:r>
                <a:r>
                  <a:rPr/>
                  <a:t> (sufficientarian): everyone gets “enough” — a minimum threshold</a:t>
                </a:r>
              </a:p>
              <a:p>
                <a:pPr lvl="0" indent="0" marL="0">
                  <a:spcBef>
                    <a:spcPts val="3000"/>
                  </a:spcBef>
                  <a:buNone/>
                </a:pPr>
                <a:r>
                  <a:rPr b="1"/>
                  <a:t>Maximin, Revisited</a:t>
                </a:r>
              </a:p>
              <a:p>
                <a:pPr lvl="0" indent="0" marL="0">
                  <a:buNone/>
                </a:pPr>
                <a:r>
                  <a:rPr/>
                  <a:t>On the exam, you applied maximin to uncertain </a:t>
                </a:r>
                <a:r>
                  <a:rPr i="1"/>
                  <a:t>scenarios</a:t>
                </a:r>
                <a:r>
                  <a:rPr/>
                  <a:t>:</a:t>
                </a:r>
              </a:p>
              <a:p>
                <a:pPr lvl="0" indent="0" marL="0">
                  <a:buNone/>
                </a:pPr>
                <a14:m>
                  <m:oMathPara xmlns:m="http://schemas.openxmlformats.org/officeDocument/2006/math">
                    <m:oMathParaPr>
                      <m:jc m:val="center"/>
                    </m:oMathParaPr>
                    <m:oMath>
                      <m:sSup>
                        <m:e>
                          <m:r>
                            <m:t>a</m:t>
                          </m:r>
                        </m:e>
                        <m:sup>
                          <m:r>
                            <m:rPr>
                              <m:sty m:val="p"/>
                            </m:rPr>
                            <m:t>*</m:t>
                          </m:r>
                        </m:sup>
                      </m:sSup>
                      <m:r>
                        <m:rPr>
                          <m:sty m:val="p"/>
                        </m:rPr>
                        <m:t>=</m:t>
                      </m:r>
                      <m:r>
                        <m:rPr>
                          <m:sty m:val="p"/>
                        </m:rPr>
                        <m:t>arg</m:t>
                      </m:r>
                      <m:limLow>
                        <m:e>
                          <m:r>
                            <m:rPr>
                              <m:sty m:val="p"/>
                            </m:rPr>
                            <m:t>max</m:t>
                          </m:r>
                        </m:e>
                        <m:lim>
                          <m:r>
                            <m:t>a</m:t>
                          </m:r>
                        </m:lim>
                      </m:limLow>
                      <m:limLow>
                        <m:e>
                          <m:r>
                            <m:rPr>
                              <m:sty m:val="p"/>
                            </m:rPr>
                            <m:t>min</m:t>
                          </m:r>
                        </m:e>
                        <m:lim>
                          <m:r>
                            <m:t>s</m:t>
                          </m:r>
                        </m:lim>
                      </m:limLow>
                      <m:r>
                        <m:t> </m:t>
                      </m:r>
                      <m:r>
                        <m:t>U</m:t>
                      </m:r>
                      <m:r>
                        <m:rPr>
                          <m:sty m:val="p"/>
                        </m:rPr>
                        <m:t>(</m:t>
                      </m:r>
                      <m:r>
                        <m:t>a</m:t>
                      </m:r>
                      <m:r>
                        <m:rPr>
                          <m:sty m:val="p"/>
                        </m:rPr>
                        <m:t>,</m:t>
                      </m:r>
                      <m:r>
                        <m:t>s</m:t>
                      </m:r>
                      <m:r>
                        <m:rPr>
                          <m:sty m:val="p"/>
                        </m:rPr>
                        <m:t>)</m:t>
                      </m:r>
                    </m:oMath>
                  </m:oMathPara>
                </a14:m>
              </a:p>
              <a:p>
                <a:pPr lvl="0" indent="0" marL="0">
                  <a:buNone/>
                </a:pPr>
                <a:r>
                  <a:rPr i="1"/>
                  <a:t>Choose the action whose worst-case outcome is best.</a:t>
                </a:r>
              </a:p>
              <a:p>
                <a:pPr lvl="0" indent="0" marL="0">
                  <a:buNone/>
                </a:pPr>
                <a:r>
                  <a:rPr/>
                  <a:t>. . .</a:t>
                </a:r>
              </a:p>
              <a:p>
                <a:pPr lvl="0" indent="0" marL="0">
                  <a:buNone/>
                </a:pPr>
                <a:r>
                  <a:rPr/>
                  <a:t>The Rawlsian framework applies the same logic to </a:t>
                </a:r>
                <a:r>
                  <a:rPr i="1"/>
                  <a:t>people</a:t>
                </a:r>
                <a:r>
                  <a:rPr/>
                  <a:t>:</a:t>
                </a:r>
              </a:p>
              <a:p>
                <a:pPr lvl="0" indent="0" marL="0">
                  <a:buNone/>
                </a:pPr>
                <a14:m>
                  <m:oMathPara xmlns:m="http://schemas.openxmlformats.org/officeDocument/2006/math">
                    <m:oMathParaPr>
                      <m:jc m:val="center"/>
                    </m:oMathParaPr>
                    <m:oMath>
                      <m:r>
                        <m:rPr>
                          <m:nor/>
                          <m:sty m:val="p"/>
                        </m:rPr>
                        <m:t>choose the policy that most benefits the least well-off person</m:t>
                      </m:r>
                    </m:oMath>
                  </m:oMathPara>
                </a14:m>
              </a:p>
              <a:p>
                <a:pPr lvl="0" indent="0" marL="0">
                  <a:buNone/>
                </a:pPr>
                <a:r>
                  <a:rPr i="1"/>
                  <a:t>Same structure — “worst case” is now the worst-off individual.</a:t>
                </a:r>
              </a:p>
              <a:p>
                <a:pPr lvl="0" indent="0" marL="0">
                  <a:spcBef>
                    <a:spcPts val="3000"/>
                  </a:spcBef>
                  <a:buNone/>
                </a:pPr>
                <a:r>
                  <a:rPr b="1"/>
                  <a:t>Measuring Equity: A Taxonomy</a:t>
                </a:r>
              </a:p>
              <a:p>
                <a:pPr lvl="0" indent="0" marL="0">
                  <a:buNone/>
                </a:pPr>
                <a:r>
                  <a:rPr/>
                  <a:t>Before we can </a:t>
                </a:r>
                <a:r>
                  <a:rPr i="1"/>
                  <a:t>measure</a:t>
                </a:r>
                <a:r>
                  <a:rPr/>
                  <a:t> equity, we must answer four questions (Pollack et al. 2024):</a:t>
                </a:r>
              </a:p>
            </p:txBody>
          </p:sp>
        </mc:Choice>
      </mc:AlternateContent>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19200"/>
                <a:gridCol w="2044700"/>
                <a:gridCol w="1841500"/>
              </a:tblGrid>
              <a:tr h="0">
                <a:tc>
                  <a:txBody>
                    <a:bodyPr/>
                    <a:lstStyle/>
                    <a:p>
                      <a:pPr lvl="0" indent="0" marL="0" algn="l">
                        <a:buNone/>
                      </a:pPr>
                      <a:r>
                        <a:rPr/>
                        <a:t>Axis</a:t>
                      </a:r>
                    </a:p>
                  </a:txBody>
                  <a:tcPr/>
                </a:tc>
                <a:tc>
                  <a:txBody>
                    <a:bodyPr/>
                    <a:lstStyle/>
                    <a:p>
                      <a:pPr lvl="0" indent="0" marL="0" algn="l">
                        <a:buNone/>
                      </a:pPr>
                      <a:r>
                        <a:rPr/>
                        <a:t>Question</a:t>
                      </a:r>
                    </a:p>
                  </a:txBody>
                  <a:tcPr/>
                </a:tc>
                <a:tc>
                  <a:txBody>
                    <a:bodyPr/>
                    <a:lstStyle/>
                    <a:p>
                      <a:pPr lvl="0" indent="0" marL="0" algn="l">
                        <a:buNone/>
                      </a:pPr>
                      <a:r>
                        <a:rPr/>
                        <a:t>Options</a:t>
                      </a:r>
                    </a:p>
                  </a:txBody>
                  <a:tcPr/>
                </a:tc>
              </a:tr>
              <a:tr h="0">
                <a:tc>
                  <a:txBody>
                    <a:bodyPr/>
                    <a:lstStyle/>
                    <a:p>
                      <a:pPr lvl="0" indent="0" marL="0" algn="l">
                        <a:buNone/>
                      </a:pPr>
                      <a:r>
                        <a:rPr b="1"/>
                        <a:t>Outcome</a:t>
                      </a:r>
                    </a:p>
                  </a:txBody>
                </a:tc>
                <a:tc>
                  <a:txBody>
                    <a:bodyPr/>
                    <a:lstStyle/>
                    <a:p>
                      <a:pPr lvl="0" indent="0" marL="0" algn="l">
                        <a:buNone/>
                      </a:pPr>
                      <a:r>
                        <a:rPr/>
                        <a:t>Equity in </a:t>
                      </a:r>
                      <a:r>
                        <a:rPr i="1"/>
                        <a:t>what</a:t>
                      </a:r>
                      <a:r>
                        <a:rPr/>
                        <a:t>?</a:t>
                      </a:r>
                    </a:p>
                  </a:txBody>
                </a:tc>
                <a:tc>
                  <a:txBody>
                    <a:bodyPr/>
                    <a:lstStyle/>
                    <a:p>
                      <a:pPr lvl="0" indent="0" marL="0" algn="l">
                        <a:buNone/>
                      </a:pPr>
                      <a:r>
                        <a:rPr/>
                        <a:t>Exposure, risk, funding, benefits, recovery</a:t>
                      </a:r>
                    </a:p>
                  </a:txBody>
                </a:tc>
              </a:tr>
              <a:tr h="0">
                <a:tc>
                  <a:txBody>
                    <a:bodyPr/>
                    <a:lstStyle/>
                    <a:p>
                      <a:pPr lvl="0" indent="0" marL="0" algn="l">
                        <a:buNone/>
                      </a:pPr>
                      <a:r>
                        <a:rPr b="1"/>
                        <a:t>Scale</a:t>
                      </a:r>
                    </a:p>
                  </a:txBody>
                </a:tc>
                <a:tc>
                  <a:txBody>
                    <a:bodyPr/>
                    <a:lstStyle/>
                    <a:p>
                      <a:pPr lvl="0" indent="0" marL="0" algn="l">
                        <a:buNone/>
                      </a:pPr>
                      <a:r>
                        <a:rPr/>
                        <a:t>At </a:t>
                      </a:r>
                      <a:r>
                        <a:rPr i="1"/>
                        <a:t>what level</a:t>
                      </a:r>
                      <a:r>
                        <a:rPr/>
                        <a:t>?</a:t>
                      </a:r>
                    </a:p>
                  </a:txBody>
                </a:tc>
                <a:tc>
                  <a:txBody>
                    <a:bodyPr/>
                    <a:lstStyle/>
                    <a:p>
                      <a:pPr lvl="0" indent="0" marL="0" algn="l">
                        <a:buNone/>
                      </a:pPr>
                      <a:r>
                        <a:rPr/>
                        <a:t>Individual, neighborhood, city, region</a:t>
                      </a:r>
                    </a:p>
                  </a:txBody>
                </a:tc>
              </a:tr>
              <a:tr h="0">
                <a:tc>
                  <a:txBody>
                    <a:bodyPr/>
                    <a:lstStyle/>
                    <a:p>
                      <a:pPr lvl="0" indent="0" marL="0" algn="l">
                        <a:buNone/>
                      </a:pPr>
                      <a:r>
                        <a:rPr b="1"/>
                        <a:t>Characteristics</a:t>
                      </a:r>
                    </a:p>
                  </a:txBody>
                </a:tc>
                <a:tc>
                  <a:txBody>
                    <a:bodyPr/>
                    <a:lstStyle/>
                    <a:p>
                      <a:pPr lvl="0" indent="0" marL="0" algn="l">
                        <a:buNone/>
                      </a:pPr>
                      <a:r>
                        <a:rPr/>
                        <a:t>Across </a:t>
                      </a:r>
                      <a:r>
                        <a:rPr i="1"/>
                        <a:t>whom</a:t>
                      </a:r>
                      <a:r>
                        <a:rPr/>
                        <a:t>?</a:t>
                      </a:r>
                    </a:p>
                  </a:txBody>
                </a:tc>
                <a:tc>
                  <a:txBody>
                    <a:bodyPr/>
                    <a:lstStyle/>
                    <a:p>
                      <a:pPr lvl="0" indent="0" marL="0" algn="l">
                        <a:buNone/>
                      </a:pPr>
                      <a:r>
                        <a:rPr/>
                        <a:t>Income, race, environmental burden, history</a:t>
                      </a:r>
                    </a:p>
                  </a:txBody>
                </a:tc>
              </a:tr>
              <a:tr h="0">
                <a:tc>
                  <a:txBody>
                    <a:bodyPr/>
                    <a:lstStyle/>
                    <a:p>
                      <a:pPr lvl="0" indent="0" marL="0" algn="l">
                        <a:buNone/>
                      </a:pPr>
                      <a:r>
                        <a:rPr b="1"/>
                        <a:t>Principle</a:t>
                      </a:r>
                    </a:p>
                  </a:txBody>
                </a:tc>
                <a:tc>
                  <a:txBody>
                    <a:bodyPr/>
                    <a:lstStyle/>
                    <a:p>
                      <a:pPr lvl="0" indent="0" marL="0" algn="l">
                        <a:buNone/>
                      </a:pPr>
                      <a:r>
                        <a:rPr i="1"/>
                        <a:t>Why</a:t>
                      </a:r>
                      <a:r>
                        <a:rPr/>
                        <a:t> is that unfair?</a:t>
                      </a:r>
                    </a:p>
                  </a:txBody>
                </a:tc>
                <a:tc>
                  <a:txBody>
                    <a:bodyPr/>
                    <a:lstStyle/>
                    <a:p>
                      <a:pPr lvl="0" indent="0" marL="0" algn="l">
                        <a:buNone/>
                      </a:pPr>
                      <a:r>
                        <a:rPr/>
                        <a:t>Worst-first, utilitarian, reparative, egalitarian, sufficientarian</a:t>
                      </a:r>
                    </a:p>
                  </a:txBody>
                </a:tc>
              </a:tr>
            </a:tbl>
          </a:graphicData>
        </a:graphic>
      </p:graphicFrame>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5" end="1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6" end="1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2" end="2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23" end="2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24" end="2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25" end="2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the Taxonomy Matters</a:t>
            </a:r>
          </a:p>
          <a:p>
            <a:pPr lvl="0" indent="0" marL="0">
              <a:buNone/>
            </a:pPr>
            <a:r>
              <a:rPr/>
              <a:t>The same program can look equitable </a:t>
            </a:r>
            <a:r>
              <a:rPr i="1"/>
              <a:t>or</a:t>
            </a:r>
            <a:r>
              <a:rPr/>
              <a:t> inequitable depending on which axes you choose:</a:t>
            </a:r>
          </a:p>
          <a:p>
            <a:pPr lvl="0"/>
            <a:r>
              <a:rPr/>
              <a:t>Equal </a:t>
            </a:r>
            <a:r>
              <a:rPr b="1"/>
              <a:t>funding</a:t>
            </a:r>
            <a:r>
              <a:rPr/>
              <a:t> per household may still leave the poorest with the highest residual </a:t>
            </a:r>
            <a:r>
              <a:rPr b="1"/>
              <a:t>risk</a:t>
            </a:r>
          </a:p>
          <a:p>
            <a:pPr lvl="0"/>
            <a:r>
              <a:rPr b="1"/>
              <a:t>City-level</a:t>
            </a:r>
            <a:r>
              <a:rPr/>
              <a:t> exposure looks equitable; </a:t>
            </a:r>
            <a:r>
              <a:rPr b="1"/>
              <a:t>neighborhood-level</a:t>
            </a:r>
            <a:r>
              <a:rPr/>
              <a:t> reveals disparities</a:t>
            </a:r>
          </a:p>
          <a:p>
            <a:pPr lvl="0"/>
            <a:r>
              <a:rPr b="1"/>
              <a:t>Utilitarian</a:t>
            </a:r>
            <a:r>
              <a:rPr/>
              <a:t> benefits may favor wealthy areas (more property value to protect)</a:t>
            </a:r>
          </a:p>
          <a:p>
            <a:pPr lvl="0" indent="0" marL="0">
              <a:buNone/>
            </a:pPr>
            <a:r>
              <a:rPr/>
              <a:t>. . .</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Policy A</a:t>
            </a:r>
            <a:r>
              <a:rPr/>
              <a:t>: protect densest district</a:t>
            </a:r>
          </a:p>
          <a:p>
            <a:pPr lvl="0"/>
            <a:r>
              <a:rPr/>
              <a:t>Utilitarian: ✓ higher aggregate benefit</a:t>
            </a:r>
          </a:p>
          <a:p>
            <a:pPr lvl="0"/>
            <a:r>
              <a:rPr/>
              <a:t>Worst-first: ✗ skips the poorest</a:t>
            </a:r>
          </a:p>
        </p:txBody>
      </p:sp>
      <p:sp>
        <p:nvSpPr>
          <p:cNvPr id="4" name="Content Placeholder 3"/>
          <p:cNvSpPr>
            <a:spLocks noGrp="1"/>
          </p:cNvSpPr>
          <p:nvPr>
            <p:ph idx="2" sz="half"/>
          </p:nvPr>
        </p:nvSpPr>
        <p:spPr/>
        <p:txBody>
          <a:bodyPr/>
          <a:lstStyle/>
          <a:p>
            <a:pPr lvl="0" indent="0" marL="0">
              <a:buNone/>
            </a:pPr>
            <a:r>
              <a:rPr b="1"/>
              <a:t>Policy B</a:t>
            </a:r>
            <a:r>
              <a:rPr/>
              <a:t>: protect poorest district</a:t>
            </a:r>
          </a:p>
          <a:p>
            <a:pPr lvl="0"/>
            <a:r>
              <a:rPr/>
              <a:t>Utilitarian: ✗ lower aggregate benefit</a:t>
            </a:r>
          </a:p>
          <a:p>
            <a:pPr lvl="0"/>
            <a:r>
              <a:rPr/>
              <a:t>Worst-first: ✓ helps the least well-off</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Funding Rules and Equity</a:t>
            </a:r>
          </a:p>
          <a:p>
            <a:pPr lvl="0" indent="0" marL="0">
              <a:buNone/>
            </a:pPr>
            <a:r>
              <a:rPr/>
              <a:t>Pollack et al. (2025) studied how federal funding allocation rules affect equity:</a:t>
            </a:r>
          </a:p>
          <a:p>
            <a:pPr lvl="0"/>
            <a:r>
              <a:rPr/>
              <a:t>Rules that maximize aggregate benefit-cost ratio tend to direct funding to wealthy areas (more property value to protect)</a:t>
            </a:r>
          </a:p>
          <a:p>
            <a:pPr lvl="0"/>
            <a:r>
              <a:rPr/>
              <a:t>Rules that prioritize social vulnerability scores direct funding to disadvantaged communities</a:t>
            </a:r>
          </a:p>
          <a:p>
            <a:pPr lvl="0"/>
            <a:r>
              <a:rPr b="1"/>
              <a:t>The funding formula is a policy lever</a:t>
            </a:r>
            <a:r>
              <a:rPr/>
              <a:t> — it encodes a moral framework whether intended or not</a:t>
            </a:r>
          </a:p>
          <a:p>
            <a:pPr lvl="0" indent="0" marL="0">
              <a:buNone/>
            </a:pPr>
            <a:r>
              <a:rPr/>
              <a:t>. . .</a:t>
            </a:r>
          </a:p>
          <a:p>
            <a:pPr lvl="0" indent="0" marL="0">
              <a:buNone/>
            </a:pPr>
            <a:r>
              <a:rPr/>
              <a:t>HCFCD’s framework is a local example: cost-per-structure (30%) vs. SVI (20%) vs. cost-per-person (15%) (Harris County Flood Control District 2022)</a:t>
            </a:r>
          </a:p>
          <a:p>
            <a:pPr lvl="0" indent="0" marL="0">
              <a:spcBef>
                <a:spcPts val="3000"/>
              </a:spcBef>
              <a:buNone/>
            </a:pPr>
            <a:r>
              <a:rPr b="1"/>
              <a:t>Procedural Equity</a:t>
            </a:r>
          </a:p>
          <a:p>
            <a:pPr lvl="0" indent="0" marL="0">
              <a:buNone/>
            </a:pPr>
            <a:r>
              <a:rPr/>
              <a:t>Equity is not only about outcomes — it’s also about </a:t>
            </a:r>
            <a:r>
              <a:rPr b="1"/>
              <a:t>process</a:t>
            </a:r>
            <a:r>
              <a:rPr/>
              <a:t> (Fletcher et al. 2022):</a:t>
            </a:r>
          </a:p>
          <a:p>
            <a:pPr lvl="0"/>
            <a:r>
              <a:rPr/>
              <a:t>Who gets to participate in planning decisions?</a:t>
            </a:r>
          </a:p>
          <a:p>
            <a:pPr lvl="0"/>
            <a:r>
              <a:rPr/>
              <a:t>Whose knowledge counts?</a:t>
            </a:r>
          </a:p>
          <a:p>
            <a:pPr lvl="0"/>
            <a:r>
              <a:rPr/>
              <a:t>Who has the power to set the agenda?</a:t>
            </a:r>
          </a:p>
          <a:p>
            <a:pPr lvl="0" indent="0" marL="0">
              <a:buNone/>
            </a:pPr>
            <a:r>
              <a:rPr/>
              <a:t>. . .</a:t>
            </a:r>
          </a:p>
          <a:p>
            <a:pPr lvl="0" indent="0" marL="0">
              <a:buNone/>
            </a:pPr>
            <a:r>
              <a:rPr/>
              <a:t>Simply inviting marginalized communities to meetings is not enough if power dynamics remain unchanged.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Logistics</a:t>
            </a:r>
          </a:p>
        </p:txBody>
      </p:sp>
      <p:sp>
        <p:nvSpPr>
          <p:cNvPr id="3" name="Content Placeholder 2"/>
          <p:cNvSpPr>
            <a:spLocks noGrp="1"/>
          </p:cNvSpPr>
          <p:nvPr>
            <p:ph idx="1"/>
          </p:nvPr>
        </p:nvSpPr>
        <p:spPr/>
        <p:txBody>
          <a:bodyPr/>
          <a:lstStyle/>
          <a:p>
            <a:pPr lvl="0" indent="0" marL="0">
              <a:spcBef>
                <a:spcPts val="3000"/>
              </a:spcBef>
              <a:buNone/>
            </a:pPr>
            <a:r>
              <a:rPr b="1"/>
              <a:t>Exam 2</a:t>
            </a:r>
          </a:p>
          <a:p>
            <a:pPr lvl="0"/>
            <a:r>
              <a:rPr/>
              <a:t>Friday, in class, 50 minutes</a:t>
            </a:r>
          </a:p>
          <a:p>
            <a:pPr lvl="0"/>
            <a:r>
              <a:rPr/>
              <a:t>Closed book</a:t>
            </a:r>
          </a:p>
          <a:p>
            <a:pPr lvl="0"/>
            <a:r>
              <a:rPr/>
              <a:t>Bring just a pencil</a:t>
            </a:r>
          </a:p>
          <a:p>
            <a:pPr lvl="0" indent="0" marL="0">
              <a:spcBef>
                <a:spcPts val="3000"/>
              </a:spcBef>
              <a:buNone/>
            </a:pPr>
            <a:r>
              <a:rPr b="1"/>
              <a:t>Module 3: Complementary Tools</a:t>
            </a:r>
          </a:p>
          <a:p>
            <a:pPr lvl="0" indent="0" marL="0">
              <a:buNone/>
            </a:pPr>
            <a:r>
              <a:rPr/>
              <a:t>These approaches work together — they are not alternatives:</a:t>
            </a:r>
          </a:p>
          <a:p>
            <a:pPr lvl="0"/>
            <a:r>
              <a:rPr b="1"/>
              <a:t>Robustness</a:t>
            </a:r>
            <a:r>
              <a:rPr/>
              <a:t> (Week 10): Does my recommended policy hold up across scenarios and across value frameworks?</a:t>
            </a:r>
          </a:p>
          <a:p>
            <a:pPr lvl="0"/>
            <a:r>
              <a:rPr b="1"/>
              <a:t>Scenario discovery</a:t>
            </a:r>
            <a:r>
              <a:rPr/>
              <a:t> (Week 11): What conditions or assumptions drive my conclusions?</a:t>
            </a:r>
          </a:p>
          <a:p>
            <a:pPr lvl="0"/>
            <a:r>
              <a:rPr b="1"/>
              <a:t>Multi-objective optimization</a:t>
            </a:r>
            <a:r>
              <a:rPr/>
              <a:t> (Week 12): Map the Pareto front — show decision-makers the trade-offs rather than collapsing to one number</a:t>
            </a:r>
          </a:p>
          <a:p>
            <a:pPr lvl="0"/>
            <a:r>
              <a:rPr b="1"/>
              <a:t>Sequential decision-making</a:t>
            </a:r>
            <a:r>
              <a:rPr/>
              <a:t> (Week 13): Make decisions over time as we learn what we value and how the system behaves</a:t>
            </a:r>
          </a:p>
          <a:p>
            <a:pPr lvl="0" indent="0" marL="0">
              <a:buNone/>
            </a:pPr>
            <a:r>
              <a:rPr/>
              <a:t>. . .</a:t>
            </a:r>
          </a:p>
          <a:p>
            <a:pPr lvl="0" indent="0" marL="0">
              <a:buNone/>
            </a:pPr>
            <a:r>
              <a:rPr/>
              <a:t>None of these </a:t>
            </a:r>
            <a:r>
              <a:rPr i="1"/>
              <a:t>resolve</a:t>
            </a:r>
            <a:r>
              <a:rPr/>
              <a:t> value questions — they make the choices </a:t>
            </a:r>
            <a:r>
              <a:rPr b="1"/>
              <a:t>visible and tractable</a:t>
            </a:r>
            <a:r>
              <a:rPr/>
              <a:t>.</a:t>
            </a:r>
          </a:p>
          <a:p>
            <a:pPr lvl="0" indent="0" marL="0">
              <a:spcBef>
                <a:spcPts val="3000"/>
              </a:spcBef>
              <a:buNone/>
            </a:pPr>
            <a:r>
              <a:rPr b="1"/>
              <a:t>Looking Ahead</a:t>
            </a:r>
          </a:p>
          <a:p>
            <a:pPr lvl="0"/>
            <a:r>
              <a:rPr b="1"/>
              <a:t>Wednesday</a:t>
            </a:r>
            <a:r>
              <a:rPr/>
              <a:t>: Paper discussion</a:t>
            </a:r>
          </a:p>
          <a:p>
            <a:pPr lvl="0"/>
            <a:r>
              <a:rPr b="1"/>
              <a:t>Friday</a:t>
            </a:r>
            <a:r>
              <a:rPr/>
              <a:t>: Exam 2 (covers Module 2)</a:t>
            </a:r>
          </a:p>
          <a:p>
            <a:pPr lvl="0"/>
            <a:r>
              <a:rPr b="1"/>
              <a:t>Next Monday</a:t>
            </a:r>
            <a:r>
              <a:rPr/>
              <a:t> (Week 10): Robustness and Deep Uncertainty — entering Module 3</a:t>
            </a:r>
          </a:p>
          <a:p>
            <a:pPr lvl="0" indent="0" marL="0">
              <a:spcBef>
                <a:spcPts val="3000"/>
              </a:spcBef>
              <a:buNone/>
            </a:pPr>
            <a:r>
              <a:rPr b="1"/>
              <a:t>References</a:t>
            </a:r>
          </a:p>
          <a:p>
            <a:pPr lvl="0" indent="0" marL="0">
              <a:buNone/>
            </a:pPr>
            <a:r>
              <a:rPr/>
              <a:t>Daw, Tim M., Sarah Coulthard, William W. L. Cheung, et al. 2015. “Evaluating Taboo Trade-Offs in Ecosystems Services and Human Well-Being.” </a:t>
            </a:r>
            <a:r>
              <a:rPr i="1"/>
              <a:t>Proceedings of the National Academy of Sciences</a:t>
            </a:r>
            <a:r>
              <a:rPr/>
              <a:t> 112 (22): 6949–54. </a:t>
            </a:r>
            <a:r>
              <a:rPr>
                <a:hlinkClick r:id="rId3"/>
              </a:rPr>
              <a:t>https://doi.org/10.1073/pnas.1414900112</a:t>
            </a:r>
            <a:r>
              <a:rPr/>
              <a:t>.</a:t>
            </a:r>
          </a:p>
          <a:p>
            <a:pPr lvl="0" indent="0" marL="0">
              <a:buNone/>
            </a:pPr>
            <a:r>
              <a:rPr/>
              <a:t>Fletcher, Sarah, Antonia Hadjimichael, Julianne Quinn, et al. 2022. “Equity in Water Resources Planning: A Path Forward for Decision Support Modelers.” </a:t>
            </a:r>
            <a:r>
              <a:rPr i="1"/>
              <a:t>Journal of Water Resources Planning and Management</a:t>
            </a:r>
            <a:r>
              <a:rPr/>
              <a:t> 148 (7): 02522005. </a:t>
            </a:r>
            <a:r>
              <a:rPr>
                <a:hlinkClick r:id="rId4"/>
              </a:rPr>
              <a:t>https://doi.org/10.1061/(ASCE)WR.1943-5452.0001573</a:t>
            </a:r>
            <a:r>
              <a:rPr/>
              <a:t>.</a:t>
            </a:r>
          </a:p>
          <a:p>
            <a:pPr lvl="0" indent="0" marL="0">
              <a:buNone/>
            </a:pPr>
            <a:r>
              <a:rPr/>
              <a:t>Harris County Flood Control District. 2022. </a:t>
            </a:r>
            <a:r>
              <a:rPr i="1"/>
              <a:t>2022 Prioritization Framework for the Allocation of Funds from the Harris County Flood Resilience Trust</a:t>
            </a:r>
            <a:r>
              <a:rPr/>
              <a:t>. Houston, TX. </a:t>
            </a:r>
            <a:r>
              <a:rPr>
                <a:hlinkClick r:id="rId5"/>
              </a:rPr>
              <a:t>https://www.hcfcd.org/Portals/62/Documents/2022%2004%2026%20Prioritization%20Framework%20for%20the%20Allocation%20of%20Flood%20Resilience%20Trust%20Funding.pdf</a:t>
            </a:r>
            <a:r>
              <a:rPr/>
              <a:t>.</a:t>
            </a:r>
          </a:p>
          <a:p>
            <a:pPr lvl="0" indent="0" marL="0">
              <a:buNone/>
            </a:pPr>
            <a:r>
              <a:rPr/>
              <a:t>Keller, Klaus, Casey Helgeson, and Vivek Srikrishnan. 2021. “Climate Risk Management.” </a:t>
            </a:r>
            <a:r>
              <a:rPr i="1"/>
              <a:t>Annual Review of Earth and Planetary Sciences</a:t>
            </a:r>
            <a:r>
              <a:rPr/>
              <a:t> 49 (1): 95–116. </a:t>
            </a:r>
            <a:r>
              <a:rPr>
                <a:hlinkClick r:id="rId6"/>
              </a:rPr>
              <a:t>https://doi.org/10.1146/annurev-earth-080320-055847</a:t>
            </a:r>
            <a:r>
              <a:rPr/>
              <a:t>.</a:t>
            </a:r>
          </a:p>
          <a:p>
            <a:pPr lvl="0" indent="0" marL="0">
              <a:buNone/>
            </a:pPr>
            <a:r>
              <a:rPr/>
              <a:t>Pollack, Adam B., Casey Helgeson, Carolyn Kousky, and Klaus Keller. 2024. “Developing More Useful Equity Measurements for Flood-Risk Management.” </a:t>
            </a:r>
            <a:r>
              <a:rPr i="1"/>
              <a:t>Nature Sustainability</a:t>
            </a:r>
            <a:r>
              <a:rPr/>
              <a:t> 7 (6): 823–32. </a:t>
            </a:r>
            <a:r>
              <a:rPr>
                <a:hlinkClick r:id="rId7"/>
              </a:rPr>
              <a:t>https://doi.org/10.1038/s41893-024-01345-3</a:t>
            </a:r>
            <a:r>
              <a:rPr/>
              <a:t>.</a:t>
            </a:r>
          </a:p>
          <a:p>
            <a:pPr lvl="0" indent="0" marL="0">
              <a:buNone/>
            </a:pPr>
            <a:r>
              <a:rPr/>
              <a:t>Pollack, Adam B., Sara Santamaria-Aguilar, Pravin Maduwantha, Casey Helgeson, Thomas Wahl, and Klaus Keller. 2025. “Funding Rules That Promote Equity in Climate Adaptation Outcomes.” </a:t>
            </a:r>
            <a:r>
              <a:rPr i="1"/>
              <a:t>Proceedings of the National Academy of Sciences</a:t>
            </a:r>
            <a:r>
              <a:rPr/>
              <a:t> 122 (2): e2418711121. </a:t>
            </a:r>
            <a:r>
              <a:rPr>
                <a:hlinkClick r:id="rId8"/>
              </a:rPr>
              <a:t>https://doi.org/10.1073/pnas.2418711121</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Trade-offs &amp; Values</dc:title>
  <dc:creator>James Doss-Gollin</dc:creator>
  <cp:keywords/>
  <dcterms:created xsi:type="dcterms:W3CDTF">2026-04-10T18:53:20Z</dcterms:created>
  <dcterms:modified xsi:type="dcterms:W3CDTF">2026-04-10T18:53:20Z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2026-03-11</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institution">
    <vt:lpwstr>Rice University</vt:lpwstr>
  </property>
  <property fmtid="{D5CDD505-2E9C-101B-9397-08002B2CF9AE}" pid="15" name="labels">
    <vt:lpwstr/>
  </property>
  <property fmtid="{D5CDD505-2E9C-101B-9397-08002B2CF9AE}" pid="16" name="status">
    <vt:lpwstr>published</vt:lpwstr>
  </property>
  <property fmtid="{D5CDD505-2E9C-101B-9397-08002B2CF9AE}" pid="17" name="subtitle">
    <vt:lpwstr>Lecture (Remote)</vt:lpwstr>
  </property>
  <property fmtid="{D5CDD505-2E9C-101B-9397-08002B2CF9AE}" pid="18" name="toc-title">
    <vt:lpwstr>Table of contents</vt:lpwstr>
  </property>
  <property fmtid="{D5CDD505-2E9C-101B-9397-08002B2CF9AE}" pid="19" name="week">
    <vt:lpwstr>9</vt:lpwstr>
  </property>
</Properties>
</file>
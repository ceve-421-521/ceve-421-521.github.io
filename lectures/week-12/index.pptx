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gif" ContentType="image/gi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1:05. Frame this as a synthesis week. Connect explicitly to (a) Week 9 values discussion — incommensurability, weighting is itself a value choice — and (b) the optimization framing from BCA. Multi-objective optimization is what you do when those two ideas meet.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Crisp distinction: MCA ranks a given list; MOO discovers the list and exposes the trade-offs. HCFCD couldn’t do MOO because their alternatives were discrete projects. House elevation height is a continuous decision — perfect for MOO.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~4 min. Ask: “Another pair of objectives in tension?” e.g. speed of deployment vs. community buy-in; near-term cost vs. long-term resilience.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Conceptual core. ~10 min.</a:t>
            </a:r>
          </a:p>
          <a:p>
            <a:pPr lvl="0" indent="0" marL="0">
              <a:buNone/>
            </a:pPr>
          </a:p>
          <a:p>
            <a:pPr lvl="0" indent="0" marL="0">
              <a:buNone/>
            </a:pPr>
            <a:r>
              <a:rPr/>
              <a:t>Target: 1:21. “At least as good on ALL, strictly better on AT LEAST ONE.” Partial order — many solutions won’t be comparable.</a:t>
            </a:r>
          </a:p>
          <a:p>
            <a:pPr lvl="0" indent="0" marL="0">
              <a:buNone/>
            </a:pPr>
          </a:p>
          <a:p>
            <a:pPr lvl="0" indent="0" marL="0">
              <a:buNone/>
            </a:pPr>
            <a:r>
              <a:rPr/>
              <a:t>Target: 1:23. Walk through row by row. Make students check both objectives carefully.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Cold call. Answer: solution </a:t>
            </a:r>
            <a:r>
              <a:rPr b="1"/>
              <a:t>5</a:t>
            </a:r>
            <a:r>
              <a:rPr/>
              <a:t> is dominated by solution </a:t>
            </a:r>
            <a:r>
              <a:rPr b="1"/>
              <a:t>2</a:t>
            </a:r>
            <a:r>
              <a:rPr/>
              <a:t> (2 is better on both: 2.0&lt;3.0 and 2.5&lt;3.0). Solutions 1, 2, 3, 4 are mutually non-dominated → they form the Pareto front. Walk through the check explicitly for each candidate.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1:29. Analogy: efficient frontier in portfolio theory. Division of labor: analysts find the front, decision-makers choose from it. More honest than embedding values in weights.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1:31. Students don’t need to implement MOEAs — just understand them well enough to interpret results.</a:t>
            </a:r>
          </a:p>
          <a:p>
            <a:pPr lvl="0" indent="0" marL="0">
              <a:buNone/>
            </a:pPr>
          </a:p>
          <a:p>
            <a:pPr lvl="0" indent="0" marL="0">
              <a:buNone/>
            </a:pPr>
            <a:r>
              <a:rPr/>
              <a:t>Target: 1:34. Each solution is a “design.” MOEA runs many in parallel and improves them. Diversity mechanism is key — without it, the algorithm collapses to one region.</a:t>
            </a:r>
          </a:p>
          <a:p>
            <a:pPr lvl="0" indent="0" marL="0">
              <a:buNone/>
            </a:pPr>
          </a:p>
          <a:p>
            <a:pPr lvl="0" indent="0" marL="0">
              <a:buNone/>
            </a:pPr>
            <a:r>
              <a:rPr/>
              <a:t>Target: 1:39. “Hill-climbing with a crowd.” No gradients required. Crossover/mutation = exploration; selection = exploitation.</a:t>
            </a:r>
          </a:p>
          <a:p>
            <a:pPr lvl="0" indent="0" marL="0">
              <a:buNone/>
            </a:pPr>
          </a:p>
          <a:p>
            <a:pPr lvl="0" indent="0" marL="0">
              <a:buNone/>
            </a:pPr>
            <a:r>
              <a:rPr/>
              <a:t>Target: 1:42. The ε vector is a values parameter: “I do not care about differences smaller than this on objective i.” Smaller ε → finer front, bigger archive, slower convergence. Larger ε → coarser, faster. This grid/box version is what ε-MOEA and Borg actually implement; the key property is “one solution per box.”</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1:43. The next slides build a working ε-MOEA from scratch and animate convergence. Students don’t need to memorize the code — the goal is to </a:t>
            </a:r>
            <a:r>
              <a:rPr i="1"/>
              <a:t>see</a:t>
            </a:r>
            <a:r>
              <a:rPr/>
              <a:t> the machinery.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ZDT1 is one of the Zitzler–Deb–Thiele benchmark problems. The front is convex; algorithms have to find the whole thin red curve from </a:t>
            </a:r>
            <a:r>
              <a:rPr/>
              <a:t>(0,1)</a:t>
            </a:r>
            <a:r>
              <a:rPr/>
              <a:t> to </a:t>
            </a:r>
            <a:r>
              <a:rPr/>
              <a:t>(1,0)</a:t>
            </a:r>
            <a:r>
              <a:rPr/>
              <a:t>. Off the front, </a:t>
            </a:r>
            <a:r>
              <a:rPr/>
              <a:t>f_2</a:t>
            </a:r>
            <a:r>
              <a:rPr/>
              <a:t> shoots 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Real MOEAs use polynomial mutation and simulated binary crossover. Gaussian + clamp is the simplest thing that works and makes the mechanism transparent. Step size 0.1 is small enough to refine, large enough to escape local clusters.</a:t>
            </a:r>
          </a:p>
          <a:p>
            <a:pPr lvl="0" indent="0" marL="0">
              <a:buNone/>
            </a:pPr>
          </a:p>
          <a:p>
            <a:pPr lvl="0" indent="0" marL="0">
              <a:buNone/>
            </a:pPr>
            <a:r>
              <a:rPr/>
              <a:t>Target: 1:48. The trick: ε-dominance reduces to ordinary dominance on rounded coordinates. Two short functions.</a:t>
            </a:r>
          </a:p>
          <a:p>
            <a:pPr lvl="0" indent="0" marL="0">
              <a:buNone/>
            </a:pPr>
          </a:p>
          <a:p>
            <a:pPr lvl="0" indent="0" marL="0">
              <a:buNone/>
            </a:pPr>
            <a:r>
              <a:rPr/>
              <a:t>Target: 1:50. Three cases: same box → keep the one closer to the corner; existing member dominates candidate → reject; candidate dominates existing → mark for removal. Tie-breaking by corner distance gives clean coverage.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40 random points scattered all over objective space. Archive starts as whatever subset is mutually non-dominated under the ε-grid.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1:52. The mix of (a) parents from archive and (b) parents from current pop, plus (c) occasional fresh random samples, prevents premature collapse and keeps the corners reachable. Saving snapshots lets us animate the run.</a:t>
            </a:r>
          </a:p>
          <a:p>
            <a:pPr lvl="0" indent="0" marL="0">
              <a:buNone/>
            </a:pPr>
          </a:p>
          <a:p>
            <a:pPr lvl="0" indent="0" marL="0">
              <a:buNone/>
            </a:pPr>
            <a:r>
              <a:rPr/>
              <a:t>Target: 1:55. Random scatter → quick collapse onto the front → progressive filling-in along the curve, including the corners. Nothing in the algorithm knows the analytical front exists — just dominance + mutation + ε-bookkeeping. Real MOEAs (NSGA-II, Borg) add smarter recombination, but the conceptual machinery is identical.</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1:56. Quick section — 5 min.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Each vertical axis is one objective; each colored line is a solution. Solutions good on reliability tend to be worse on cost. Color = model case. Water portfolio problem in the Rio Grande Valley. ~1000 non-dominated solutions across 6 objectives.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Preview Lab 10: students will generate a Pareto front for the house elevation problem.</a:t>
            </a:r>
          </a:p>
          <a:p>
            <a:pPr lvl="0" indent="0" marL="0">
              <a:buNone/>
            </a:pPr>
          </a:p>
          <a:p>
            <a:pPr lvl="0" indent="0" marL="0">
              <a:buNone/>
            </a:pPr>
            <a:r>
              <a:rPr/>
              <a:t>Target: 1:52. Counterweight to the motivation. MOO is powerful but not free. Most student projects have 2–3 meaningful objectives at most.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1:53. Recap before Looking Ahead. Emphasize the division of labor — that is the key conceptual takeaway distinguishing MOO from BCA.</a:t>
            </a:r>
          </a:p>
          <a:p>
            <a:pPr lvl="0" indent="0" marL="0">
              <a:buNone/>
            </a:pPr>
          </a:p>
          <a:p>
            <a:pPr lvl="0" indent="0" marL="0">
              <a:buNone/>
            </a:pPr>
            <a:r>
              <a:rPr/>
              <a:t>Target: 1:53. End class here. Madison leads Wednesday — students should read Yang et al. with attention to: (1) what are the objectives? (2) how is the Pareto front generated and interpreted? (3) how do the authors handle trade-offs with decision-makers?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6.gif"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doi.org/10.1016/j.envsoft.2012.12.007" TargetMode="External" /><Relationship Id="rId4" Type="http://schemas.openxmlformats.org/officeDocument/2006/relationships/hyperlink" Target="https://doi.org/10.1103/PhysRevAccelBeams.25.062002" TargetMode="External" /><Relationship Id="rId5" Type="http://schemas.openxmlformats.org/officeDocument/2006/relationships/hyperlink" Target="https://doi.org/10.1007/s11269-023-03470-8"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Multi-Objective Optimization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2026-04-06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Today: Two Ideas Combined</a:t>
            </a:r>
          </a:p>
          <a:p>
            <a:pPr lvl="0" indent="0" marL="0">
              <a:buNone/>
            </a:pPr>
            <a:r>
              <a:rPr/>
              <a:t>We are combining two threads from earlier in the course:</a:t>
            </a:r>
          </a:p>
          <a:p>
            <a:pPr lvl="0"/>
            <a:r>
              <a:rPr b="1"/>
              <a:t>Multiple criteria</a:t>
            </a:r>
            <a:r>
              <a:rPr/>
              <a:t> (from the Values lecture): some things are hard to compare on a single scale.</a:t>
            </a:r>
          </a:p>
          <a:p>
            <a:pPr lvl="0"/>
            <a:r>
              <a:rPr b="1"/>
              <a:t>Optimization / policy search</a:t>
            </a:r>
            <a:r>
              <a:rPr/>
              <a:t> (from the Optimal Decisions lecture): search a decision space for good actions.</a:t>
            </a:r>
          </a:p>
          <a:p>
            <a:pPr lvl="0" indent="0" marL="0">
              <a:buNone/>
            </a:pPr>
            <a:r>
              <a:rPr/>
              <a:t>Today: search a decision space when </a:t>
            </a:r>
            <a:r>
              <a:rPr i="1"/>
              <a:t>several</a:t>
            </a:r>
            <a:r>
              <a:rPr/>
              <a:t> objectives matter, without collapsing them into one number.</a:t>
            </a:r>
          </a:p>
          <a:p>
            <a:pPr lvl="0" indent="0" marL="0">
              <a:spcBef>
                <a:spcPts val="3000"/>
              </a:spcBef>
              <a:buNone/>
            </a:pPr>
            <a:r>
              <a:rPr b="1"/>
              <a:t>MCA vs. MOO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Multi-Criteria Analysis</a:t>
            </a:r>
          </a:p>
          <a:p>
            <a:pPr lvl="0"/>
            <a:r>
              <a:rPr/>
              <a:t>Fixed list of alternatives</a:t>
            </a:r>
          </a:p>
          <a:p>
            <a:pPr lvl="0"/>
            <a:r>
              <a:rPr/>
              <a:t>Score each on each criterion</a:t>
            </a:r>
          </a:p>
          <a:p>
            <a:pPr lvl="0"/>
            <a:r>
              <a:rPr/>
              <a:t>Aggregate via weights → ranking</a:t>
            </a:r>
          </a:p>
          <a:p>
            <a:pPr lvl="0"/>
            <a:r>
              <a:rPr i="1"/>
              <a:t>Scoring</a:t>
            </a:r>
            <a:r>
              <a:rPr/>
              <a:t> a given menu</a:t>
            </a:r>
          </a:p>
        </p:txBody>
      </p:sp>
      <p:sp>
        <p:nvSpPr>
          <p:cNvPr id="4" name="Content Placeholder 3"/>
          <p:cNvSpPr>
            <a:spLocks noGrp="1"/>
          </p:cNvSpPr>
          <p:nvPr>
            <p:ph idx="2" sz="half"/>
          </p:nvPr>
        </p:nvSpPr>
        <p:spPr/>
        <p:txBody>
          <a:bodyPr/>
          <a:lstStyle/>
          <a:p>
            <a:pPr lvl="0" indent="0" marL="0">
              <a:buNone/>
            </a:pPr>
            <a:r>
              <a:rPr b="1"/>
              <a:t>Multi-Objective Optimization</a:t>
            </a:r>
          </a:p>
          <a:p>
            <a:pPr lvl="0"/>
            <a:r>
              <a:rPr/>
              <a:t>Alternatives generated by search</a:t>
            </a:r>
          </a:p>
          <a:p>
            <a:pPr lvl="0"/>
            <a:r>
              <a:rPr/>
              <a:t>Objectives kept separate</a:t>
            </a:r>
          </a:p>
          <a:p>
            <a:pPr lvl="0"/>
            <a:r>
              <a:rPr/>
              <a:t>Output: a </a:t>
            </a:r>
            <a:r>
              <a:rPr i="1"/>
              <a:t>set</a:t>
            </a:r>
            <a:r>
              <a:rPr/>
              <a:t> of trade-off solutions</a:t>
            </a:r>
          </a:p>
          <a:p>
            <a:pPr lvl="0"/>
            <a:r>
              <a:rPr i="1"/>
              <a:t>Discovering</a:t>
            </a:r>
            <a:r>
              <a:rPr/>
              <a:t> trade-offs and generating new alternatives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Multiple Conflicting Objectives</a:t>
                </a:r>
              </a:p>
              <a:p>
                <a:pPr lvl="0" indent="0" marL="0">
                  <a:buNone/>
                </a:pPr>
                <a14:m>
                  <m:oMathPara xmlns:m="http://schemas.openxmlformats.org/officeDocument/2006/math">
                    <m:oMathParaPr>
                      <m:jc m:val="center"/>
                    </m:oMathParaPr>
                    <m:oMath>
                      <m:limLow>
                        <m:e>
                          <m:r>
                            <m:rPr>
                              <m:sty m:val="p"/>
                            </m:rPr>
                            <m:t>min</m:t>
                          </m:r>
                        </m:e>
                        <m:lim>
                          <m:r>
                            <m:t>a</m:t>
                          </m:r>
                        </m:lim>
                      </m:limLow>
                      <m:r>
                        <m:t> </m:t>
                      </m:r>
                      <m:r>
                        <m:rPr>
                          <m:sty m:val="p"/>
                        </m:rPr>
                        <m:t>{</m:t>
                      </m:r>
                      <m:sSub>
                        <m:e>
                          <m:r>
                            <m:t>f</m:t>
                          </m:r>
                        </m:e>
                        <m:sub>
                          <m:r>
                            <m:t>1</m:t>
                          </m:r>
                        </m:sub>
                      </m:sSub>
                      <m:r>
                        <m:rPr>
                          <m:sty m:val="p"/>
                        </m:rPr>
                        <m:t>(</m:t>
                      </m:r>
                      <m:r>
                        <m:t>a</m:t>
                      </m:r>
                      <m:r>
                        <m:rPr>
                          <m:sty m:val="p"/>
                        </m:rPr>
                        <m:t>)</m:t>
                      </m:r>
                      <m:r>
                        <m:rPr>
                          <m:sty m:val="p"/>
                        </m:rPr>
                        <m:t>,</m:t>
                      </m:r>
                      <m:r>
                        <m:t> </m:t>
                      </m:r>
                      <m:sSub>
                        <m:e>
                          <m:r>
                            <m:t>f</m:t>
                          </m:r>
                        </m:e>
                        <m:sub>
                          <m:r>
                            <m:t>2</m:t>
                          </m:r>
                        </m:sub>
                      </m:sSub>
                      <m:r>
                        <m:rPr>
                          <m:sty m:val="p"/>
                        </m:rPr>
                        <m:t>(</m:t>
                      </m:r>
                      <m:r>
                        <m:t>a</m:t>
                      </m:r>
                      <m:r>
                        <m:rPr>
                          <m:sty m:val="p"/>
                        </m:rPr>
                        <m:t>)</m:t>
                      </m:r>
                      <m:r>
                        <m:rPr>
                          <m:sty m:val="p"/>
                        </m:rPr>
                        <m:t>,</m:t>
                      </m:r>
                      <m:r>
                        <m:t> </m:t>
                      </m:r>
                      <m:r>
                        <m:rPr>
                          <m:sty m:val="p"/>
                        </m:rPr>
                        <m:t>…</m:t>
                      </m:r>
                      <m:r>
                        <m:rPr>
                          <m:sty m:val="p"/>
                        </m:rPr>
                        <m:t>,</m:t>
                      </m:r>
                      <m:r>
                        <m:t> </m:t>
                      </m:r>
                      <m:sSub>
                        <m:e>
                          <m:r>
                            <m:t>f</m:t>
                          </m:r>
                        </m:e>
                        <m:sub>
                          <m:r>
                            <m:t>k</m:t>
                          </m:r>
                        </m:sub>
                      </m:sSub>
                      <m:r>
                        <m:rPr>
                          <m:sty m:val="p"/>
                        </m:rPr>
                        <m:t>(</m:t>
                      </m:r>
                      <m:r>
                        <m:t>a</m:t>
                      </m:r>
                      <m:r>
                        <m:rPr>
                          <m:sty m:val="p"/>
                        </m:rPr>
                        <m:t>)</m:t>
                      </m:r>
                      <m:r>
                        <m:rPr>
                          <m:sty m:val="p"/>
                        </m:rPr>
                        <m:t>}</m:t>
                      </m:r>
                    </m:oMath>
                  </m:oMathPara>
                </a14:m>
              </a:p>
              <a:p>
                <a:pPr lvl="0" indent="0" marL="0">
                  <a:buNone/>
                </a:pPr>
                <a:r>
                  <a:rPr/>
                  <a:t>. . .</a:t>
                </a:r>
              </a:p>
              <a:p>
                <a:pPr lvl="0" indent="0" marL="0">
                  <a:buNone/>
                </a:pPr>
                <a:r>
                  <a:rPr b="1"/>
                  <a:t>Coastal adaptation example:</a:t>
                </a:r>
              </a:p>
              <a:p>
                <a:pPr lvl="0"/>
                <a14:m>
                  <m:oMath xmlns:m="http://schemas.openxmlformats.org/officeDocument/2006/math">
                    <m:sSub>
                      <m:e>
                        <m:r>
                          <m:t>f</m:t>
                        </m:r>
                      </m:e>
                      <m:sub>
                        <m:r>
                          <m:t>1</m:t>
                        </m:r>
                      </m:sub>
                    </m:sSub>
                    <m:r>
                      <m:rPr>
                        <m:sty m:val="p"/>
                      </m:rPr>
                      <m:t>(</m:t>
                    </m:r>
                    <m:r>
                      <m:t>a</m:t>
                    </m:r>
                    <m:r>
                      <m:rPr>
                        <m:sty m:val="p"/>
                      </m:rPr>
                      <m:t>)</m:t>
                    </m:r>
                  </m:oMath>
                </a14:m>
                <a:r>
                  <a:rPr/>
                  <a:t>: expected flood damages</a:t>
                </a:r>
              </a:p>
              <a:p>
                <a:pPr lvl="0"/>
                <a14:m>
                  <m:oMath xmlns:m="http://schemas.openxmlformats.org/officeDocument/2006/math">
                    <m:sSub>
                      <m:e>
                        <m:r>
                          <m:t>f</m:t>
                        </m:r>
                      </m:e>
                      <m:sub>
                        <m:r>
                          <m:t>2</m:t>
                        </m:r>
                      </m:sub>
                    </m:sSub>
                    <m:r>
                      <m:rPr>
                        <m:sty m:val="p"/>
                      </m:rPr>
                      <m:t>(</m:t>
                    </m:r>
                    <m:r>
                      <m:t>a</m:t>
                    </m:r>
                    <m:r>
                      <m:rPr>
                        <m:sty m:val="p"/>
                      </m:rPr>
                      <m:t>)</m:t>
                    </m:r>
                  </m:oMath>
                </a14:m>
                <a:r>
                  <a:rPr/>
                  <a:t>: construction cost</a:t>
                </a:r>
              </a:p>
              <a:p>
                <a:pPr lvl="0" indent="0" marL="0">
                  <a:buNone/>
                </a:pPr>
                <a:r>
                  <a:rPr/>
                  <a:t>Improving </a:t>
                </a:r>
                <a14:m>
                  <m:oMath xmlns:m="http://schemas.openxmlformats.org/officeDocument/2006/math">
                    <m:sSub>
                      <m:e>
                        <m:r>
                          <m:t>f</m:t>
                        </m:r>
                      </m:e>
                      <m:sub>
                        <m:r>
                          <m:t>1</m:t>
                        </m:r>
                      </m:sub>
                    </m:sSub>
                  </m:oMath>
                </a14:m>
                <a:r>
                  <a:rPr/>
                  <a:t> generally requires accepting worse </a:t>
                </a:r>
                <a14:m>
                  <m:oMath xmlns:m="http://schemas.openxmlformats.org/officeDocument/2006/math">
                    <m:sSub>
                      <m:e>
                        <m:r>
                          <m:t>f</m:t>
                        </m:r>
                      </m:e>
                      <m:sub>
                        <m:r>
                          <m:t>2</m:t>
                        </m:r>
                      </m:sub>
                    </m:sSub>
                  </m:oMath>
                </a14:m>
                <a:r>
                  <a:rPr/>
                  <a:t>.</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Dominance and Pareto Optimality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What Does “Better” Mean?</a:t>
                </a:r>
              </a:p>
              <a:p>
                <a:pPr lvl="0" indent="0" marL="0">
                  <a:buNone/>
                </a:pPr>
                <a:r>
                  <a:rPr b="1"/>
                  <a:t>Dominance:</a:t>
                </a:r>
                <a:r>
                  <a:rPr/>
                  <a:t> Solution </a:t>
                </a:r>
                <a14:m>
                  <m:oMath xmlns:m="http://schemas.openxmlformats.org/officeDocument/2006/math">
                    <m:r>
                      <m:t>a</m:t>
                    </m:r>
                  </m:oMath>
                </a14:m>
                <a:r>
                  <a:rPr/>
                  <a:t> </a:t>
                </a:r>
                <a:r>
                  <a:rPr b="1"/>
                  <a:t>dominates</a:t>
                </a:r>
                <a:r>
                  <a:rPr/>
                  <a:t> solution </a:t>
                </a:r>
                <a14:m>
                  <m:oMath xmlns:m="http://schemas.openxmlformats.org/officeDocument/2006/math">
                    <m:r>
                      <m:t>b</m:t>
                    </m:r>
                  </m:oMath>
                </a14:m>
                <a:r>
                  <a:rPr/>
                  <a:t> if:</a:t>
                </a:r>
              </a:p>
              <a:p>
                <a:pPr lvl="0"/>
                <a14:m>
                  <m:oMath xmlns:m="http://schemas.openxmlformats.org/officeDocument/2006/math">
                    <m:r>
                      <m:t>a</m:t>
                    </m:r>
                  </m:oMath>
                </a14:m>
                <a:r>
                  <a:rPr/>
                  <a:t> is </a:t>
                </a:r>
                <a:r>
                  <a:rPr b="1"/>
                  <a:t>at least as good</a:t>
                </a:r>
                <a:r>
                  <a:rPr/>
                  <a:t> as </a:t>
                </a:r>
                <a14:m>
                  <m:oMath xmlns:m="http://schemas.openxmlformats.org/officeDocument/2006/math">
                    <m:r>
                      <m:t>b</m:t>
                    </m:r>
                  </m:oMath>
                </a14:m>
                <a:r>
                  <a:rPr/>
                  <a:t> on every objective</a:t>
                </a:r>
              </a:p>
              <a:p>
                <a:pPr lvl="0"/>
                <a14:m>
                  <m:oMath xmlns:m="http://schemas.openxmlformats.org/officeDocument/2006/math">
                    <m:r>
                      <m:t>a</m:t>
                    </m:r>
                  </m:oMath>
                </a14:m>
                <a:r>
                  <a:rPr/>
                  <a:t> is </a:t>
                </a:r>
                <a:r>
                  <a:rPr b="1"/>
                  <a:t>strictly better</a:t>
                </a:r>
                <a:r>
                  <a:rPr/>
                  <a:t> than </a:t>
                </a:r>
                <a14:m>
                  <m:oMath xmlns:m="http://schemas.openxmlformats.org/officeDocument/2006/math">
                    <m:r>
                      <m:t>b</m:t>
                    </m:r>
                  </m:oMath>
                </a14:m>
                <a:r>
                  <a:rPr/>
                  <a:t> on at least one objective</a:t>
                </a:r>
              </a:p>
              <a:p>
                <a:pPr lvl="0" indent="0" marL="0">
                  <a:buNone/>
                </a:pPr>
                <a:r>
                  <a:rPr/>
                  <a:t>. . .</a:t>
                </a:r>
              </a:p>
              <a:p>
                <a:pPr lvl="0" indent="0" marL="0">
                  <a:buNone/>
                </a:pPr>
                <a:r>
                  <a:rPr/>
                  <a:t>If </a:t>
                </a:r>
                <a14:m>
                  <m:oMath xmlns:m="http://schemas.openxmlformats.org/officeDocument/2006/math">
                    <m:r>
                      <m:t>a</m:t>
                    </m:r>
                  </m:oMath>
                </a14:m>
                <a:r>
                  <a:rPr/>
                  <a:t> dominates </a:t>
                </a:r>
                <a14:m>
                  <m:oMath xmlns:m="http://schemas.openxmlformats.org/officeDocument/2006/math">
                    <m:r>
                      <m:t>b</m:t>
                    </m:r>
                  </m:oMath>
                </a14:m>
                <a:r>
                  <a:rPr/>
                  <a:t>, there is no reason to choose </a:t>
                </a:r>
                <a14:m>
                  <m:oMath xmlns:m="http://schemas.openxmlformats.org/officeDocument/2006/math">
                    <m:r>
                      <m:t>b</m:t>
                    </m:r>
                  </m:oMath>
                </a14:m>
                <a:r>
                  <a:rPr/>
                  <a:t>.</a:t>
                </a:r>
              </a:p>
              <a:p>
                <a:pPr lvl="0" indent="0" marL="0">
                  <a:spcBef>
                    <a:spcPts val="3000"/>
                  </a:spcBef>
                  <a:buNone/>
                </a:pPr>
                <a:r>
                  <a:rPr b="1"/>
                  <a:t>Which solutions dominate?</a:t>
                </a:r>
              </a:p>
              <a:p>
                <a:pPr lvl="0"/>
                <a:r>
                  <a:rPr/>
                  <a:t>A vs. B? A is cheaper, B has lower damages → neither dominates.</a:t>
                </a:r>
              </a:p>
              <a:p>
                <a:pPr lvl="0"/>
                <a:r>
                  <a:rPr/>
                  <a:t>B vs. C? B is cheaper, C has slightly lower damages → neither dominates.</a:t>
                </a:r>
              </a:p>
              <a:p>
                <a:pPr lvl="0"/>
                <a:r>
                  <a:rPr/>
                  <a:t>The Pareto front is {A, B, C}.</a:t>
                </a:r>
              </a:p>
              <a:p>
                <a:pPr lvl="0" indent="0" marL="0">
                  <a:spcBef>
                    <a:spcPts val="3000"/>
                  </a:spcBef>
                  <a:buNone/>
                </a:pPr>
                <a:r>
                  <a:rPr b="1"/>
                  <a:t>Your Turn: Which are Dominated?</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Both objectives are </a:t>
            </a:r>
            <a:r>
              <a:rPr b="1"/>
              <a:t>minimized</a:t>
            </a:r>
            <a:r>
              <a:rPr/>
              <a:t> (lower-left is better).</a:t>
            </a:r>
          </a:p>
          <a:p>
            <a:pPr lvl="0" indent="0" marL="0">
              <a:buNone/>
            </a:pPr>
            <a:r>
              <a:rPr/>
              <a:t>Identify every dominated solution.</a:t>
            </a:r>
          </a:p>
          <a:p>
            <a:pPr lvl="0" indent="0" marL="0">
              <a:buNone/>
            </a:pPr>
            <a:r>
              <a:rPr/>
              <a:t>The star marks the (infeasible) ideal point.</a:t>
            </a:r>
          </a:p>
        </p:txBody>
      </p:sp>
      <p:sp>
        <p:nvSpPr>
          <p:cNvPr id="5" name="Text Placeholder 4"/>
          <p:cNvSpPr>
            <a:spLocks noGrp="1"/>
          </p:cNvSpPr>
          <p:nvPr>
            <p:ph idx="3" sz="quarter" type="body"/>
          </p:nvPr>
        </p:nvSpPr>
        <p:spPr/>
        <p:txBody>
          <a:bodyPr/>
          <a:lstStyle/>
          <a:p>
            <a:pPr lvl="0" indent="0">
              <a:buNone/>
            </a:pPr>
            <a:r>
              <a:rPr b="1">
                <a:solidFill>
                  <a:srgbClr val="003B4F"/>
                </a:solidFill>
                <a:latin typeface="Courier"/>
              </a:rPr>
              <a:t>let</a:t>
            </a:r>
            <a:br/>
            <a:r>
              <a:rPr>
                <a:solidFill>
                  <a:srgbClr val="003B4F"/>
                </a:solidFill>
                <a:latin typeface="Courier"/>
              </a:rPr>
              <a:t>    points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1: front</a:t>
            </a:r>
            <a:b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2: front</a:t>
            </a:r>
            <a:b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3: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4: front</a:t>
            </a:r>
            <a:b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2.6</a:t>
            </a:r>
            <a:r>
              <a:rPr>
                <a:solidFill>
                  <a:srgbClr val="003B4F"/>
                </a:solidFill>
                <a:latin typeface="Courier"/>
              </a:rPr>
              <a:t>),  </a:t>
            </a:r>
            <a:r>
              <a:rPr>
                <a:solidFill>
                  <a:srgbClr val="5E5E5E"/>
                </a:solidFill>
                <a:latin typeface="Courier"/>
              </a:rPr>
              <a:t># 5: dominated by 2</a:t>
            </a:r>
            <a:b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5E5E5E"/>
                </a:solidFill>
                <a:latin typeface="Courier"/>
              </a:rPr>
              <a:t># 6: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2.8</a:t>
            </a:r>
            <a:r>
              <a:rPr>
                <a:solidFill>
                  <a:srgbClr val="003B4F"/>
                </a:solidFill>
                <a:latin typeface="Courier"/>
              </a:rPr>
              <a:t>),  </a:t>
            </a:r>
            <a:r>
              <a:rPr>
                <a:solidFill>
                  <a:srgbClr val="5E5E5E"/>
                </a:solidFill>
                <a:latin typeface="Courier"/>
              </a:rPr>
              <a:t># 7: dominated by 3</a:t>
            </a:r>
            <a:b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3.2</a:t>
            </a:r>
            <a:r>
              <a:rPr>
                <a:solidFill>
                  <a:srgbClr val="003B4F"/>
                </a:solidFill>
                <a:latin typeface="Courier"/>
              </a:rPr>
              <a:t>),  </a:t>
            </a:r>
            <a:r>
              <a:rPr>
                <a:solidFill>
                  <a:srgbClr val="5E5E5E"/>
                </a:solidFill>
                <a:latin typeface="Courier"/>
              </a:rPr>
              <a:t># 8: front</a:t>
            </a:r>
            <a:br/>
            <a:r>
              <a:rPr>
                <a:solidFill>
                  <a:srgbClr val="003B4F"/>
                </a:solidFill>
                <a:latin typeface="Courier"/>
              </a:rPr>
              <a:t>    ]</a:t>
            </a:r>
            <a:br/>
            <a:r>
              <a:rPr>
                <a:solidFill>
                  <a:srgbClr val="003B4F"/>
                </a:solidFill>
                <a:latin typeface="Courier"/>
              </a:rPr>
              <a:t>    labels </a:t>
            </a:r>
            <a:r>
              <a:rPr>
                <a:solidFill>
                  <a:srgbClr val="5E5E5E"/>
                </a:solidFill>
                <a:latin typeface="Courier"/>
              </a:rPr>
              <a:t>=</a:t>
            </a:r>
            <a:r>
              <a:rPr>
                <a:solidFill>
                  <a:srgbClr val="003B4F"/>
                </a:solidFill>
                <a:latin typeface="Courier"/>
              </a:rPr>
              <a:t> [</a:t>
            </a:r>
            <a:r>
              <a:rPr>
                <a:solidFill>
                  <a:srgbClr val="20794D"/>
                </a:solidFill>
                <a:latin typeface="Courier"/>
              </a:rPr>
              <a:t>"1"</a:t>
            </a:r>
            <a:r>
              <a:rPr>
                <a:solidFill>
                  <a:srgbClr val="003B4F"/>
                </a:solidFill>
                <a:latin typeface="Courier"/>
              </a:rPr>
              <a:t>, </a:t>
            </a:r>
            <a:r>
              <a:rPr>
                <a:solidFill>
                  <a:srgbClr val="20794D"/>
                </a:solidFill>
                <a:latin typeface="Courier"/>
              </a:rPr>
              <a:t>"2"</a:t>
            </a:r>
            <a:r>
              <a:rPr>
                <a:solidFill>
                  <a:srgbClr val="003B4F"/>
                </a:solidFill>
                <a:latin typeface="Courier"/>
              </a:rPr>
              <a:t>, </a:t>
            </a:r>
            <a:r>
              <a:rPr>
                <a:solidFill>
                  <a:srgbClr val="20794D"/>
                </a:solidFill>
                <a:latin typeface="Courier"/>
              </a:rPr>
              <a:t>"3"</a:t>
            </a:r>
            <a:r>
              <a:rPr>
                <a:solidFill>
                  <a:srgbClr val="003B4F"/>
                </a:solidFill>
                <a:latin typeface="Courier"/>
              </a:rPr>
              <a:t>, </a:t>
            </a:r>
            <a:r>
              <a:rPr>
                <a:solidFill>
                  <a:srgbClr val="20794D"/>
                </a:solidFill>
                <a:latin typeface="Courier"/>
              </a:rPr>
              <a:t>"4"</a:t>
            </a:r>
            <a:r>
              <a:rPr>
                <a:solidFill>
                  <a:srgbClr val="003B4F"/>
                </a:solidFill>
                <a:latin typeface="Courier"/>
              </a:rPr>
              <a:t>, </a:t>
            </a:r>
            <a:r>
              <a:rPr>
                <a:solidFill>
                  <a:srgbClr val="20794D"/>
                </a:solidFill>
                <a:latin typeface="Courier"/>
              </a:rPr>
              <a:t>"5"</a:t>
            </a:r>
            <a:r>
              <a:rPr>
                <a:solidFill>
                  <a:srgbClr val="003B4F"/>
                </a:solidFill>
                <a:latin typeface="Courier"/>
              </a:rPr>
              <a:t>, </a:t>
            </a:r>
            <a:r>
              <a:rPr>
                <a:solidFill>
                  <a:srgbClr val="20794D"/>
                </a:solidFill>
                <a:latin typeface="Courier"/>
              </a:rPr>
              <a:t>"6"</a:t>
            </a:r>
            <a:r>
              <a:rPr>
                <a:solidFill>
                  <a:srgbClr val="003B4F"/>
                </a:solidFill>
                <a:latin typeface="Courier"/>
              </a:rPr>
              <a:t>, </a:t>
            </a:r>
            <a:r>
              <a:rPr>
                <a:solidFill>
                  <a:srgbClr val="20794D"/>
                </a:solidFill>
                <a:latin typeface="Courier"/>
              </a:rPr>
              <a:t>"7"</a:t>
            </a:r>
            <a:r>
              <a:rPr>
                <a:solidFill>
                  <a:srgbClr val="003B4F"/>
                </a:solidFill>
                <a:latin typeface="Courier"/>
              </a:rPr>
              <a:t>, </a:t>
            </a:r>
            <a:r>
              <a:rPr>
                <a:solidFill>
                  <a:srgbClr val="20794D"/>
                </a:solidFill>
                <a:latin typeface="Courier"/>
              </a:rPr>
              <a:t>"8"</a:t>
            </a:r>
            <a:r>
              <a:rPr>
                <a:solidFill>
                  <a:srgbClr val="003B4F"/>
                </a:solidFill>
                <a:latin typeface="Courier"/>
              </a:rPr>
              <a:t>]</a:t>
            </a:r>
            <a:b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460</a:t>
            </a:r>
            <a:r>
              <a:rPr>
                <a:solidFill>
                  <a:srgbClr val="003B4F"/>
                </a:solidFill>
                <a:latin typeface="Courier"/>
              </a:rPr>
              <a:t>, </a:t>
            </a:r>
            <a:r>
              <a:rPr>
                <a:solidFill>
                  <a:srgbClr val="AD0000"/>
                </a:solidFill>
                <a:latin typeface="Courier"/>
              </a:rPr>
              <a:t>420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a:t>
            </a:r>
            <a:br/>
            <a:r>
              <a:rPr>
                <a:solidFill>
                  <a:srgbClr val="003B4F"/>
                </a:solidFill>
                <a:latin typeface="Courier"/>
              </a:rPr>
              <a:t>        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xticksvisible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xticklabelsvisible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br/>
            <a:br/>
            <a:r>
              <a:rPr>
                <a:solidFill>
                  <a:srgbClr val="003B4F"/>
                </a:solidFill>
                <a:latin typeface="Courier"/>
              </a:rPr>
              <a:t>    </a:t>
            </a:r>
            <a:r>
              <a:rPr>
                <a:solidFill>
                  <a:srgbClr val="4758AB"/>
                </a:solidFill>
                <a:latin typeface="Courier"/>
              </a:rPr>
              <a:t>scatter!</a:t>
            </a:r>
            <a:r>
              <a:rPr>
                <a:solidFill>
                  <a:srgbClr val="003B4F"/>
                </a:solidFill>
                <a:latin typeface="Courier"/>
              </a:rPr>
              <a:t>(ax, [</a:t>
            </a:r>
            <a:r>
              <a:rPr>
                <a:solidFill>
                  <a:srgbClr val="AD0000"/>
                </a:solidFill>
                <a:latin typeface="Courier"/>
              </a:rPr>
              <a:t>0.4</a:t>
            </a:r>
            <a:r>
              <a:rPr>
                <a:solidFill>
                  <a:srgbClr val="003B4F"/>
                </a:solidFill>
                <a:latin typeface="Courier"/>
              </a:rPr>
              <a:t>], [</a:t>
            </a:r>
            <a:r>
              <a:rPr>
                <a:solidFill>
                  <a:srgbClr val="AD0000"/>
                </a:solidFill>
                <a:latin typeface="Courier"/>
              </a:rPr>
              <a:t>0.5</a:t>
            </a:r>
            <a:r>
              <a:rPr>
                <a:solidFill>
                  <a:srgbClr val="003B4F"/>
                </a:solidFill>
                <a:latin typeface="Courier"/>
              </a:rPr>
              <a:t>]; marker</a:t>
            </a:r>
            <a:r>
              <a:rPr>
                <a:solidFill>
                  <a:srgbClr val="5E5E5E"/>
                </a:solidFill>
                <a:latin typeface="Courier"/>
              </a:rPr>
              <a:t>=:</a:t>
            </a:r>
            <a:r>
              <a:rPr>
                <a:solidFill>
                  <a:srgbClr val="003B4F"/>
                </a:solidFill>
                <a:latin typeface="Courier"/>
              </a:rPr>
              <a:t>star5, markersize</a:t>
            </a:r>
            <a:r>
              <a:rPr>
                <a:solidFill>
                  <a:srgbClr val="5E5E5E"/>
                </a:solidFill>
                <a:latin typeface="Courier"/>
              </a:rPr>
              <a:t>=</a:t>
            </a:r>
            <a:r>
              <a:rPr>
                <a:solidFill>
                  <a:srgbClr val="AD0000"/>
                </a:solidFill>
                <a:latin typeface="Courier"/>
              </a:rPr>
              <a:t>28</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r>
              <a:rPr>
                <a:solidFill>
                  <a:srgbClr val="003B4F"/>
                </a:solidFill>
                <a:latin typeface="Courier"/>
              </a:rPr>
              <a:t>    </a:t>
            </a:r>
            <a:r>
              <a:rPr>
                <a:solidFill>
                  <a:srgbClr val="4758AB"/>
                </a:solidFill>
                <a:latin typeface="Courier"/>
              </a:rPr>
              <a:t>text!</a:t>
            </a:r>
            <a:r>
              <a:rPr>
                <a:solidFill>
                  <a:srgbClr val="003B4F"/>
                </a:solidFill>
                <a:latin typeface="Courier"/>
              </a:rPr>
              <a:t>(ax, </a:t>
            </a:r>
            <a:r>
              <a:rPr>
                <a:solidFill>
                  <a:srgbClr val="AD0000"/>
                </a:solidFill>
                <a:latin typeface="Courier"/>
              </a:rPr>
              <a:t>0.6</a:t>
            </a:r>
            <a:r>
              <a:rPr>
                <a:solidFill>
                  <a:srgbClr val="003B4F"/>
                </a:solidFill>
                <a:latin typeface="Courier"/>
              </a:rPr>
              <a:t>, </a:t>
            </a:r>
            <a:r>
              <a:rPr>
                <a:solidFill>
                  <a:srgbClr val="AD0000"/>
                </a:solidFill>
                <a:latin typeface="Courier"/>
              </a:rPr>
              <a:t>0.55</a:t>
            </a:r>
            <a:r>
              <a:rPr>
                <a:solidFill>
                  <a:srgbClr val="003B4F"/>
                </a:solidFill>
                <a:latin typeface="Courier"/>
              </a:rPr>
              <a:t>; text</a:t>
            </a:r>
            <a:r>
              <a:rPr>
                <a:solidFill>
                  <a:srgbClr val="5E5E5E"/>
                </a:solidFill>
                <a:latin typeface="Courier"/>
              </a:rPr>
              <a:t>=</a:t>
            </a:r>
            <a:r>
              <a:rPr>
                <a:solidFill>
                  <a:srgbClr val="20794D"/>
                </a:solidFill>
                <a:latin typeface="Courier"/>
              </a:rPr>
              <a:t>"ideal"</a:t>
            </a:r>
            <a:r>
              <a:rPr>
                <a:solidFill>
                  <a:srgbClr val="003B4F"/>
                </a:solidFill>
                <a:latin typeface="Courier"/>
              </a:rPr>
              <a:t>, fontsize</a:t>
            </a:r>
            <a:r>
              <a:rPr>
                <a:solidFill>
                  <a:srgbClr val="5E5E5E"/>
                </a:solidFill>
                <a:latin typeface="Courier"/>
              </a:rPr>
              <a:t>=</a:t>
            </a:r>
            <a:r>
              <a:rPr>
                <a:solidFill>
                  <a:srgbClr val="AD0000"/>
                </a:solidFill>
                <a:latin typeface="Courier"/>
              </a:rPr>
              <a:t>12</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br/>
            <a:r>
              <a:rPr>
                <a:solidFill>
                  <a:srgbClr val="003B4F"/>
                </a:solidFill>
                <a:latin typeface="Courier"/>
              </a:rPr>
              <a:t>    </a:t>
            </a:r>
            <a:r>
              <a:rPr b="1">
                <a:solidFill>
                  <a:srgbClr val="003B4F"/>
                </a:solidFill>
                <a:latin typeface="Courier"/>
              </a:rPr>
              <a:t>for</a:t>
            </a:r>
            <a:r>
              <a:rPr>
                <a:solidFill>
                  <a:srgbClr val="003B4F"/>
                </a:solidFill>
                <a:latin typeface="Courier"/>
              </a:rPr>
              <a:t> (i, (x, y))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(points)</a:t>
            </a:r>
            <a:br/>
            <a:r>
              <a:rPr>
                <a:solidFill>
                  <a:srgbClr val="003B4F"/>
                </a:solidFill>
                <a:latin typeface="Courier"/>
              </a:rPr>
              <a:t>        </a:t>
            </a:r>
            <a:r>
              <a:rPr>
                <a:solidFill>
                  <a:srgbClr val="4758AB"/>
                </a:solidFill>
                <a:latin typeface="Courier"/>
              </a:rPr>
              <a:t>scatter!</a:t>
            </a:r>
            <a:r>
              <a:rPr>
                <a:solidFill>
                  <a:srgbClr val="003B4F"/>
                </a:solidFill>
                <a:latin typeface="Courier"/>
              </a:rPr>
              <a:t>(ax, [x], [y]; markersize</a:t>
            </a:r>
            <a:r>
              <a:rPr>
                <a:solidFill>
                  <a:srgbClr val="5E5E5E"/>
                </a:solidFill>
                <a:latin typeface="Courier"/>
              </a:rPr>
              <a:t>=</a:t>
            </a:r>
            <a:r>
              <a:rPr>
                <a:solidFill>
                  <a:srgbClr val="AD0000"/>
                </a:solidFill>
                <a:latin typeface="Courier"/>
              </a:rPr>
              <a:t>22</a:t>
            </a:r>
            <a:r>
              <a:rPr>
                <a:solidFill>
                  <a:srgbClr val="003B4F"/>
                </a:solidFill>
                <a:latin typeface="Courier"/>
              </a:rPr>
              <a:t>, color</a:t>
            </a:r>
            <a:r>
              <a:rPr>
                <a:solidFill>
                  <a:srgbClr val="5E5E5E"/>
                </a:solidFill>
                <a:latin typeface="Courier"/>
              </a:rPr>
              <a:t>=:</a:t>
            </a:r>
            <a:r>
              <a:rPr>
                <a:solidFill>
                  <a:srgbClr val="003B4F"/>
                </a:solidFill>
                <a:latin typeface="Courier"/>
              </a:rPr>
              <a:t>steelblue)</a:t>
            </a:r>
            <a:br/>
            <a:r>
              <a:rPr>
                <a:solidFill>
                  <a:srgbClr val="003B4F"/>
                </a:solidFill>
                <a:latin typeface="Courier"/>
              </a:rPr>
              <a:t>        </a:t>
            </a:r>
            <a:r>
              <a:rPr>
                <a:solidFill>
                  <a:srgbClr val="4758AB"/>
                </a:solidFill>
                <a:latin typeface="Courier"/>
              </a:rPr>
              <a:t>text!</a:t>
            </a:r>
            <a:r>
              <a:rPr>
                <a:solidFill>
                  <a:srgbClr val="003B4F"/>
                </a:solidFill>
                <a:latin typeface="Courier"/>
              </a:rPr>
              <a:t>(ax, x </a:t>
            </a:r>
            <a:r>
              <a:rPr>
                <a:solidFill>
                  <a:srgbClr val="5E5E5E"/>
                </a:solidFill>
                <a:latin typeface="Courier"/>
              </a:rPr>
              <a:t>-</a:t>
            </a:r>
            <a:r>
              <a:rPr>
                <a:solidFill>
                  <a:srgbClr val="003B4F"/>
                </a:solidFill>
                <a:latin typeface="Courier"/>
              </a:rPr>
              <a:t> </a:t>
            </a:r>
            <a:r>
              <a:rPr>
                <a:solidFill>
                  <a:srgbClr val="AD0000"/>
                </a:solidFill>
                <a:latin typeface="Courier"/>
              </a:rPr>
              <a:t>0.18</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AD0000"/>
                </a:solidFill>
                <a:latin typeface="Courier"/>
              </a:rPr>
              <a:t>0.22</a:t>
            </a:r>
            <a:r>
              <a:rPr>
                <a:solidFill>
                  <a:srgbClr val="003B4F"/>
                </a:solidFill>
                <a:latin typeface="Courier"/>
              </a:rPr>
              <a:t>; text</a:t>
            </a:r>
            <a:r>
              <a:rPr>
                <a:solidFill>
                  <a:srgbClr val="5E5E5E"/>
                </a:solidFill>
                <a:latin typeface="Courier"/>
              </a:rPr>
              <a:t>=</a:t>
            </a:r>
            <a:r>
              <a:rPr>
                <a:solidFill>
                  <a:srgbClr val="003B4F"/>
                </a:solidFill>
                <a:latin typeface="Courier"/>
              </a:rPr>
              <a:t>labels[i], fontsize</a:t>
            </a:r>
            <a:r>
              <a:rPr>
                <a:solidFill>
                  <a:srgbClr val="5E5E5E"/>
                </a:solidFill>
                <a:latin typeface="Courier"/>
              </a:rPr>
              <a:t>=</a:t>
            </a:r>
            <a:r>
              <a:rPr>
                <a:solidFill>
                  <a:srgbClr val="AD0000"/>
                </a:solidFill>
                <a:latin typeface="Courier"/>
              </a:rPr>
              <a:t>18</a:t>
            </a:r>
            <a:r>
              <a:rPr>
                <a:solidFill>
                  <a:srgbClr val="003B4F"/>
                </a:solidFill>
                <a:latin typeface="Courier"/>
              </a:rPr>
              <a:t>, font</a:t>
            </a:r>
            <a:r>
              <a:rPr>
                <a:solidFill>
                  <a:srgbClr val="5E5E5E"/>
                </a:solidFill>
                <a:latin typeface="Courier"/>
              </a:rPr>
              <a:t>=:</a:t>
            </a:r>
            <a:r>
              <a:rPr>
                <a:solidFill>
                  <a:srgbClr val="003B4F"/>
                </a:solidFill>
                <a:latin typeface="Courier"/>
              </a:rPr>
              <a:t>bold)</a:t>
            </a:r>
            <a:br/>
            <a:r>
              <a:rPr>
                <a:solidFill>
                  <a:srgbClr val="003B4F"/>
                </a:solidFill>
                <a:latin typeface="Courier"/>
              </a:rPr>
              <a:t>    </a:t>
            </a:r>
            <a:r>
              <a:rPr b="1">
                <a:solidFill>
                  <a:srgbClr val="003B4F"/>
                </a:solidFill>
                <a:latin typeface="Courier"/>
              </a:rPr>
              <a:t>end</a:t>
            </a:r>
            <a:br/>
            <a:r>
              <a:rPr>
                <a:solidFill>
                  <a:srgbClr val="003B4F"/>
                </a:solidFill>
                <a:latin typeface="Courier"/>
              </a:rPr>
              <a:t>    fig</a:t>
            </a:r>
            <a:br/>
            <a:r>
              <a:rPr b="1">
                <a:solidFill>
                  <a:srgbClr val="003B4F"/>
                </a:solidFill>
                <a:latin typeface="Courier"/>
              </a:rPr>
              <a:t>end</a:t>
            </a:r>
          </a:p>
        </p:txBody>
      </p:sp>
      <p:pic>
        <p:nvPicPr>
          <p:cNvPr descr="index_files/figure-pptx/fig-dominance-output-1.png" id="0" name="Picture 1"/>
          <p:cNvPicPr>
            <a:picLocks noGrp="1" noChangeAspect="1"/>
          </p:cNvPicPr>
          <p:nvPr/>
        </p:nvPicPr>
        <p:blipFill>
          <a:blip r:embed="rId3"/>
          <a:stretch>
            <a:fillRect/>
          </a:stretch>
        </p:blipFill>
        <p:spPr bwMode="auto">
          <a:xfrm>
            <a:off x="5308600" y="1625600"/>
            <a:ext cx="26797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1: Five candidate solutions in two-objective space; both objectives minimized.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Pareto Front</a:t>
            </a:r>
          </a:p>
        </p:txBody>
      </p:sp>
      <p:pic>
        <p:nvPicPr>
          <p:cNvPr descr="smith_pareto_2022_fig1.png" id="0" name="Picture 1"/>
          <p:cNvPicPr>
            <a:picLocks noGrp="1" noChangeAspect="1"/>
          </p:cNvPicPr>
          <p:nvPr/>
        </p:nvPicPr>
        <p:blipFill>
          <a:blip r:embed="rId3"/>
          <a:stretch>
            <a:fillRect/>
          </a:stretch>
        </p:blipFill>
        <p:spPr bwMode="auto">
          <a:xfrm>
            <a:off x="3568700" y="863600"/>
            <a:ext cx="5105400" cy="25654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A Pareto front in two objectives. Source: Smith et al. (2022)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Multi-Objective Evolutionary Algorithms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How MOEAs Work</a:t>
                </a:r>
              </a:p>
              <a:p>
                <a:pPr lvl="0"/>
                <a:r>
                  <a:rPr/>
                  <a:t>Maintain a </a:t>
                </a:r>
                <a:r>
                  <a:rPr b="1"/>
                  <a:t>population</a:t>
                </a:r>
                <a:r>
                  <a:rPr/>
                  <a:t> of candidate solutions that evolves over generations</a:t>
                </a:r>
              </a:p>
              <a:p>
                <a:pPr lvl="0"/>
                <a:r>
                  <a:rPr b="1"/>
                  <a:t>Selection</a:t>
                </a:r>
                <a:r>
                  <a:rPr/>
                  <a:t> favors non-dominated solutions</a:t>
                </a:r>
              </a:p>
              <a:p>
                <a:pPr lvl="0"/>
                <a:r>
                  <a:rPr b="1"/>
                  <a:t>Diversity preservation</a:t>
                </a:r>
                <a:r>
                  <a:rPr/>
                  <a:t> spreads solutions across the front</a:t>
                </a:r>
              </a:p>
              <a:p>
                <a:pPr lvl="0"/>
                <a:r>
                  <a:rPr/>
                  <a:t>Repeat until convergence</a:t>
                </a:r>
              </a:p>
              <a:p>
                <a:pPr lvl="0" indent="0" marL="0">
                  <a:buNone/>
                </a:pPr>
                <a:r>
                  <a:rPr/>
                  <a:t>. . .</a:t>
                </a:r>
              </a:p>
              <a:p>
                <a:pPr lvl="0" indent="0" marL="0">
                  <a:buNone/>
                </a:pPr>
                <a:r>
                  <a:rPr/>
                  <a:t>Result: a set of solutions approximating the full trade-off curve, including non-convex regions.</a:t>
                </a:r>
              </a:p>
              <a:p>
                <a:pPr lvl="0" indent="0" marL="0">
                  <a:spcBef>
                    <a:spcPts val="3000"/>
                  </a:spcBef>
                  <a:buNone/>
                </a:pPr>
                <a:r>
                  <a:rPr b="1"/>
                  <a:t>Genetic Algorithm Mechanics</a:t>
                </a:r>
              </a:p>
              <a:p>
                <a:pPr lvl="0" indent="0" marL="0">
                  <a:buNone/>
                </a:pPr>
                <a:r>
                  <a:rPr/>
                  <a:t>A GA is stochastic search with a </a:t>
                </a:r>
                <a:r>
                  <a:rPr b="1"/>
                  <a:t>population</a:t>
                </a:r>
                <a:r>
                  <a:rPr/>
                  <a:t> instead of a single point.</a:t>
                </a:r>
              </a:p>
              <a:p>
                <a:pPr lvl="0"/>
                <a:r>
                  <a:rPr b="1"/>
                  <a:t>Population</a:t>
                </a:r>
                <a:r>
                  <a:rPr/>
                  <a:t>: </a:t>
                </a:r>
                <a14:m>
                  <m:oMath xmlns:m="http://schemas.openxmlformats.org/officeDocument/2006/math">
                    <m:r>
                      <m:t>N</m:t>
                    </m:r>
                  </m:oMath>
                </a14:m>
                <a:r>
                  <a:rPr/>
                  <a:t> candidate solutions in the decision space</a:t>
                </a:r>
              </a:p>
              <a:p>
                <a:pPr lvl="0"/>
                <a:r>
                  <a:rPr b="1"/>
                  <a:t>Evaluation</a:t>
                </a:r>
                <a:r>
                  <a:rPr/>
                  <a:t>: compute objectives for every member</a:t>
                </a:r>
              </a:p>
              <a:p>
                <a:pPr lvl="0"/>
                <a:r>
                  <a:rPr b="1"/>
                  <a:t>Selection</a:t>
                </a:r>
                <a:r>
                  <a:rPr/>
                  <a:t>: bias future generations toward better solutions</a:t>
                </a:r>
              </a:p>
              <a:p>
                <a:pPr lvl="0"/>
                <a:r>
                  <a:rPr b="1"/>
                  <a:t>Variation</a:t>
                </a:r>
                <a:r>
                  <a:rPr/>
                  <a:t>: produce offspring via </a:t>
                </a:r>
                <a:r>
                  <a:rPr i="1"/>
                  <a:t>crossover</a:t>
                </a:r>
                <a:r>
                  <a:rPr/>
                  <a:t> (mix two parents) and </a:t>
                </a:r>
                <a:r>
                  <a:rPr i="1"/>
                  <a:t>mutation</a:t>
                </a:r>
                <a:r>
                  <a:rPr/>
                  <a:t> (perturb)</a:t>
                </a:r>
              </a:p>
              <a:p>
                <a:pPr lvl="0"/>
                <a:r>
                  <a:rPr b="1"/>
                  <a:t>Replacement</a:t>
                </a:r>
                <a:r>
                  <a:rPr/>
                  <a:t>: combine parents + offspring, keep the best </a:t>
                </a:r>
                <a14:m>
                  <m:oMath xmlns:m="http://schemas.openxmlformats.org/officeDocument/2006/math">
                    <m:r>
                      <m:t>N</m:t>
                    </m:r>
                  </m:oMath>
                </a14:m>
              </a:p>
              <a:p>
                <a:pPr lvl="0"/>
                <a:r>
                  <a:rPr/>
                  <a:t>Repeat for many generations</a:t>
                </a:r>
              </a:p>
              <a:p>
                <a:pPr lvl="0" indent="0" marL="0">
                  <a:buNone/>
                </a:pPr>
                <a:r>
                  <a:rPr/>
                  <a:t>. . .</a:t>
                </a:r>
              </a:p>
              <a:p>
                <a:pPr lvl="0" indent="0" marL="0">
                  <a:buNone/>
                </a:pPr>
                <a:r>
                  <a:rPr/>
                  <a:t>The population is what makes GAs natural for MOO: many trade-off points evolve at once.</a:t>
                </a:r>
              </a:p>
              <a:p>
                <a:pPr lvl="0" indent="0" marL="0">
                  <a:spcBef>
                    <a:spcPts val="3000"/>
                  </a:spcBef>
                  <a:buNone/>
                </a:pPr>
                <a:r>
                  <a:rPr b="1"/>
                  <a:t>ε-Dominance</a:t>
                </a:r>
              </a:p>
              <a:p>
                <a:pPr lvl="0" indent="0" marL="0">
                  <a:buNone/>
                </a:pPr>
                <a:r>
                  <a:rPr b="1"/>
                  <a:t>Why we need it.</a:t>
                </a:r>
                <a:r>
                  <a:rPr/>
                  <a:t> Plain Pareto dominance has two practical problems:</a:t>
                </a:r>
              </a:p>
              <a:p>
                <a:pPr lvl="0"/>
                <a:r>
                  <a:rPr b="1"/>
                  <a:t>Diversity.</a:t>
                </a:r>
                <a:r>
                  <a:rPr/>
                  <a:t> Nothing stops the archive from clustering many near-identical solutions in one region of the front while leaving other regions empty.</a:t>
                </a:r>
              </a:p>
              <a:p>
                <a:pPr lvl="0"/>
                <a:r>
                  <a:rPr b="1"/>
                  <a:t>Computation.</a:t>
                </a:r>
                <a:r>
                  <a:rPr/>
                  <a:t> The archive can grow without bound — every slightly-different point survives — and every new candidate must be checked against all of them.</a:t>
                </a:r>
              </a:p>
              <a:p>
                <a:pPr lvl="0" indent="0" marL="0">
                  <a:buNone/>
                </a:pPr>
                <a:r>
                  <a:rPr/>
                  <a:t>We want a rule that keeps only solutions that differ by amounts the decision-maker actually cares about.</a:t>
                </a:r>
              </a:p>
              <a:p>
                <a:pPr lvl="0" indent="0" marL="0">
                  <a:spcBef>
                    <a:spcPts val="3000"/>
                  </a:spcBef>
                  <a:buNone/>
                </a:pPr>
                <a:r>
                  <a:rPr b="1"/>
                  <a:t>ε-Boxes</a:t>
                </a:r>
              </a:p>
              <a:p>
                <a:pPr lvl="0" indent="0" marL="0">
                  <a:buNone/>
                </a:pPr>
                <a:r>
                  <a:rPr/>
                  <a:t>Pick a vector </a:t>
                </a:r>
                <a14:m>
                  <m:oMath xmlns:m="http://schemas.openxmlformats.org/officeDocument/2006/math">
                    <m:r>
                      <m:rPr>
                        <m:sty m:val="b"/>
                      </m:rPr>
                      <m:t>ϵ</m:t>
                    </m:r>
                    <m:r>
                      <m:rPr>
                        <m:sty m:val="p"/>
                      </m:rPr>
                      <m:t>=</m:t>
                    </m:r>
                    <m:r>
                      <m:rPr>
                        <m:sty m:val="p"/>
                      </m:rPr>
                      <m:t>(</m:t>
                    </m:r>
                    <m:sSub>
                      <m:e>
                        <m:r>
                          <m:t>ϵ</m:t>
                        </m:r>
                      </m:e>
                      <m:sub>
                        <m:r>
                          <m:t>1</m:t>
                        </m:r>
                      </m:sub>
                    </m:sSub>
                    <m:r>
                      <m:rPr>
                        <m:sty m:val="p"/>
                      </m:rPr>
                      <m:t>,</m:t>
                    </m:r>
                    <m:r>
                      <m:rPr>
                        <m:sty m:val="p"/>
                      </m:rPr>
                      <m:t>…</m:t>
                    </m:r>
                    <m:r>
                      <m:rPr>
                        <m:sty m:val="p"/>
                      </m:rPr>
                      <m:t>,</m:t>
                    </m:r>
                    <m:sSub>
                      <m:e>
                        <m:r>
                          <m:t>ϵ</m:t>
                        </m:r>
                      </m:e>
                      <m:sub>
                        <m:r>
                          <m:t>k</m:t>
                        </m:r>
                      </m:sub>
                    </m:sSub>
                    <m:r>
                      <m:rPr>
                        <m:sty m:val="p"/>
                      </m:rPr>
                      <m:t>)</m:t>
                    </m:r>
                  </m:oMath>
                </a14:m>
                <a:r>
                  <a:rPr/>
                  <a:t> — one resolution per objective. Tile objective space with boxes of side </a:t>
                </a:r>
                <a14:m>
                  <m:oMath xmlns:m="http://schemas.openxmlformats.org/officeDocument/2006/math">
                    <m:sSub>
                      <m:e>
                        <m:r>
                          <m:t>ϵ</m:t>
                        </m:r>
                      </m:e>
                      <m:sub>
                        <m:r>
                          <m:t>i</m:t>
                        </m:r>
                      </m:sub>
                    </m:sSub>
                  </m:oMath>
                </a14:m>
                <a:r>
                  <a:rPr/>
                  <a:t> along axis </a:t>
                </a:r>
                <a14:m>
                  <m:oMath xmlns:m="http://schemas.openxmlformats.org/officeDocument/2006/math">
                    <m:r>
                      <m:t>i</m:t>
                    </m:r>
                  </m:oMath>
                </a14:m>
                <a:r>
                  <a:rPr/>
                  <a:t>, and map each solution to the integer coordinates of the box it lands in.</a:t>
                </a:r>
              </a:p>
              <a:p>
                <a:pPr lvl="0" indent="0" marL="0">
                  <a:buNone/>
                </a:pPr>
                <a:r>
                  <a:rPr b="1"/>
                  <a:t>ε-dominance:</a:t>
                </a:r>
                <a:r>
                  <a:rPr/>
                  <a:t> </a:t>
                </a:r>
                <a14:m>
                  <m:oMath xmlns:m="http://schemas.openxmlformats.org/officeDocument/2006/math">
                    <m:r>
                      <m:t>a</m:t>
                    </m:r>
                  </m:oMath>
                </a14:m>
                <a:r>
                  <a:rPr/>
                  <a:t> ε-dominates </a:t>
                </a:r>
                <a14:m>
                  <m:oMath xmlns:m="http://schemas.openxmlformats.org/officeDocument/2006/math">
                    <m:r>
                      <m:t>b</m:t>
                    </m:r>
                  </m:oMath>
                </a14:m>
                <a:r>
                  <a:rPr/>
                  <a:t> if </a:t>
                </a:r>
                <a14:m>
                  <m:oMath xmlns:m="http://schemas.openxmlformats.org/officeDocument/2006/math">
                    <m:r>
                      <m:t>a</m:t>
                    </m:r>
                  </m:oMath>
                </a14:m>
                <a:r>
                  <a:rPr/>
                  <a:t>’s box dominates </a:t>
                </a:r>
                <a14:m>
                  <m:oMath xmlns:m="http://schemas.openxmlformats.org/officeDocument/2006/math">
                    <m:r>
                      <m:t>b</m:t>
                    </m:r>
                  </m:oMath>
                </a14:m>
                <a:r>
                  <a:rPr/>
                  <a:t>’s box in the ordinary sense, </a:t>
                </a:r>
                <a:r>
                  <a:rPr i="1"/>
                  <a:t>and</a:t>
                </a:r>
                <a:r>
                  <a:rPr/>
                  <a:t> the archive keeps </a:t>
                </a:r>
                <a:r>
                  <a:rPr b="1"/>
                  <a:t>at most one solution per box</a:t>
                </a:r>
                <a:r>
                  <a:rPr/>
                  <a:t>.</a:t>
                </a:r>
              </a:p>
              <a:p>
                <a:pPr lvl="0"/>
                <a:r>
                  <a:rPr/>
                  <a:t>Two solutions in the same box are treated as equivalent — keep the one closer to the box’s lower corner</a:t>
                </a:r>
              </a:p>
              <a:p>
                <a:pPr lvl="0"/>
                <a14:m>
                  <m:oMath xmlns:m="http://schemas.openxmlformats.org/officeDocument/2006/math">
                    <m:sSub>
                      <m:e>
                        <m:r>
                          <m:t>ϵ</m:t>
                        </m:r>
                      </m:e>
                      <m:sub>
                        <m:r>
                          <m:t>i</m:t>
                        </m:r>
                      </m:sub>
                    </m:sSub>
                  </m:oMath>
                </a14:m>
                <a:r>
                  <a:rPr/>
                  <a:t> encodes the resolution at which the decision-maker cares about differences on objective </a:t>
                </a:r>
                <a14:m>
                  <m:oMath xmlns:m="http://schemas.openxmlformats.org/officeDocument/2006/math">
                    <m:r>
                      <m:t>i</m:t>
                    </m:r>
                  </m:oMath>
                </a14:m>
              </a:p>
              <a:p>
                <a:pPr lvl="0"/>
                <a:r>
                  <a:rPr/>
                  <a:t>Resolutions can differ by objective (e.g., damages in $M, lives in counts)</a:t>
                </a:r>
              </a:p>
              <a:p>
                <a:pPr lvl="0"/>
                <a:r>
                  <a:rPr/>
                  <a:t>Archive size is bounded by the number of boxes the front intersects</a:t>
                </a:r>
              </a:p>
              <a:p>
                <a:pPr lvl="0" indent="0" marL="0">
                  <a:spcBef>
                    <a:spcPts val="3000"/>
                  </a:spcBef>
                  <a:buNone/>
                </a:pPr>
                <a:r>
                  <a:rPr b="1"/>
                  <a:t>ε-Dominance: Picture</a:t>
                </a:r>
              </a:p>
            </p:txBody>
          </p:sp>
        </mc:Choice>
      </mc:AlternateContent>
      <p:pic>
        <p:nvPicPr>
          <p:cNvPr descr="index_files/figure-pptx/fig-eps-region-output-1.png" id="0" name="Picture 1"/>
          <p:cNvPicPr>
            <a:picLocks noGrp="1" noChangeAspect="1"/>
          </p:cNvPicPr>
          <p:nvPr/>
        </p:nvPicPr>
        <p:blipFill>
          <a:blip r:embed="rId3"/>
          <a:stretch>
            <a:fillRect/>
          </a:stretch>
        </p:blipFill>
        <p:spPr bwMode="auto">
          <a:xfrm>
            <a:off x="3568700" y="381000"/>
            <a:ext cx="5105400" cy="35052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An </a:t>
                </a:r>
                <a14:m>
                  <m:oMath xmlns:m="http://schemas.openxmlformats.org/officeDocument/2006/math">
                    <m:r>
                      <m:t>ϵ</m:t>
                    </m:r>
                  </m:oMath>
                </a14:m>
                <a:r>
                  <a:rPr/>
                  <a:t>-grid with </a:t>
                </a:r>
                <a14:m>
                  <m:oMath xmlns:m="http://schemas.openxmlformats.org/officeDocument/2006/math">
                    <m:sSub>
                      <m:e>
                        <m:r>
                          <m:t>ϵ</m:t>
                        </m:r>
                      </m:e>
                      <m:sub>
                        <m:r>
                          <m:t>1</m:t>
                        </m:r>
                      </m:sub>
                    </m:sSub>
                    <m:r>
                      <m:rPr>
                        <m:sty m:val="p"/>
                      </m:rPr>
                      <m:t>=</m:t>
                    </m:r>
                    <m:r>
                      <m:t>0.20</m:t>
                    </m:r>
                  </m:oMath>
                </a14:m>
                <a:r>
                  <a:rPr/>
                  <a:t>, </a:t>
                </a:r>
                <a14:m>
                  <m:oMath xmlns:m="http://schemas.openxmlformats.org/officeDocument/2006/math">
                    <m:sSub>
                      <m:e>
                        <m:r>
                          <m:t>ϵ</m:t>
                        </m:r>
                      </m:e>
                      <m:sub>
                        <m:r>
                          <m:t>2</m:t>
                        </m:r>
                      </m:sub>
                    </m:sSub>
                    <m:r>
                      <m:rPr>
                        <m:sty m:val="p"/>
                      </m:rPr>
                      <m:t>=</m:t>
                    </m:r>
                    <m:r>
                      <m:t>0.30</m:t>
                    </m:r>
                  </m:oMath>
                </a14:m>
                <a:r>
                  <a:rPr/>
                  <a:t>. Points </a:t>
                </a:r>
                <a14:m>
                  <m:oMath xmlns:m="http://schemas.openxmlformats.org/officeDocument/2006/math">
                    <m:r>
                      <m:t>a</m:t>
                    </m:r>
                  </m:oMath>
                </a14:m>
                <a:r>
                  <a:rPr/>
                  <a:t> and </a:t>
                </a:r>
                <a14:m>
                  <m:oMath xmlns:m="http://schemas.openxmlformats.org/officeDocument/2006/math">
                    <m:r>
                      <m:t>c</m:t>
                    </m:r>
                  </m:oMath>
                </a14:m>
                <a:r>
                  <a:rPr/>
                  <a:t> both fall in the same box, so the archive keeps only one (whichever is closer to the box’s lower corner). Point </a:t>
                </a:r>
                <a14:m>
                  <m:oMath xmlns:m="http://schemas.openxmlformats.org/officeDocument/2006/math">
                    <m:r>
                      <m:t>b</m:t>
                    </m:r>
                  </m:oMath>
                </a14:m>
                <a:r>
                  <a:rPr/>
                  <a:t> lives in a different box and survives. The star marks the (infeasible) ideal point.</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Toy ε-MOEA on ZDT1</a:t>
            </a:r>
          </a:p>
        </p:txBody>
      </p:sp>
      <p:sp>
        <p:nvSpPr>
          <p:cNvPr id="3" name="Content Placeholder 2"/>
          <p:cNvSpPr>
            <a:spLocks noGrp="1"/>
          </p:cNvSpPr>
          <p:nvPr>
            <p:ph idx="1"/>
          </p:nvPr>
        </p:nvSpPr>
        <p:spPr/>
        <p:txBody>
          <a:bodyPr/>
          <a:lstStyle/>
          <a:p>
            <a:pPr lvl="0" indent="0" marL="0">
              <a:spcBef>
                <a:spcPts val="3000"/>
              </a:spcBef>
              <a:buNone/>
            </a:pPr>
            <a:r>
              <a:rPr b="1"/>
              <a:t>ZDT1: A Test Problem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A standard MOO benchmark with two decision variables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t>0</m:t>
                    </m:r>
                    <m:r>
                      <m:rPr>
                        <m:sty m:val="p"/>
                      </m:rPr>
                      <m:t>,</m:t>
                    </m:r>
                    <m:r>
                      <m:t>1</m:t>
                    </m:r>
                    <m:r>
                      <m:rPr>
                        <m:sty m:val="p"/>
                      </m:rPr>
                      <m:t>]</m:t>
                    </m:r>
                  </m:oMath>
                </a14:m>
                <a:r>
                  <a:rPr/>
                  <a:t> and two objectives (both minimized):</a:t>
                </a:r>
              </a:p>
              <a:p>
                <a:pPr lvl="0" indent="0" marL="0">
                  <a:buNone/>
                </a:pPr>
                <a14:m>
                  <m:oMathPara xmlns:m="http://schemas.openxmlformats.org/officeDocument/2006/math">
                    <m:oMathParaPr>
                      <m:jc m:val="center"/>
                    </m:oMathParaPr>
                    <m:oMath>
                      <m:eqArr>
                        <m:e>
                          <m:sSub>
                            <m:e>
                              <m:r>
                                <m:t>f</m:t>
                              </m:r>
                            </m:e>
                            <m:sub>
                              <m:r>
                                <m:t>1</m:t>
                              </m:r>
                            </m:sub>
                          </m:sSub>
                          <m:r>
                            <m:t>&amp;</m:t>
                          </m:r>
                          <m:r>
                            <m:rPr>
                              <m:sty m:val="p"/>
                            </m:rPr>
                            <m:t>=</m:t>
                          </m:r>
                          <m:sSub>
                            <m:e>
                              <m:r>
                                <m:t>x</m:t>
                              </m:r>
                            </m:e>
                            <m:sub>
                              <m:r>
                                <m:t>1</m:t>
                              </m:r>
                            </m:sub>
                          </m:sSub>
                        </m:e>
                        <m:e>
                          <m:sSub>
                            <m:e>
                              <m:r>
                                <m:t>f</m:t>
                              </m:r>
                            </m:e>
                            <m:sub>
                              <m:r>
                                <m:t>2</m:t>
                              </m:r>
                            </m:sub>
                          </m:sSub>
                          <m:r>
                            <m:t>&amp;</m:t>
                          </m:r>
                          <m:r>
                            <m:rPr>
                              <m:sty m:val="p"/>
                            </m:rPr>
                            <m:t>=</m:t>
                          </m:r>
                          <m:r>
                            <m:t>g</m:t>
                          </m:r>
                          <m:r>
                            <m:rPr>
                              <m:sty m:val="p"/>
                            </m:rPr>
                            <m:t>(</m:t>
                          </m:r>
                          <m:sSub>
                            <m:e>
                              <m:r>
                                <m:t>x</m:t>
                              </m:r>
                            </m:e>
                            <m:sub>
                              <m:r>
                                <m:t>2</m:t>
                              </m:r>
                            </m:sub>
                          </m:sSub>
                          <m:r>
                            <m:rPr>
                              <m:sty m:val="p"/>
                            </m:rPr>
                            <m:t>)</m:t>
                          </m:r>
                          <m:d>
                            <m:dPr>
                              <m:begChr m:val="("/>
                              <m:sepChr m:val=""/>
                              <m:endChr m:val=")"/>
                              <m:grow/>
                            </m:dPr>
                            <m:e>
                              <m:r>
                                <m:t>1</m:t>
                              </m:r>
                              <m:r>
                                <m:rPr>
                                  <m:sty m:val="p"/>
                                </m:rPr>
                                <m:t>−</m:t>
                              </m:r>
                              <m:rad>
                                <m:radPr>
                                  <m:degHide m:val="on"/>
                                </m:radPr>
                                <m:deg/>
                                <m:e>
                                  <m:sSub>
                                    <m:e>
                                      <m:r>
                                        <m:t>f</m:t>
                                      </m:r>
                                    </m:e>
                                    <m:sub>
                                      <m:r>
                                        <m:t>1</m:t>
                                      </m:r>
                                    </m:sub>
                                  </m:sSub>
                                  <m:r>
                                    <m:rPr>
                                      <m:sty m:val="p"/>
                                    </m:rPr>
                                    <m:t>/</m:t>
                                  </m:r>
                                  <m:r>
                                    <m:t>g</m:t>
                                  </m:r>
                                  <m:r>
                                    <m:rPr>
                                      <m:sty m:val="p"/>
                                    </m:rPr>
                                    <m:t>(</m:t>
                                  </m:r>
                                  <m:sSub>
                                    <m:e>
                                      <m:r>
                                        <m:t>x</m:t>
                                      </m:r>
                                    </m:e>
                                    <m:sub>
                                      <m:r>
                                        <m:t>2</m:t>
                                      </m:r>
                                    </m:sub>
                                  </m:sSub>
                                  <m:r>
                                    <m:rPr>
                                      <m:sty m:val="p"/>
                                    </m:rPr>
                                    <m:t>)</m:t>
                                  </m:r>
                                </m:e>
                              </m:rad>
                            </m:e>
                          </m:d>
                        </m:e>
                        <m:e>
                          <m:r>
                            <m:t>g</m:t>
                          </m:r>
                          <m:r>
                            <m:rPr>
                              <m:sty m:val="p"/>
                            </m:rPr>
                            <m:t>(</m:t>
                          </m:r>
                          <m:sSub>
                            <m:e>
                              <m:r>
                                <m:t>x</m:t>
                              </m:r>
                            </m:e>
                            <m:sub>
                              <m:r>
                                <m:t>2</m:t>
                              </m:r>
                            </m:sub>
                          </m:sSub>
                          <m:r>
                            <m:rPr>
                              <m:sty m:val="p"/>
                            </m:rPr>
                            <m:t>)</m:t>
                          </m:r>
                          <m:r>
                            <m:t>&amp;</m:t>
                          </m:r>
                          <m:r>
                            <m:rPr>
                              <m:sty m:val="p"/>
                            </m:rPr>
                            <m:t>=</m:t>
                          </m:r>
                          <m:r>
                            <m:t>1</m:t>
                          </m:r>
                          <m:r>
                            <m:rPr>
                              <m:sty m:val="p"/>
                            </m:rPr>
                            <m:t>+</m:t>
                          </m:r>
                          <m:r>
                            <m:t>9</m:t>
                          </m:r>
                          <m:sSub>
                            <m:e>
                              <m:r>
                                <m:t>x</m:t>
                              </m:r>
                            </m:e>
                            <m:sub>
                              <m:r>
                                <m:t>2</m:t>
                              </m:r>
                            </m:sub>
                          </m:sSub>
                        </m:e>
                      </m:eqArr>
                    </m:oMath>
                  </m:oMathPara>
                </a14:m>
              </a:p>
              <a:p>
                <a:pPr lvl="0" indent="0" marL="0">
                  <a:buNone/>
                </a:pPr>
                <a:r>
                  <a:rPr/>
                  <a:t>The analytical Pareto front is </a:t>
                </a:r>
                <a14:m>
                  <m:oMath xmlns:m="http://schemas.openxmlformats.org/officeDocument/2006/math">
                    <m:sSub>
                      <m:e>
                        <m:r>
                          <m:t>x</m:t>
                        </m:r>
                      </m:e>
                      <m:sub>
                        <m:r>
                          <m:t>2</m:t>
                        </m:r>
                      </m:sub>
                    </m:sSub>
                    <m:r>
                      <m:rPr>
                        <m:sty m:val="p"/>
                      </m:rPr>
                      <m:t>=</m:t>
                    </m:r>
                    <m:r>
                      <m:t>0</m:t>
                    </m:r>
                  </m:oMath>
                </a14:m>
                <a:r>
                  <a:rPr/>
                  <a:t>, giving </a:t>
                </a:r>
                <a14:m>
                  <m:oMath xmlns:m="http://schemas.openxmlformats.org/officeDocument/2006/math">
                    <m:sSub>
                      <m:e>
                        <m:r>
                          <m:t>f</m:t>
                        </m:r>
                      </m:e>
                      <m:sub>
                        <m:r>
                          <m:t>2</m:t>
                        </m:r>
                      </m:sub>
                    </m:sSub>
                    <m:r>
                      <m:rPr>
                        <m:sty m:val="p"/>
                      </m:rPr>
                      <m:t>=</m:t>
                    </m:r>
                    <m:r>
                      <m:t>1</m:t>
                    </m:r>
                    <m:r>
                      <m:rPr>
                        <m:sty m:val="p"/>
                      </m:rPr>
                      <m:t>−</m:t>
                    </m:r>
                    <m:rad>
                      <m:radPr>
                        <m:degHide m:val="on"/>
                      </m:radPr>
                      <m:deg/>
                      <m:e>
                        <m:sSub>
                          <m:e>
                            <m:r>
                              <m:t>f</m:t>
                            </m:r>
                          </m:e>
                          <m:sub>
                            <m:r>
                              <m:t>1</m:t>
                            </m:r>
                          </m:sub>
                        </m:sSub>
                      </m:e>
                    </m:rad>
                  </m:oMath>
                </a14:m>
                <a:r>
                  <a:rPr/>
                  <a:t> on </a:t>
                </a:r>
                <a14:m>
                  <m:oMath xmlns:m="http://schemas.openxmlformats.org/officeDocument/2006/math">
                    <m:sSub>
                      <m:e>
                        <m:r>
                          <m:t>f</m:t>
                        </m:r>
                      </m:e>
                      <m:sub>
                        <m:r>
                          <m:t>1</m:t>
                        </m:r>
                      </m:sub>
                    </m:sSub>
                    <m:r>
                      <m:rPr>
                        <m:sty m:val="p"/>
                      </m:rPr>
                      <m:t>∈</m:t>
                    </m:r>
                    <m:r>
                      <m:rPr>
                        <m:sty m:val="p"/>
                      </m:rPr>
                      <m:t>[</m:t>
                    </m:r>
                    <m:r>
                      <m:t>0</m:t>
                    </m:r>
                    <m:r>
                      <m:rPr>
                        <m:sty m:val="p"/>
                      </m:rPr>
                      <m:t>,</m:t>
                    </m:r>
                    <m:r>
                      <m:t>1</m:t>
                    </m:r>
                    <m:r>
                      <m:rPr>
                        <m:sty m:val="p"/>
                      </m:rPr>
                      <m:t>]</m:t>
                    </m:r>
                  </m:oMath>
                </a14:m>
                <a:r>
                  <a:rPr/>
                  <a:t>.</a:t>
                </a:r>
              </a:p>
            </p:txBody>
          </p:sp>
        </mc:Choice>
      </mc:AlternateContent>
      <p:sp>
        <p:nvSpPr>
          <p:cNvPr id="5" name="Text Placeholder 4"/>
          <p:cNvSpPr>
            <a:spLocks noGrp="1"/>
          </p:cNvSpPr>
          <p:nvPr>
            <p:ph idx="3" sz="quarter" type="body"/>
          </p:nvPr>
        </p:nvSpPr>
        <p:spPr/>
        <p:txBody>
          <a:bodyPr/>
          <a:lstStyle/>
          <a:p>
            <a:pPr lvl="0" indent="0">
              <a:buNone/>
            </a:pPr>
            <a:r>
              <a:rPr>
                <a:solidFill>
                  <a:srgbClr val="00769E"/>
                </a:solidFill>
                <a:latin typeface="Courier"/>
              </a:rPr>
              <a:t>using</a:t>
            </a:r>
            <a:r>
              <a:rPr>
                <a:solidFill>
                  <a:srgbClr val="003B4F"/>
                </a:solidFill>
                <a:latin typeface="Courier"/>
              </a:rPr>
              <a:t> Random</a:t>
            </a:r>
            <a:br/>
            <a:r>
              <a:rPr>
                <a:solidFill>
                  <a:srgbClr val="003B4F"/>
                </a:solidFill>
                <a:latin typeface="Courier"/>
              </a:rPr>
              <a:t>Random.</a:t>
            </a:r>
            <a:r>
              <a:rPr>
                <a:solidFill>
                  <a:srgbClr val="4758AB"/>
                </a:solidFill>
                <a:latin typeface="Courier"/>
              </a:rPr>
              <a:t>seed!</a:t>
            </a:r>
            <a:r>
              <a:rPr>
                <a:solidFill>
                  <a:srgbClr val="003B4F"/>
                </a:solidFill>
                <a:latin typeface="Courier"/>
              </a:rPr>
              <a:t>(</a:t>
            </a:r>
            <a:r>
              <a:rPr>
                <a:solidFill>
                  <a:srgbClr val="AD0000"/>
                </a:solidFill>
                <a:latin typeface="Courier"/>
              </a:rPr>
              <a:t>1</a:t>
            </a:r>
            <a:r>
              <a:rPr>
                <a:solidFill>
                  <a:srgbClr val="003B4F"/>
                </a:solidFill>
                <a:latin typeface="Courier"/>
              </a:rPr>
              <a:t>)</a:t>
            </a:r>
            <a:br/>
            <a:br/>
            <a:r>
              <a:rPr b="1">
                <a:solidFill>
                  <a:srgbClr val="003B4F"/>
                </a:solidFill>
                <a:latin typeface="Courier"/>
              </a:rPr>
              <a:t>function</a:t>
            </a:r>
            <a:r>
              <a:rPr>
                <a:solidFill>
                  <a:srgbClr val="003B4F"/>
                </a:solidFill>
                <a:latin typeface="Courier"/>
              </a:rPr>
              <a:t> </a:t>
            </a:r>
            <a:r>
              <a:rPr>
                <a:solidFill>
                  <a:srgbClr val="4758AB"/>
                </a:solidFill>
                <a:latin typeface="Courier"/>
              </a:rPr>
              <a:t>zdt1</a:t>
            </a:r>
            <a:r>
              <a:rPr>
                <a:solidFill>
                  <a:srgbClr val="003B4F"/>
                </a:solidFill>
                <a:latin typeface="Courier"/>
              </a:rPr>
              <a:t>(x)</a:t>
            </a:r>
            <a:br/>
            <a:r>
              <a:rPr>
                <a:solidFill>
                  <a:srgbClr val="003B4F"/>
                </a:solidFill>
                <a:latin typeface="Courier"/>
              </a:rPr>
              <a:t>    f1 </a:t>
            </a:r>
            <a:r>
              <a:rPr>
                <a:solidFill>
                  <a:srgbClr val="5E5E5E"/>
                </a:solidFill>
                <a:latin typeface="Courier"/>
              </a:rPr>
              <a:t>=</a:t>
            </a:r>
            <a:r>
              <a:rPr>
                <a:solidFill>
                  <a:srgbClr val="003B4F"/>
                </a:solidFill>
                <a:latin typeface="Courier"/>
              </a:rPr>
              <a:t> x[</a:t>
            </a:r>
            <a:r>
              <a:rPr>
                <a:solidFill>
                  <a:srgbClr val="AD0000"/>
                </a:solidFill>
                <a:latin typeface="Courier"/>
              </a:rPr>
              <a:t>1</a:t>
            </a:r>
            <a:r>
              <a:rPr>
                <a:solidFill>
                  <a:srgbClr val="003B4F"/>
                </a:solidFill>
                <a:latin typeface="Courier"/>
              </a:rPr>
              <a:t>]</a:t>
            </a:r>
            <a:b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r>
              <a:rPr>
                <a:solidFill>
                  <a:srgbClr val="003B4F"/>
                </a:solidFill>
                <a:latin typeface="Courier"/>
              </a:rPr>
              <a:t> x[</a:t>
            </a:r>
            <a:r>
              <a:rPr>
                <a:solidFill>
                  <a:srgbClr val="AD0000"/>
                </a:solidFill>
                <a:latin typeface="Courier"/>
              </a:rPr>
              <a:t>2</a:t>
            </a:r>
            <a:r>
              <a:rPr>
                <a:solidFill>
                  <a:srgbClr val="003B4F"/>
                </a:solidFill>
                <a:latin typeface="Courier"/>
              </a:rPr>
              <a:t>]</a:t>
            </a:r>
            <a:br/>
            <a:r>
              <a:rPr>
                <a:solidFill>
                  <a:srgbClr val="003B4F"/>
                </a:solidFill>
                <a:latin typeface="Courier"/>
              </a:rPr>
              <a:t>    f2 </a:t>
            </a:r>
            <a:r>
              <a:rPr>
                <a:solidFill>
                  <a:srgbClr val="5E5E5E"/>
                </a:solidFill>
                <a:latin typeface="Courier"/>
              </a:rPr>
              <a:t>=</a:t>
            </a: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(f1 </a:t>
            </a:r>
            <a:r>
              <a:rPr>
                <a:solidFill>
                  <a:srgbClr val="5E5E5E"/>
                </a:solidFill>
                <a:latin typeface="Courier"/>
              </a:rPr>
              <a:t>/</a:t>
            </a:r>
            <a:r>
              <a:rPr>
                <a:solidFill>
                  <a:srgbClr val="003B4F"/>
                </a:solidFill>
                <a:latin typeface="Courier"/>
              </a:rPr>
              <a:t> g))</a:t>
            </a:r>
            <a:br/>
            <a:r>
              <a:rPr>
                <a:solidFill>
                  <a:srgbClr val="003B4F"/>
                </a:solidFill>
                <a:latin typeface="Courier"/>
              </a:rPr>
              <a:t>    </a:t>
            </a:r>
            <a:r>
              <a:rPr b="1">
                <a:solidFill>
                  <a:srgbClr val="003B4F"/>
                </a:solidFill>
                <a:latin typeface="Courier"/>
              </a:rPr>
              <a:t>return</a:t>
            </a:r>
            <a:r>
              <a:rPr>
                <a:solidFill>
                  <a:srgbClr val="003B4F"/>
                </a:solidFill>
                <a:latin typeface="Courier"/>
              </a:rPr>
              <a:t> [f1, f2]</a:t>
            </a:r>
            <a:br/>
            <a:r>
              <a:rPr b="1">
                <a:solidFill>
                  <a:srgbClr val="003B4F"/>
                </a:solidFill>
                <a:latin typeface="Courier"/>
              </a:rPr>
              <a:t>end</a:t>
            </a:r>
            <a:br/>
            <a:br/>
            <a:r>
              <a:rPr b="1">
                <a:solidFill>
                  <a:srgbClr val="003B4F"/>
                </a:solidFill>
                <a:latin typeface="Courier"/>
              </a:rPr>
              <a:t>let</a:t>
            </a:r>
            <a:br/>
            <a:r>
              <a:rPr>
                <a:solidFill>
                  <a:srgbClr val="003B4F"/>
                </a:solidFill>
                <a:latin typeface="Courier"/>
              </a:rPr>
              <a:t>    fs </a:t>
            </a:r>
            <a:r>
              <a:rPr>
                <a:solidFill>
                  <a:srgbClr val="5E5E5E"/>
                </a:solidFill>
                <a:latin typeface="Courier"/>
              </a:rPr>
              <a:t>=</a:t>
            </a:r>
            <a:r>
              <a:rPr>
                <a:solidFill>
                  <a:srgbClr val="003B4F"/>
                </a:solidFill>
                <a:latin typeface="Courier"/>
              </a:rPr>
              <a:t> </a:t>
            </a:r>
            <a:r>
              <a:rPr>
                <a:solidFill>
                  <a:srgbClr val="AD0000"/>
                </a:solidFill>
                <a:latin typeface="Courier"/>
              </a:rPr>
              <a:t>0.0</a:t>
            </a:r>
            <a:r>
              <a:rPr>
                <a:solidFill>
                  <a:srgbClr val="5E5E5E"/>
                </a:solidFill>
                <a:latin typeface="Courier"/>
              </a:rPr>
              <a:t>:</a:t>
            </a:r>
            <a:r>
              <a:rPr>
                <a:solidFill>
                  <a:srgbClr val="AD0000"/>
                </a:solidFill>
                <a:latin typeface="Courier"/>
              </a:rPr>
              <a:t>0.005</a:t>
            </a:r>
            <a:r>
              <a:rPr>
                <a:solidFill>
                  <a:srgbClr val="5E5E5E"/>
                </a:solidFill>
                <a:latin typeface="Courier"/>
              </a:rPr>
              <a:t>:</a:t>
            </a:r>
            <a:r>
              <a:rPr>
                <a:solidFill>
                  <a:srgbClr val="AD0000"/>
                </a:solidFill>
                <a:latin typeface="Courier"/>
              </a:rPr>
              <a:t>1.0</a:t>
            </a: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520</a:t>
            </a:r>
            <a:r>
              <a:rPr>
                <a:solidFill>
                  <a:srgbClr val="003B4F"/>
                </a:solidFill>
                <a:latin typeface="Courier"/>
              </a:rPr>
              <a:t>, </a:t>
            </a:r>
            <a:r>
              <a:rPr>
                <a:solidFill>
                  <a:srgbClr val="AD0000"/>
                </a:solidFill>
                <a:latin typeface="Courier"/>
              </a:rPr>
              <a:t>340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a:t>
            </a: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1.05</a:t>
            </a:r>
            <a:r>
              <a:rPr>
                <a:solidFill>
                  <a:srgbClr val="003B4F"/>
                </a:solidFill>
                <a:latin typeface="Courier"/>
              </a:rPr>
              <a:t>, </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4758AB"/>
                </a:solidFill>
                <a:latin typeface="Courier"/>
              </a:rPr>
              <a:t>lines!</a:t>
            </a:r>
            <a:r>
              <a:rPr>
                <a:solidFill>
                  <a:srgbClr val="003B4F"/>
                </a:solidFill>
                <a:latin typeface="Courier"/>
              </a:rPr>
              <a:t>(ax, fs,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.(fs); color</a:t>
            </a:r>
            <a:r>
              <a:rPr>
                <a:solidFill>
                  <a:srgbClr val="5E5E5E"/>
                </a:solidFill>
                <a:latin typeface="Courier"/>
              </a:rPr>
              <a:t>=:</a:t>
            </a:r>
            <a:r>
              <a:rPr>
                <a:solidFill>
                  <a:srgbClr val="003B4F"/>
                </a:solidFill>
                <a:latin typeface="Courier"/>
              </a:rPr>
              <a:t>tomato, linewidth</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        label</a:t>
            </a:r>
            <a:r>
              <a:rPr>
                <a:solidFill>
                  <a:srgbClr val="5E5E5E"/>
                </a:solidFill>
                <a:latin typeface="Courier"/>
              </a:rPr>
              <a:t>=</a:t>
            </a:r>
            <a:r>
              <a:rPr>
                <a:solidFill>
                  <a:srgbClr val="20794D"/>
                </a:solidFill>
                <a:latin typeface="Courier"/>
              </a:rPr>
              <a:t>"Pareto front"</a:t>
            </a:r>
            <a:r>
              <a:rPr>
                <a:solidFill>
                  <a:srgbClr val="003B4F"/>
                </a:solidFill>
                <a:latin typeface="Courier"/>
              </a:rPr>
              <a:t>)</a:t>
            </a:r>
            <a:br/>
            <a:r>
              <a:rPr>
                <a:solidFill>
                  <a:srgbClr val="003B4F"/>
                </a:solidFill>
                <a:latin typeface="Courier"/>
              </a:rPr>
              <a:t>    </a:t>
            </a:r>
            <a:r>
              <a:rPr>
                <a:solidFill>
                  <a:srgbClr val="4758AB"/>
                </a:solidFill>
                <a:latin typeface="Courier"/>
              </a:rPr>
              <a:t>axislegend</a:t>
            </a:r>
            <a:r>
              <a:rPr>
                <a:solidFill>
                  <a:srgbClr val="003B4F"/>
                </a:solidFill>
                <a:latin typeface="Courier"/>
              </a:rPr>
              <a:t>(ax; position</a:t>
            </a:r>
            <a:r>
              <a:rPr>
                <a:solidFill>
                  <a:srgbClr val="5E5E5E"/>
                </a:solidFill>
                <a:latin typeface="Courier"/>
              </a:rPr>
              <a:t>=:</a:t>
            </a:r>
            <a:r>
              <a:rPr>
                <a:solidFill>
                  <a:srgbClr val="003B4F"/>
                </a:solidFill>
                <a:latin typeface="Courier"/>
              </a:rPr>
              <a:t>rt)</a:t>
            </a:r>
            <a:br/>
            <a:r>
              <a:rPr>
                <a:solidFill>
                  <a:srgbClr val="003B4F"/>
                </a:solidFill>
                <a:latin typeface="Courier"/>
              </a:rPr>
              <a:t>    fig</a:t>
            </a:r>
            <a:br/>
            <a:r>
              <a:rPr b="1">
                <a:solidFill>
                  <a:srgbClr val="003B4F"/>
                </a:solidFill>
                <a:latin typeface="Courier"/>
              </a:rPr>
              <a:t>end</a:t>
            </a:r>
          </a:p>
        </p:txBody>
      </p:sp>
      <p:pic>
        <p:nvPicPr>
          <p:cNvPr descr="index_files/figure-pptx/fig-zdt1-output-1.png" id="0" name="Picture 1"/>
          <p:cNvPicPr>
            <a:picLocks noGrp="1" noChangeAspect="1"/>
          </p:cNvPicPr>
          <p:nvPr/>
        </p:nvPicPr>
        <p:blipFill>
          <a:blip r:embed="rId3"/>
          <a:stretch>
            <a:fillRect/>
          </a:stretch>
        </p:blipFill>
        <p:spPr bwMode="auto">
          <a:xfrm>
            <a:off x="4775200" y="1625600"/>
            <a:ext cx="37465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4: Canonical visualization of ZDT1: the analytical Pareto front in objective space.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Mutation</a:t>
                </a:r>
              </a:p>
              <a:p>
                <a:pPr lvl="0" indent="0" marL="0">
                  <a:buNone/>
                </a:pPr>
                <a:r>
                  <a:rPr/>
                  <a:t>The GA’s source of new points: take a parent vector, add small Gaussian noise, clamp back into the unit box.</a:t>
                </a:r>
              </a:p>
              <a:p>
                <a:pPr lvl="0" indent="0">
                  <a:buNone/>
                </a:pPr>
                <a:r>
                  <a:rPr>
                    <a:solidFill>
                      <a:srgbClr val="4758AB"/>
                    </a:solidFill>
                    <a:latin typeface="Courier"/>
                  </a:rPr>
                  <a:t>mutate</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clamp</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randn</a:t>
                </a:r>
                <a:r>
                  <a:rPr>
                    <a:solidFill>
                      <a:srgbClr val="003B4F"/>
                    </a:solidFill>
                    <a:latin typeface="Courier"/>
                  </a:rPr>
                  <a:t>(</a:t>
                </a:r>
                <a:r>
                  <a:rPr>
                    <a:solidFill>
                      <a:srgbClr val="4758AB"/>
                    </a:solidFill>
                    <a:latin typeface="Courier"/>
                  </a:rPr>
                  <a:t>length</a:t>
                </a:r>
                <a:r>
                  <a:rPr>
                    <a:solidFill>
                      <a:srgbClr val="003B4F"/>
                    </a:solidFill>
                    <a:latin typeface="Courier"/>
                  </a:rPr>
                  <a:t>(x)),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spcBef>
                    <a:spcPts val="3000"/>
                  </a:spcBef>
                  <a:buNone/>
                </a:pPr>
                <a:r>
                  <a:rPr b="1"/>
                  <a:t>ε-Dominance in Code</a:t>
                </a:r>
              </a:p>
              <a:p>
                <a:pPr lvl="0" indent="0" marL="0">
                  <a:buNone/>
                </a:pPr>
                <a:r>
                  <a:rPr/>
                  <a:t>Map each point to its </a:t>
                </a:r>
                <a14:m>
                  <m:oMath xmlns:m="http://schemas.openxmlformats.org/officeDocument/2006/math">
                    <m:r>
                      <m:t>ϵ</m:t>
                    </m:r>
                  </m:oMath>
                </a14:m>
                <a:r>
                  <a:rPr/>
                  <a:t>-box, then apply ordinary dominance on the integer box coordinates.</a:t>
                </a:r>
              </a:p>
              <a:p>
                <a:pPr lvl="0" indent="0">
                  <a:buNone/>
                </a:pPr>
                <a:r>
                  <a:rPr>
                    <a:solidFill>
                      <a:srgbClr val="5E5E5E"/>
                    </a:solidFill>
                    <a:latin typeface="Courier"/>
                  </a:rPr>
                  <a:t># Integer coordinates of the ε-box a point lands in</a:t>
                </a:r>
                <a:br/>
                <a:r>
                  <a:rPr>
                    <a:solidFill>
                      <a:srgbClr val="4758AB"/>
                    </a:solidFill>
                    <a:latin typeface="Courier"/>
                  </a:rPr>
                  <a:t>ebox</a:t>
                </a:r>
                <a:r>
                  <a:rPr>
                    <a:solidFill>
                      <a:srgbClr val="003B4F"/>
                    </a:solidFill>
                    <a:latin typeface="Courier"/>
                  </a:rPr>
                  <a:t>(f, ε) </a:t>
                </a:r>
                <a:r>
                  <a:rPr>
                    <a:solidFill>
                      <a:srgbClr val="5E5E5E"/>
                    </a:solidFill>
                    <a:latin typeface="Courier"/>
                  </a:rPr>
                  <a:t>=</a:t>
                </a:r>
                <a:r>
                  <a:rPr>
                    <a:solidFill>
                      <a:srgbClr val="003B4F"/>
                    </a:solidFill>
                    <a:latin typeface="Courier"/>
                  </a:rPr>
                  <a:t> </a:t>
                </a:r>
                <a:r>
                  <a:rPr>
                    <a:solidFill>
                      <a:srgbClr val="4758AB"/>
                    </a:solidFill>
                    <a:latin typeface="Courier"/>
                  </a:rPr>
                  <a:t>floor</a:t>
                </a:r>
                <a:r>
                  <a:rPr>
                    <a:solidFill>
                      <a:srgbClr val="003B4F"/>
                    </a:solidFill>
                    <a:latin typeface="Courier"/>
                  </a:rPr>
                  <a:t>.(</a:t>
                </a:r>
                <a:r>
                  <a:rPr>
                    <a:solidFill>
                      <a:srgbClr val="AD0000"/>
                    </a:solidFill>
                    <a:latin typeface="Courier"/>
                  </a:rPr>
                  <a:t>Int</a:t>
                </a:r>
                <a:r>
                  <a:rPr>
                    <a:solidFill>
                      <a:srgbClr val="003B4F"/>
                    </a:solidFill>
                    <a:latin typeface="Courier"/>
                  </a:rPr>
                  <a:t>, f </a:t>
                </a:r>
                <a:r>
                  <a:rPr>
                    <a:solidFill>
                      <a:srgbClr val="5E5E5E"/>
                    </a:solidFill>
                    <a:latin typeface="Courier"/>
                  </a:rPr>
                  <a:t>./</a:t>
                </a:r>
                <a:r>
                  <a:rPr>
                    <a:solidFill>
                      <a:srgbClr val="003B4F"/>
                    </a:solidFill>
                    <a:latin typeface="Courier"/>
                  </a:rPr>
                  <a:t> ε)</a:t>
                </a:r>
                <a:br/>
                <a:br/>
                <a:r>
                  <a:rPr>
                    <a:solidFill>
                      <a:srgbClr val="5E5E5E"/>
                    </a:solidFill>
                    <a:latin typeface="Courier"/>
                  </a:rPr>
                  <a:t># a ε-dominates b if a's box dominates b's box</a:t>
                </a:r>
                <a:br/>
                <a:r>
                  <a:rPr b="1">
                    <a:solidFill>
                      <a:srgbClr val="003B4F"/>
                    </a:solidFill>
                    <a:latin typeface="Courier"/>
                  </a:rPr>
                  <a:t>function</a:t>
                </a:r>
                <a:r>
                  <a:rPr>
                    <a:solidFill>
                      <a:srgbClr val="003B4F"/>
                    </a:solidFill>
                    <a:latin typeface="Courier"/>
                  </a:rPr>
                  <a:t> </a:t>
                </a:r>
                <a:r>
                  <a:rPr>
                    <a:solidFill>
                      <a:srgbClr val="4758AB"/>
                    </a:solidFill>
                    <a:latin typeface="Courier"/>
                  </a:rPr>
                  <a:t>eps_dominates</a:t>
                </a:r>
                <a:r>
                  <a:rPr>
                    <a:solidFill>
                      <a:srgbClr val="003B4F"/>
                    </a:solidFill>
                    <a:latin typeface="Courier"/>
                  </a:rPr>
                  <a:t>(a, b, ε)</a:t>
                </a:r>
                <a:br/>
                <a:r>
                  <a:rPr>
                    <a:solidFill>
                      <a:srgbClr val="003B4F"/>
                    </a:solidFill>
                    <a:latin typeface="Courier"/>
                  </a:rPr>
                  <a:t>    ba, bb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(a, ε), </a:t>
                </a:r>
                <a:r>
                  <a:rPr>
                    <a:solidFill>
                      <a:srgbClr val="4758AB"/>
                    </a:solidFill>
                    <a:latin typeface="Courier"/>
                  </a:rPr>
                  <a:t>ebox</a:t>
                </a:r>
                <a:r>
                  <a:rPr>
                    <a:solidFill>
                      <a:srgbClr val="003B4F"/>
                    </a:solidFill>
                    <a:latin typeface="Courier"/>
                  </a:rPr>
                  <a:t>(b,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all</a:t>
                </a:r>
                <a:r>
                  <a:rPr>
                    <a:solidFill>
                      <a:srgbClr val="003B4F"/>
                    </a:solidFill>
                    <a:latin typeface="Courier"/>
                  </a:rPr>
                  <a:t>(ba </a:t>
                </a:r>
                <a:r>
                  <a:rPr>
                    <a:solidFill>
                      <a:srgbClr val="5E5E5E"/>
                    </a:solidFill>
                    <a:latin typeface="Courier"/>
                  </a:rPr>
                  <a:t>.&lt;=</a:t>
                </a:r>
                <a:r>
                  <a:rPr>
                    <a:solidFill>
                      <a:srgbClr val="003B4F"/>
                    </a:solidFill>
                    <a:latin typeface="Courier"/>
                  </a:rPr>
                  <a:t> bb) </a:t>
                </a:r>
                <a:r>
                  <a:rPr>
                    <a:solidFill>
                      <a:srgbClr val="5E5E5E"/>
                    </a:solidFill>
                    <a:latin typeface="Courier"/>
                  </a:rPr>
                  <a:t>&amp;&amp;</a:t>
                </a:r>
                <a:r>
                  <a:rPr>
                    <a:solidFill>
                      <a:srgbClr val="003B4F"/>
                    </a:solidFill>
                    <a:latin typeface="Courier"/>
                  </a:rPr>
                  <a:t> </a:t>
                </a:r>
                <a:r>
                  <a:rPr>
                    <a:solidFill>
                      <a:srgbClr val="4758AB"/>
                    </a:solidFill>
                    <a:latin typeface="Courier"/>
                  </a:rPr>
                  <a:t>any</a:t>
                </a:r>
                <a:r>
                  <a:rPr>
                    <a:solidFill>
                      <a:srgbClr val="003B4F"/>
                    </a:solidFill>
                    <a:latin typeface="Courier"/>
                  </a:rPr>
                  <a:t>(ba </a:t>
                </a:r>
                <a:r>
                  <a:rPr>
                    <a:solidFill>
                      <a:srgbClr val="5E5E5E"/>
                    </a:solidFill>
                    <a:latin typeface="Courier"/>
                  </a:rPr>
                  <a:t>.&lt;</a:t>
                </a:r>
                <a:r>
                  <a:rPr>
                    <a:solidFill>
                      <a:srgbClr val="003B4F"/>
                    </a:solidFill>
                    <a:latin typeface="Courier"/>
                  </a:rPr>
                  <a:t> bb)</a:t>
                </a:r>
                <a:br/>
                <a:r>
                  <a:rPr b="1">
                    <a:solidFill>
                      <a:srgbClr val="003B4F"/>
                    </a:solidFill>
                    <a:latin typeface="Courier"/>
                  </a:rPr>
                  <a:t>end</a:t>
                </a:r>
              </a:p>
              <a:p>
                <a:pPr lvl="0"/>
                <a:r>
                  <a:rPr>
                    <a:latin typeface="Courier"/>
                  </a:rPr>
                  <a:t>floor.(Int, f ./ ε)</a:t>
                </a:r>
                <a:r>
                  <a:rPr/>
                  <a:t> is the entire ε-grid mapping</a:t>
                </a:r>
              </a:p>
              <a:p>
                <a:pPr lvl="0"/>
                <a:r>
                  <a:rPr/>
                  <a:t>Dominance on integer tuples is the same comparison from the dominance slides — just at coarser resolution</a:t>
                </a:r>
              </a:p>
              <a:p>
                <a:pPr lvl="0" indent="0" marL="0">
                  <a:spcBef>
                    <a:spcPts val="3000"/>
                  </a:spcBef>
                  <a:buNone/>
                </a:pPr>
                <a:r>
                  <a:rPr b="1"/>
                  <a:t>Archive Update</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update_archive!</a:t>
                </a:r>
                <a:r>
                  <a:rPr>
                    <a:solidFill>
                      <a:srgbClr val="003B4F"/>
                    </a:solidFill>
                    <a:latin typeface="Courier"/>
                  </a:rPr>
                  <a:t>(archive, cand, ε)</a:t>
                </a:r>
                <a:br/>
                <a:r>
                  <a:rPr>
                    <a:solidFill>
                      <a:srgbClr val="003B4F"/>
                    </a:solidFill>
                    <a:latin typeface="Courier"/>
                  </a:rPr>
                  <a:t>    cb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(cand.f, ε)</a:t>
                </a:r>
                <a:br/>
                <a:r>
                  <a:rPr>
                    <a:solidFill>
                      <a:srgbClr val="003B4F"/>
                    </a:solidFill>
                    <a:latin typeface="Courier"/>
                  </a:rPr>
                  <a:t>    drop </a:t>
                </a:r>
                <a:r>
                  <a:rPr>
                    <a:solidFill>
                      <a:srgbClr val="5E5E5E"/>
                    </a:solidFill>
                    <a:latin typeface="Courier"/>
                  </a:rPr>
                  <a:t>=</a:t>
                </a:r>
                <a:r>
                  <a:rPr>
                    <a:solidFill>
                      <a:srgbClr val="003B4F"/>
                    </a:solidFill>
                    <a:latin typeface="Courier"/>
                  </a:rPr>
                  <a:t> </a:t>
                </a:r>
                <a:r>
                  <a:rPr>
                    <a:solidFill>
                      <a:srgbClr val="AD0000"/>
                    </a:solidFill>
                    <a:latin typeface="Courier"/>
                  </a:rPr>
                  <a:t>Int</a:t>
                </a:r>
                <a:r>
                  <a:rPr>
                    <a:solidFill>
                      <a:srgbClr val="003B4F"/>
                    </a:solidFill>
                    <a:latin typeface="Courier"/>
                  </a:rPr>
                  <a:t>[]</a:t>
                </a:r>
                <a:br/>
                <a:r>
                  <a:rPr>
                    <a:solidFill>
                      <a:srgbClr val="003B4F"/>
                    </a:solidFill>
                    <a:latin typeface="Courier"/>
                  </a:rPr>
                  <a:t>    </a:t>
                </a:r>
                <a:r>
                  <a:rPr b="1">
                    <a:solidFill>
                      <a:srgbClr val="003B4F"/>
                    </a:solidFill>
                    <a:latin typeface="Courier"/>
                  </a:rPr>
                  <a:t>for</a:t>
                </a:r>
                <a:r>
                  <a:rPr>
                    <a:solidFill>
                      <a:srgbClr val="003B4F"/>
                    </a:solidFill>
                    <a:latin typeface="Courier"/>
                  </a:rPr>
                  <a:t> (i, m)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(archive)</a:t>
                </a:r>
                <a:br/>
                <a:r>
                  <a:rPr>
                    <a:solidFill>
                      <a:srgbClr val="003B4F"/>
                    </a:solidFill>
                    <a:latin typeface="Courier"/>
                  </a:rPr>
                  <a:t>        mb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(m.f, ε)</a:t>
                </a:r>
                <a:br/>
                <a:r>
                  <a:rPr>
                    <a:solidFill>
                      <a:srgbClr val="003B4F"/>
                    </a:solidFill>
                    <a:latin typeface="Courier"/>
                  </a:rPr>
                  <a:t>        </a:t>
                </a:r>
                <a:r>
                  <a:rPr b="1">
                    <a:solidFill>
                      <a:srgbClr val="003B4F"/>
                    </a:solidFill>
                    <a:latin typeface="Courier"/>
                  </a:rPr>
                  <a:t>if</a:t>
                </a:r>
                <a:r>
                  <a:rPr>
                    <a:solidFill>
                      <a:srgbClr val="003B4F"/>
                    </a:solidFill>
                    <a:latin typeface="Courier"/>
                  </a:rPr>
                  <a:t> mb </a:t>
                </a:r>
                <a:r>
                  <a:rPr>
                    <a:solidFill>
                      <a:srgbClr val="5E5E5E"/>
                    </a:solidFill>
                    <a:latin typeface="Courier"/>
                  </a:rPr>
                  <a:t>==</a:t>
                </a:r>
                <a:r>
                  <a:rPr>
                    <a:solidFill>
                      <a:srgbClr val="003B4F"/>
                    </a:solidFill>
                    <a:latin typeface="Courier"/>
                  </a:rPr>
                  <a:t> cb</a:t>
                </a:r>
                <a:br/>
                <a:r>
                  <a:rPr>
                    <a:solidFill>
                      <a:srgbClr val="003B4F"/>
                    </a:solidFill>
                    <a:latin typeface="Courier"/>
                  </a:rPr>
                  <a:t>            </a:t>
                </a:r>
                <a:r>
                  <a:rPr>
                    <a:solidFill>
                      <a:srgbClr val="5E5E5E"/>
                    </a:solidFill>
                    <a:latin typeface="Courier"/>
                  </a:rPr>
                  <a:t># Same box: keep whichever is closer to its lower corner</a:t>
                </a:r>
                <a:br/>
                <a:r>
                  <a:rPr>
                    <a:solidFill>
                      <a:srgbClr val="003B4F"/>
                    </a:solidFill>
                    <a:latin typeface="Courier"/>
                  </a:rPr>
                  <a:t>            </a:t>
                </a:r>
                <a:r>
                  <a:rPr b="1">
                    <a:solidFill>
                      <a:srgbClr val="003B4F"/>
                    </a:solidFill>
                    <a:latin typeface="Courier"/>
                  </a:rPr>
                  <a:t>if</a:t>
                </a:r>
                <a:r>
                  <a:rPr>
                    <a:solidFill>
                      <a:srgbClr val="003B4F"/>
                    </a:solidFill>
                    <a:latin typeface="Courier"/>
                  </a:rPr>
                  <a:t> </a:t>
                </a:r>
                <a:r>
                  <a:rPr>
                    <a:solidFill>
                      <a:srgbClr val="4758AB"/>
                    </a:solidFill>
                    <a:latin typeface="Courier"/>
                  </a:rPr>
                  <a:t>sum</a:t>
                </a:r>
                <a:r>
                  <a:rPr>
                    <a:solidFill>
                      <a:srgbClr val="003B4F"/>
                    </a:solidFill>
                    <a:latin typeface="Courier"/>
                  </a:rPr>
                  <a:t>((m.f </a:t>
                </a:r>
                <a:r>
                  <a:rPr>
                    <a:solidFill>
                      <a:srgbClr val="5E5E5E"/>
                    </a:solidFill>
                    <a:latin typeface="Courier"/>
                  </a:rPr>
                  <a:t>.-</a:t>
                </a:r>
                <a:r>
                  <a:rPr>
                    <a:solidFill>
                      <a:srgbClr val="003B4F"/>
                    </a:solidFill>
                    <a:latin typeface="Courier"/>
                  </a:rPr>
                  <a:t> mb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4758AB"/>
                    </a:solidFill>
                    <a:latin typeface="Courier"/>
                  </a:rPr>
                  <a:t>sum</a:t>
                </a:r>
                <a:r>
                  <a:rPr>
                    <a:solidFill>
                      <a:srgbClr val="003B4F"/>
                    </a:solidFill>
                    <a:latin typeface="Courier"/>
                  </a:rPr>
                  <a:t>((cand.f </a:t>
                </a:r>
                <a:r>
                  <a:rPr>
                    <a:solidFill>
                      <a:srgbClr val="5E5E5E"/>
                    </a:solidFill>
                    <a:latin typeface="Courier"/>
                  </a:rPr>
                  <a:t>.-</a:t>
                </a:r>
                <a:r>
                  <a:rPr>
                    <a:solidFill>
                      <a:srgbClr val="003B4F"/>
                    </a:solidFill>
                    <a:latin typeface="Courier"/>
                  </a:rPr>
                  <a:t> cb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b="1">
                    <a:solidFill>
                      <a:srgbClr val="003B4F"/>
                    </a:solidFill>
                    <a:latin typeface="Courier"/>
                  </a:rPr>
                  <a:t>return</a:t>
                </a:r>
                <a:br/>
                <a:r>
                  <a:rPr>
                    <a:solidFill>
                      <a:srgbClr val="003B4F"/>
                    </a:solidFill>
                    <a:latin typeface="Courier"/>
                  </a:rPr>
                  <a:t>            </a:t>
                </a:r>
                <a:r>
                  <a:rPr b="1">
                    <a:solidFill>
                      <a:srgbClr val="003B4F"/>
                    </a:solidFill>
                    <a:latin typeface="Courier"/>
                  </a:rPr>
                  <a:t>else</a:t>
                </a:r>
                <a:br/>
                <a:r>
                  <a:rPr>
                    <a:solidFill>
                      <a:srgbClr val="003B4F"/>
                    </a:solidFill>
                    <a:latin typeface="Courier"/>
                  </a:rPr>
                  <a:t>                </a:t>
                </a:r>
                <a:r>
                  <a:rPr>
                    <a:solidFill>
                      <a:srgbClr val="4758AB"/>
                    </a:solidFill>
                    <a:latin typeface="Courier"/>
                  </a:rPr>
                  <a:t>push!</a:t>
                </a:r>
                <a:r>
                  <a:rPr>
                    <a:solidFill>
                      <a:srgbClr val="003B4F"/>
                    </a:solidFill>
                    <a:latin typeface="Courier"/>
                  </a:rPr>
                  <a:t>(drop, i)</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(m.f, cand.f,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5E5E5E"/>
                    </a:solidFill>
                    <a:latin typeface="Courier"/>
                  </a:rPr>
                  <a:t># candidate ε-dominated by m</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(cand.f, m.f, ε)</a:t>
                </a:r>
                <a:br/>
                <a:r>
                  <a:rPr>
                    <a:solidFill>
                      <a:srgbClr val="003B4F"/>
                    </a:solidFill>
                    <a:latin typeface="Courier"/>
                  </a:rPr>
                  <a:t>            </a:t>
                </a:r>
                <a:r>
                  <a:rPr>
                    <a:solidFill>
                      <a:srgbClr val="4758AB"/>
                    </a:solidFill>
                    <a:latin typeface="Courier"/>
                  </a:rPr>
                  <a:t>push!</a:t>
                </a:r>
                <a:r>
                  <a:rPr>
                    <a:solidFill>
                      <a:srgbClr val="003B4F"/>
                    </a:solidFill>
                    <a:latin typeface="Courier"/>
                  </a:rPr>
                  <a:t>(drop, i)                   </a:t>
                </a:r>
                <a:r>
                  <a:rPr>
                    <a:solidFill>
                      <a:srgbClr val="5E5E5E"/>
                    </a:solidFill>
                    <a:latin typeface="Courier"/>
                  </a:rPr>
                  <a:t># candidate ε-dominates m</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4758AB"/>
                    </a:solidFill>
                    <a:latin typeface="Courier"/>
                  </a:rPr>
                  <a:t>deleteat!</a:t>
                </a:r>
                <a:r>
                  <a:rPr>
                    <a:solidFill>
                      <a:srgbClr val="003B4F"/>
                    </a:solidFill>
                    <a:latin typeface="Courier"/>
                  </a:rPr>
                  <a:t>(archive, drop)</a:t>
                </a:r>
                <a:br/>
                <a:r>
                  <a:rPr>
                    <a:solidFill>
                      <a:srgbClr val="003B4F"/>
                    </a:solidFill>
                    <a:latin typeface="Courier"/>
                  </a:rPr>
                  <a:t>    </a:t>
                </a:r>
                <a:r>
                  <a:rPr>
                    <a:solidFill>
                      <a:srgbClr val="4758AB"/>
                    </a:solidFill>
                    <a:latin typeface="Courier"/>
                  </a:rPr>
                  <a:t>push!</a:t>
                </a:r>
                <a:r>
                  <a:rPr>
                    <a:solidFill>
                      <a:srgbClr val="003B4F"/>
                    </a:solidFill>
                    <a:latin typeface="Courier"/>
                  </a:rPr>
                  <a:t>(archive, cand)</a:t>
                </a:r>
                <a:br/>
                <a:r>
                  <a:rPr>
                    <a:solidFill>
                      <a:srgbClr val="003B4F"/>
                    </a:solidFill>
                    <a:latin typeface="Courier"/>
                  </a:rPr>
                  <a:t>    </a:t>
                </a:r>
                <a:r>
                  <a:rPr b="1">
                    <a:solidFill>
                      <a:srgbClr val="003B4F"/>
                    </a:solidFill>
                    <a:latin typeface="Courier"/>
                  </a:rPr>
                  <a:t>return</a:t>
                </a:r>
                <a:br/>
                <a:r>
                  <a:rPr b="1">
                    <a:solidFill>
                      <a:srgbClr val="003B4F"/>
                    </a:solidFill>
                    <a:latin typeface="Courier"/>
                  </a:rPr>
                  <a:t>end</a:t>
                </a:r>
              </a:p>
              <a:p>
                <a:pPr lvl="0" indent="0" marL="0">
                  <a:spcBef>
                    <a:spcPts val="3000"/>
                  </a:spcBef>
                  <a:buNone/>
                </a:pPr>
                <a:r>
                  <a:rPr b="1"/>
                  <a:t>Initialize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40</a:t>
            </a:r>
            <a:br/>
            <a:r>
              <a:rPr>
                <a:solidFill>
                  <a:srgbClr val="003B4F"/>
                </a:solidFill>
                <a:latin typeface="Courier"/>
              </a:rPr>
              <a:t>ε </a:t>
            </a:r>
            <a:r>
              <a:rPr>
                <a:solidFill>
                  <a:srgbClr val="5E5E5E"/>
                </a:solidFill>
                <a:latin typeface="Courier"/>
              </a:rPr>
              <a: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AD0000"/>
                </a:solidFill>
                <a:latin typeface="Courier"/>
              </a:rPr>
              <a:t>0.05</a:t>
            </a:r>
            <a:r>
              <a:rPr>
                <a:solidFill>
                  <a:srgbClr val="003B4F"/>
                </a:solidFill>
                <a:latin typeface="Courier"/>
              </a:rPr>
              <a:t>]</a:t>
            </a:r>
            <a:b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f</a:t>
            </a:r>
            <a:r>
              <a:rPr>
                <a:solidFill>
                  <a:srgbClr val="5E5E5E"/>
                </a:solidFill>
                <a:latin typeface="Courier"/>
              </a:rPr>
              <a:t>=</a:t>
            </a:r>
            <a:r>
              <a:rPr>
                <a:solidFill>
                  <a:srgbClr val="4758AB"/>
                </a:solidFill>
                <a:latin typeface="Courier"/>
              </a:rPr>
              <a:t>zeros</a:t>
            </a:r>
            <a:r>
              <a:rPr>
                <a:solidFill>
                  <a:srgbClr val="003B4F"/>
                </a:solidFill>
                <a:latin typeface="Courier"/>
              </a:rPr>
              <a:t>(</a:t>
            </a:r>
            <a:r>
              <a:rPr>
                <a:solidFill>
                  <a:srgbClr val="AD0000"/>
                </a:solidFill>
                <a:latin typeface="Courier"/>
              </a:rPr>
              <a:t>2</a:t>
            </a:r>
            <a:r>
              <a:rPr>
                <a:solidFill>
                  <a:srgbClr val="003B4F"/>
                </a:solidFill>
                <a:latin typeface="Courier"/>
              </a:rPr>
              <a:t>))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003B4F"/>
                </a:solidFill>
                <a:latin typeface="Courier"/>
              </a:rPr>
              <a:t>p.x, f</a:t>
            </a:r>
            <a:r>
              <a:rPr>
                <a:solidFill>
                  <a:srgbClr val="5E5E5E"/>
                </a:solidFill>
                <a:latin typeface="Courier"/>
              </a:rPr>
              <a:t>=</a:t>
            </a:r>
            <a:r>
              <a:rPr>
                <a:solidFill>
                  <a:srgbClr val="4758AB"/>
                </a:solidFill>
                <a:latin typeface="Courier"/>
              </a:rPr>
              <a:t>zdt1</a:t>
            </a:r>
            <a:r>
              <a:rPr>
                <a:solidFill>
                  <a:srgbClr val="003B4F"/>
                </a:solidFill>
                <a:latin typeface="Courier"/>
              </a:rPr>
              <a:t>(p.x)) for p </a:t>
            </a:r>
            <a:r>
              <a:rPr b="1">
                <a:solidFill>
                  <a:srgbClr val="003B4F"/>
                </a:solidFill>
                <a:latin typeface="Courier"/>
              </a:rPr>
              <a:t>in</a:t>
            </a:r>
            <a:r>
              <a:rPr>
                <a:solidFill>
                  <a:srgbClr val="003B4F"/>
                </a:solidFill>
                <a:latin typeface="Courier"/>
              </a:rPr>
              <a:t> pop]</a:t>
            </a:r>
            <a:br/>
            <a:br/>
            <a:r>
              <a:rPr>
                <a:solidFill>
                  <a:srgbClr val="003B4F"/>
                </a:solidFill>
                <a:latin typeface="Courier"/>
              </a:rPr>
              <a:t>archive </a:t>
            </a:r>
            <a:r>
              <a:rPr>
                <a:solidFill>
                  <a:srgbClr val="5E5E5E"/>
                </a:solidFill>
                <a:latin typeface="Courier"/>
              </a:rPr>
              <a:t>=</a:t>
            </a:r>
            <a:r>
              <a:rPr>
                <a:solidFill>
                  <a:srgbClr val="003B4F"/>
                </a:solidFill>
                <a:latin typeface="Courier"/>
              </a:rPr>
              <a:t> </a:t>
            </a:r>
            <a:r>
              <a:rPr>
                <a:solidFill>
                  <a:srgbClr val="4758AB"/>
                </a:solidFill>
                <a:latin typeface="Courier"/>
              </a:rPr>
              <a:t>eltype</a:t>
            </a:r>
            <a:r>
              <a:rPr>
                <a:solidFill>
                  <a:srgbClr val="003B4F"/>
                </a:solidFill>
                <a:latin typeface="Courier"/>
              </a:rPr>
              <a:t>(pop)[]</a:t>
            </a:r>
            <a:br/>
            <a:r>
              <a:rPr b="1">
                <a:solidFill>
                  <a:srgbClr val="003B4F"/>
                </a:solidFill>
                <a:latin typeface="Courier"/>
              </a:rPr>
              <a:t>for</a:t>
            </a:r>
            <a:r>
              <a:rPr>
                <a:solidFill>
                  <a:srgbClr val="003B4F"/>
                </a:solidFill>
                <a:latin typeface="Courier"/>
              </a:rPr>
              <a:t> p </a:t>
            </a:r>
            <a:r>
              <a:rPr b="1">
                <a:solidFill>
                  <a:srgbClr val="003B4F"/>
                </a:solidFill>
                <a:latin typeface="Courier"/>
              </a:rPr>
              <a:t>in</a:t>
            </a:r>
            <a:r>
              <a:rPr>
                <a:solidFill>
                  <a:srgbClr val="003B4F"/>
                </a:solidFill>
                <a:latin typeface="Courier"/>
              </a:rPr>
              <a:t> pop</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p, ε)</a:t>
            </a:r>
            <a:br/>
            <a:r>
              <a:rPr b="1">
                <a:solidFill>
                  <a:srgbClr val="003B4F"/>
                </a:solidFill>
                <a:latin typeface="Courier"/>
              </a:rPr>
              <a:t>end</a:t>
            </a:r>
            <a:br/>
            <a:r>
              <a:rPr>
                <a:solidFill>
                  <a:srgbClr val="4758AB"/>
                </a:solidFill>
                <a:latin typeface="Courier"/>
              </a:rPr>
              <a:t>length</a:t>
            </a:r>
            <a:r>
              <a:rPr>
                <a:solidFill>
                  <a:srgbClr val="003B4F"/>
                </a:solidFill>
                <a:latin typeface="Courier"/>
              </a:rPr>
              <a:t>(archive)</a:t>
            </a:r>
          </a:p>
        </p:txBody>
      </p:sp>
      <p:pic>
        <p:nvPicPr>
          <p:cNvPr descr="index_files/figure-pptx/fig-init-output-1.png" id="0" name="Picture 1"/>
          <p:cNvPicPr>
            <a:picLocks noGrp="1" noChangeAspect="1"/>
          </p:cNvPicPr>
          <p:nvPr/>
        </p:nvPicPr>
        <p:blipFill>
          <a:blip r:embed="rId3"/>
          <a:stretch>
            <a:fillRect/>
          </a:stretch>
        </p:blipFill>
        <p:spPr bwMode="auto">
          <a:xfrm>
            <a:off x="4991100" y="1193800"/>
            <a:ext cx="3365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5: Initial population (blue) vs. analytical front (dashed).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Running the Model</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step!</a:t>
            </a:r>
            <a:r>
              <a:rPr>
                <a:solidFill>
                  <a:srgbClr val="003B4F"/>
                </a:solidFill>
                <a:latin typeface="Courier"/>
              </a:rPr>
              <a:t>(pop, archive, ε; p_random</a:t>
            </a:r>
            <a:r>
              <a:rPr>
                <a:solidFill>
                  <a:srgbClr val="5E5E5E"/>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offspring </a:t>
            </a:r>
            <a:r>
              <a:rPr>
                <a:solidFill>
                  <a:srgbClr val="5E5E5E"/>
                </a:solidFill>
                <a:latin typeface="Courier"/>
              </a:rPr>
              <a:t>=</a:t>
            </a:r>
            <a:r>
              <a:rPr>
                <a:solidFill>
                  <a:srgbClr val="003B4F"/>
                </a:solidFill>
                <a:latin typeface="Courier"/>
              </a:rPr>
              <a:t> </a:t>
            </a:r>
            <a:r>
              <a:rPr>
                <a:solidFill>
                  <a:srgbClr val="4758AB"/>
                </a:solidFill>
                <a:latin typeface="Courier"/>
              </a:rPr>
              <a:t>map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(pop)) </a:t>
            </a:r>
            <a:r>
              <a:rPr b="1">
                <a:solidFill>
                  <a:srgbClr val="003B4F"/>
                </a:solidFill>
                <a:latin typeface="Courier"/>
              </a:rPr>
              <a:t>do</a:t>
            </a:r>
            <a:r>
              <a:rPr>
                <a:solidFill>
                  <a:srgbClr val="003B4F"/>
                </a:solidFill>
                <a:latin typeface="Courier"/>
              </a:rPr>
              <a:t> _</a:t>
            </a:r>
            <a:br/>
            <a:r>
              <a:rPr>
                <a:solidFill>
                  <a:srgbClr val="003B4F"/>
                </a:solidFill>
                <a:latin typeface="Courier"/>
              </a:rPr>
              <a:t>        x </a:t>
            </a:r>
            <a:r>
              <a:rPr>
                <a:solidFill>
                  <a:srgbClr val="5E5E5E"/>
                </a:solidFill>
                <a:latin typeface="Courier"/>
              </a:rPr>
              <a:t>=</a:t>
            </a:r>
            <a:r>
              <a:rPr>
                <a:solidFill>
                  <a:srgbClr val="003B4F"/>
                </a:solidFill>
                <a:latin typeface="Courier"/>
              </a:rPr>
              <a:t> </a:t>
            </a:r>
            <a:r>
              <a:rPr>
                <a:solidFill>
                  <a:srgbClr val="4758AB"/>
                </a:solidFill>
                <a:latin typeface="Courier"/>
              </a:rPr>
              <a:t>rand</a:t>
            </a:r>
            <a:r>
              <a:rPr>
                <a:solidFill>
                  <a:srgbClr val="003B4F"/>
                </a:solidFill>
                <a:latin typeface="Courier"/>
              </a:rPr>
              <a:t>() </a:t>
            </a:r>
            <a:r>
              <a:rPr>
                <a:solidFill>
                  <a:srgbClr val="5E5E5E"/>
                </a:solidFill>
                <a:latin typeface="Courier"/>
              </a:rPr>
              <a:t>&lt;</a:t>
            </a:r>
            <a:r>
              <a:rPr>
                <a:solidFill>
                  <a:srgbClr val="003B4F"/>
                </a:solidFill>
                <a:latin typeface="Courier"/>
              </a:rPr>
              <a:t> p_random ? </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rand</a:t>
            </a:r>
            <a:r>
              <a:rPr>
                <a:solidFill>
                  <a:srgbClr val="003B4F"/>
                </a:solidFill>
                <a:latin typeface="Courier"/>
              </a:rPr>
              <a:t>(pop).x)</a:t>
            </a:r>
            <a:br/>
            <a:r>
              <a:rPr>
                <a:solidFill>
                  <a:srgbClr val="003B4F"/>
                </a:solidFill>
                <a:latin typeface="Courier"/>
              </a:rPr>
              <a:t>        (x</a:t>
            </a:r>
            <a:r>
              <a:rPr>
                <a:solidFill>
                  <a:srgbClr val="5E5E5E"/>
                </a:solidFill>
                <a:latin typeface="Courier"/>
              </a:rPr>
              <a:t>=</a:t>
            </a:r>
            <a:r>
              <a:rPr>
                <a:solidFill>
                  <a:srgbClr val="003B4F"/>
                </a:solidFill>
                <a:latin typeface="Courier"/>
              </a:rPr>
              <a:t>x, f</a:t>
            </a:r>
            <a:r>
              <a:rPr>
                <a:solidFill>
                  <a:srgbClr val="5E5E5E"/>
                </a:solidFill>
                <a:latin typeface="Courier"/>
              </a:rPr>
              <a:t>=</a:t>
            </a:r>
            <a:r>
              <a:rPr>
                <a:solidFill>
                  <a:srgbClr val="4758AB"/>
                </a:solidFill>
                <a:latin typeface="Courier"/>
              </a:rPr>
              <a:t>zdt1</a:t>
            </a:r>
            <a:r>
              <a:rPr>
                <a:solidFill>
                  <a:srgbClr val="003B4F"/>
                </a:solidFill>
                <a:latin typeface="Courier"/>
              </a:rPr>
              <a:t>(x))</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for</a:t>
            </a:r>
            <a:r>
              <a:rPr>
                <a:solidFill>
                  <a:srgbClr val="003B4F"/>
                </a:solidFill>
                <a:latin typeface="Courier"/>
              </a:rPr>
              <a:t> o </a:t>
            </a:r>
            <a:r>
              <a:rPr b="1">
                <a:solidFill>
                  <a:srgbClr val="003B4F"/>
                </a:solidFill>
                <a:latin typeface="Courier"/>
              </a:rPr>
              <a:t>in</a:t>
            </a:r>
            <a:r>
              <a:rPr>
                <a:solidFill>
                  <a:srgbClr val="003B4F"/>
                </a:solidFill>
                <a:latin typeface="Courier"/>
              </a:rPr>
              <a:t> offspring</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o, ε)</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5E5E5E"/>
                </a:solidFill>
                <a:latin typeface="Courier"/>
              </a:rPr>
              <a:t># Next generation: half from archive (exploit), half from offspring (explore)</a:t>
            </a:r>
            <a:br/>
            <a:r>
              <a:rPr>
                <a:solidFill>
                  <a:srgbClr val="003B4F"/>
                </a:solidFill>
                <a:latin typeface="Courier"/>
              </a:rPr>
              <a:t>    half </a:t>
            </a:r>
            <a:r>
              <a:rPr>
                <a:solidFill>
                  <a:srgbClr val="5E5E5E"/>
                </a:solidFill>
                <a:latin typeface="Courier"/>
              </a:rPr>
              <a:t>=</a:t>
            </a:r>
            <a:r>
              <a:rPr>
                <a:solidFill>
                  <a:srgbClr val="003B4F"/>
                </a:solidFill>
                <a:latin typeface="Courier"/>
              </a:rPr>
              <a:t> </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vcat</a:t>
            </a:r>
            <a:r>
              <a:rPr>
                <a:solidFill>
                  <a:srgbClr val="003B4F"/>
                </a:solidFill>
                <a:latin typeface="Courier"/>
              </a:rPr>
              <a:t>(</a:t>
            </a:r>
            <a:br/>
            <a:r>
              <a:rPr>
                <a:solidFill>
                  <a:srgbClr val="003B4F"/>
                </a:solidFill>
                <a:latin typeface="Courier"/>
              </a:rPr>
              <a:t>        [archive[</a:t>
            </a:r>
            <a:r>
              <a:rPr>
                <a:solidFill>
                  <a:srgbClr val="4758AB"/>
                </a:solidFill>
                <a:latin typeface="Courier"/>
              </a:rPr>
              <a:t>rand</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(archive))]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half],</a:t>
            </a:r>
            <a:br/>
            <a:r>
              <a:rPr>
                <a:solidFill>
                  <a:srgbClr val="003B4F"/>
                </a:solidFill>
                <a:latin typeface="Courier"/>
              </a:rPr>
              <a:t>        offspring[</a:t>
            </a:r>
            <a:r>
              <a:rPr>
                <a:solidFill>
                  <a:srgbClr val="AD0000"/>
                </a:solidFill>
                <a:latin typeface="Courier"/>
              </a:rPr>
              <a:t>1</a:t>
            </a:r>
            <a:r>
              <a:rPr>
                <a:solidFill>
                  <a:srgbClr val="5E5E5E"/>
                </a:solidFill>
                <a:latin typeface="Courier"/>
              </a:rPr>
              <a:t>:</a:t>
            </a:r>
            <a:r>
              <a:rPr>
                <a:solidFill>
                  <a:srgbClr val="003B4F"/>
                </a:solidFill>
                <a:latin typeface="Courier"/>
              </a:rPr>
              <a:t>(</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half)],</a:t>
            </a:r>
            <a:br/>
            <a:r>
              <a:rPr>
                <a:solidFill>
                  <a:srgbClr val="003B4F"/>
                </a:solidFill>
                <a:latin typeface="Courier"/>
              </a:rPr>
              <a:t>    )</a:t>
            </a:r>
            <a:br/>
            <a:r>
              <a:rPr b="1">
                <a:solidFill>
                  <a:srgbClr val="003B4F"/>
                </a:solidFill>
                <a:latin typeface="Courier"/>
              </a:rPr>
              <a:t>end</a:t>
            </a:r>
          </a:p>
          <a:p>
            <a:pPr lvl="0" indent="0">
              <a:buNone/>
            </a:pPr>
            <a:r>
              <a:rPr>
                <a:solidFill>
                  <a:srgbClr val="003B4F"/>
                </a:solidFill>
                <a:latin typeface="Courier"/>
              </a:rPr>
              <a:t>gens </a:t>
            </a:r>
            <a:r>
              <a:rPr>
                <a:solidFill>
                  <a:srgbClr val="5E5E5E"/>
                </a:solidFill>
                <a:latin typeface="Courier"/>
              </a:rPr>
              <a:t>=</a:t>
            </a:r>
            <a:r>
              <a:rPr>
                <a:solidFill>
                  <a:srgbClr val="003B4F"/>
                </a:solidFill>
                <a:latin typeface="Courier"/>
              </a:rPr>
              <a:t> </a:t>
            </a:r>
            <a:r>
              <a:rPr>
                <a:solidFill>
                  <a:srgbClr val="AD0000"/>
                </a:solidFill>
                <a:latin typeface="Courier"/>
              </a:rPr>
              <a:t>50</a:t>
            </a:r>
            <a:br/>
            <a:r>
              <a:rPr>
                <a:solidFill>
                  <a:srgbClr val="5E5E5E"/>
                </a:solidFill>
                <a:latin typeface="Courier"/>
              </a:rPr>
              <a:t># Frame 0: the raw initial random population (before any selection)</a:t>
            </a:r>
            <a:br/>
            <a:r>
              <a:rPr>
                <a:solidFill>
                  <a:srgbClr val="003B4F"/>
                </a:solidFill>
                <a:latin typeface="Courier"/>
              </a:rPr>
              <a:t>snapshots </a:t>
            </a:r>
            <a:r>
              <a:rPr>
                <a:solidFill>
                  <a:srgbClr val="5E5E5E"/>
                </a:solidFill>
                <a:latin typeface="Courier"/>
              </a:rPr>
              <a:t>=</a:t>
            </a:r>
            <a:r>
              <a:rPr>
                <a:solidFill>
                  <a:srgbClr val="003B4F"/>
                </a:solidFill>
                <a:latin typeface="Courier"/>
              </a:rPr>
              <a:t> </a:t>
            </a:r>
            <a:r>
              <a:rPr>
                <a:solidFill>
                  <a:srgbClr val="4758AB"/>
                </a:solidFill>
                <a:latin typeface="Courier"/>
              </a:rPr>
              <a:t>Vector</a:t>
            </a:r>
            <a:r>
              <a:rPr>
                <a:solidFill>
                  <a:srgbClr val="AD0000"/>
                </a:solidFill>
                <a:latin typeface="Courier"/>
              </a:rPr>
              <a:t>{Vector{Point2f}}</a:t>
            </a:r>
            <a:r>
              <a:rPr>
                <a:solidFill>
                  <a:srgbClr val="003B4F"/>
                </a:solidFill>
                <a:latin typeface="Courier"/>
              </a:rPr>
              <a:t>()</a:t>
            </a:r>
            <a:b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(p.f</a:t>
            </a:r>
            <a:r>
              <a:rPr>
                <a:solidFill>
                  <a:srgbClr val="5E5E5E"/>
                </a:solidFill>
                <a:latin typeface="Courier"/>
              </a:rPr>
              <a:t>...</a:t>
            </a:r>
            <a:r>
              <a:rPr>
                <a:solidFill>
                  <a:srgbClr val="003B4F"/>
                </a:solidFill>
                <a:latin typeface="Courier"/>
              </a:rPr>
              <a:t>) for p </a:t>
            </a:r>
            <a:r>
              <a:rPr b="1">
                <a:solidFill>
                  <a:srgbClr val="003B4F"/>
                </a:solidFill>
                <a:latin typeface="Courier"/>
              </a:rPr>
              <a:t>in</a:t>
            </a:r>
            <a:r>
              <a:rPr>
                <a:solidFill>
                  <a:srgbClr val="003B4F"/>
                </a:solidFill>
                <a:latin typeface="Courier"/>
              </a:rPr>
              <a:t> pop])</a:t>
            </a:r>
            <a:br/>
            <a:r>
              <a:rPr>
                <a:solidFill>
                  <a:srgbClr val="5E5E5E"/>
                </a:solidFill>
                <a:latin typeface="Courier"/>
              </a:rPr>
              <a:t># Frames 1..gens: archive after each generation</a:t>
            </a:r>
            <a:br/>
            <a:r>
              <a:rPr b="1">
                <a:solidFill>
                  <a:srgbClr val="003B4F"/>
                </a:solidFill>
                <a:latin typeface="Courier"/>
              </a:rPr>
              <a:t>for</a:t>
            </a:r>
            <a:r>
              <a:rPr>
                <a:solidFill>
                  <a:srgbClr val="003B4F"/>
                </a:solidFill>
                <a:latin typeface="Courier"/>
              </a:rPr>
              <a:t> g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gens</a:t>
            </a:r>
            <a:br/>
            <a:r>
              <a:rPr>
                <a:solidFill>
                  <a:srgbClr val="003B4F"/>
                </a:solidFill>
                <a:latin typeface="Courier"/>
              </a:rPr>
              <a:t>    </a:t>
            </a:r>
            <a:r>
              <a:rPr b="1">
                <a:solidFill>
                  <a:srgbClr val="003B4F"/>
                </a:solidFill>
                <a:latin typeface="Courier"/>
              </a:rPr>
              <a:t>global</a:t>
            </a:r>
            <a:r>
              <a:rPr>
                <a:solidFill>
                  <a:srgbClr val="003B4F"/>
                </a:solidFill>
                <a:latin typeface="Courier"/>
              </a:rPr>
              <a:t> pop </a:t>
            </a:r>
            <a:r>
              <a:rPr>
                <a:solidFill>
                  <a:srgbClr val="5E5E5E"/>
                </a:solidFill>
                <a:latin typeface="Courier"/>
              </a:rPr>
              <a:t>=</a:t>
            </a:r>
            <a:r>
              <a:rPr>
                <a:solidFill>
                  <a:srgbClr val="003B4F"/>
                </a:solidFill>
                <a:latin typeface="Courier"/>
              </a:rPr>
              <a:t> </a:t>
            </a:r>
            <a:r>
              <a:rPr>
                <a:solidFill>
                  <a:srgbClr val="4758AB"/>
                </a:solidFill>
                <a:latin typeface="Courier"/>
              </a:rPr>
              <a:t>step!</a:t>
            </a:r>
            <a:r>
              <a:rPr>
                <a:solidFill>
                  <a:srgbClr val="003B4F"/>
                </a:solidFill>
                <a:latin typeface="Courier"/>
              </a:rPr>
              <a:t>(pop, archive, ε)</a:t>
            </a:r>
            <a:br/>
            <a:r>
              <a:rPr>
                <a:solidFill>
                  <a:srgbClr val="003B4F"/>
                </a:solidFill>
                <a:latin typeface="Courier"/>
              </a:rPr>
              <a:t>    </a:t>
            </a: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(m.f</a:t>
            </a:r>
            <a:r>
              <a:rPr>
                <a:solidFill>
                  <a:srgbClr val="5E5E5E"/>
                </a:solidFill>
                <a:latin typeface="Courier"/>
              </a:rPr>
              <a:t>...</a:t>
            </a:r>
            <a:r>
              <a:rPr>
                <a:solidFill>
                  <a:srgbClr val="003B4F"/>
                </a:solidFill>
                <a:latin typeface="Courier"/>
              </a:rPr>
              <a:t>) for m </a:t>
            </a:r>
            <a:r>
              <a:rPr b="1">
                <a:solidFill>
                  <a:srgbClr val="003B4F"/>
                </a:solidFill>
                <a:latin typeface="Courier"/>
              </a:rPr>
              <a:t>in</a:t>
            </a:r>
            <a:r>
              <a:rPr>
                <a:solidFill>
                  <a:srgbClr val="003B4F"/>
                </a:solidFill>
                <a:latin typeface="Courier"/>
              </a:rPr>
              <a:t> archive])</a:t>
            </a:r>
            <a:br/>
            <a:r>
              <a:rPr b="1">
                <a:solidFill>
                  <a:srgbClr val="003B4F"/>
                </a:solidFill>
                <a:latin typeface="Courier"/>
              </a:rPr>
              <a:t>end</a:t>
            </a:r>
          </a:p>
          <a:p>
            <a:pPr lvl="0" indent="0" marL="0">
              <a:spcBef>
                <a:spcPts val="3000"/>
              </a:spcBef>
              <a:buNone/>
            </a:pPr>
            <a:r>
              <a:rPr b="1"/>
              <a:t>Watching It Converge</a:t>
            </a:r>
          </a:p>
        </p:txBody>
      </p:sp>
      <p:pic>
        <p:nvPicPr>
          <p:cNvPr descr="convergence.gif" id="0" name="Picture 1"/>
          <p:cNvPicPr>
            <a:picLocks noGrp="1" noChangeAspect="1"/>
          </p:cNvPicPr>
          <p:nvPr/>
        </p:nvPicPr>
        <p:blipFill>
          <a:blip r:embed="rId3"/>
          <a:stretch>
            <a:fillRect/>
          </a:stretch>
        </p:blipFill>
        <p:spPr bwMode="auto">
          <a:xfrm>
            <a:off x="3568700" y="482600"/>
            <a:ext cx="5105400" cy="3835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and Using the Pareto Front</a:t>
            </a:r>
          </a:p>
        </p:txBody>
      </p:sp>
      <p:sp>
        <p:nvSpPr>
          <p:cNvPr id="3" name="Content Placeholder 2"/>
          <p:cNvSpPr>
            <a:spLocks noGrp="1"/>
          </p:cNvSpPr>
          <p:nvPr>
            <p:ph idx="1"/>
          </p:nvPr>
        </p:nvSpPr>
        <p:spPr/>
        <p:txBody>
          <a:bodyPr/>
          <a:lstStyle/>
          <a:p>
            <a:pPr lvl="0" indent="0" marL="0">
              <a:spcBef>
                <a:spcPts val="3000"/>
              </a:spcBef>
              <a:buNone/>
            </a:pPr>
            <a:r>
              <a:rPr b="1"/>
              <a:t>What Does Many-Objective Look Like?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With 2 objectives: a curve.</a:t>
            </a:r>
          </a:p>
          <a:p>
            <a:pPr lvl="0" indent="0" marL="0">
              <a:buNone/>
            </a:pPr>
            <a:r>
              <a:rPr/>
              <a:t>With 3+ objectives: a surface — impossible to visualize directly.</a:t>
            </a:r>
          </a:p>
          <a:p>
            <a:pPr lvl="0" indent="0" marL="0">
              <a:buNone/>
            </a:pPr>
            <a:r>
              <a:rPr b="1"/>
              <a:t>Parallel axis plots</a:t>
            </a:r>
            <a:r>
              <a:rPr/>
              <a:t> show all objectives simultaneously. Each line = one non-dominated solution.</a:t>
            </a:r>
          </a:p>
        </p:txBody>
      </p:sp>
      <p:pic>
        <p:nvPicPr>
          <p:cNvPr descr="kasprzyk_mordm_2013_fig5.png" id="0" name="Picture 1"/>
          <p:cNvPicPr>
            <a:picLocks noGrp="1" noChangeAspect="1"/>
          </p:cNvPicPr>
          <p:nvPr/>
        </p:nvPicPr>
        <p:blipFill>
          <a:blip r:embed="rId3"/>
          <a:stretch>
            <a:fillRect/>
          </a:stretch>
        </p:blipFill>
        <p:spPr bwMode="auto">
          <a:xfrm>
            <a:off x="5372100" y="1193800"/>
            <a:ext cx="25908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6: Parallel axis plot of non-dominated solutions across six objectives. Source: Kasprzyk et al. (2013)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a Pareto Front</a:t>
            </a:r>
          </a:p>
          <a:p>
            <a:pPr lvl="0" indent="0" marL="0">
              <a:buNone/>
            </a:pPr>
            <a:r>
              <a:rPr/>
              <a:t>On a Pareto front plot, each axis is one objective and each point is a non-dominated solution.</a:t>
            </a:r>
          </a:p>
          <a:p>
            <a:pPr lvl="0" indent="0" marL="0">
              <a:buNone/>
            </a:pPr>
            <a:r>
              <a:rPr/>
              <a:t>. . .</a:t>
            </a:r>
          </a:p>
          <a:p>
            <a:pPr lvl="0" indent="0" marL="0">
              <a:buNone/>
            </a:pPr>
            <a:r>
              <a:rPr b="1"/>
              <a:t>The “knee” of the front:</a:t>
            </a:r>
          </a:p>
          <a:p>
            <a:pPr lvl="0"/>
            <a:r>
              <a:rPr/>
              <a:t>Region of high curvature — large gains on one objective for small losses on another</a:t>
            </a:r>
          </a:p>
          <a:p>
            <a:pPr lvl="0"/>
            <a:r>
              <a:rPr/>
              <a:t>Often a practical default if no strong preference exists</a:t>
            </a:r>
          </a:p>
          <a:p>
            <a:pPr lvl="0"/>
            <a:r>
              <a:rPr/>
              <a:t>Not always present; depends on problem structure</a:t>
            </a:r>
          </a:p>
          <a:p>
            <a:pPr lvl="0" indent="0" marL="0">
              <a:spcBef>
                <a:spcPts val="3000"/>
              </a:spcBef>
              <a:buNone/>
            </a:pPr>
            <a:r>
              <a:rPr b="1"/>
              <a:t>How Many Objectives?</a:t>
            </a:r>
          </a:p>
          <a:p>
            <a:pPr lvl="0" indent="0" marL="0">
              <a:buNone/>
            </a:pPr>
            <a:r>
              <a:rPr/>
              <a:t>More objectives → richer representation, but real costs:</a:t>
            </a:r>
          </a:p>
          <a:p>
            <a:pPr lvl="0"/>
            <a:r>
              <a:rPr b="1"/>
              <a:t>Computational:</a:t>
            </a:r>
            <a:r>
              <a:rPr/>
              <a:t> exponentially more solutions to cover the front</a:t>
            </a:r>
          </a:p>
          <a:p>
            <a:pPr lvl="0"/>
            <a:r>
              <a:rPr b="1"/>
              <a:t>Conceptual:</a:t>
            </a:r>
            <a:r>
              <a:rPr/>
              <a:t> harder to reason about trade-offs in high dimensions</a:t>
            </a:r>
          </a:p>
          <a:p>
            <a:pPr lvl="0"/>
            <a:r>
              <a:rPr b="1"/>
              <a:t>Communication:</a:t>
            </a:r>
            <a:r>
              <a:rPr/>
              <a:t> harder to show decision-makers</a:t>
            </a:r>
          </a:p>
          <a:p>
            <a:pPr lvl="0" indent="0" marL="0">
              <a:buNone/>
            </a:pPr>
            <a:r>
              <a:rPr/>
              <a:t>. . .</a:t>
            </a:r>
          </a:p>
          <a:p>
            <a:pPr lvl="0" indent="0" marL="0">
              <a:buNone/>
            </a:pPr>
            <a:r>
              <a:rPr b="1"/>
              <a:t>Rule of thumb:</a:t>
            </a:r>
            <a:r>
              <a:rPr/>
              <a:t> use as few objectives as possible. Combining objectives is often the right call — </a:t>
            </a:r>
            <a:r>
              <a:rPr i="1"/>
              <a:t>when the assumptions hold</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Summary</a:t>
                </a:r>
              </a:p>
              <a:p>
                <a:pPr lvl="0"/>
                <a:r>
                  <a:rPr b="1"/>
                  <a:t>Why MOO?</a:t>
                </a:r>
                <a:r>
                  <a:rPr/>
                  <a:t> When objectives are incommensurable, weighting hides value choices. MOO keeps them separate.</a:t>
                </a:r>
              </a:p>
              <a:p>
                <a:pPr lvl="0"/>
                <a:r>
                  <a:rPr b="1"/>
                  <a:t>Dominance</a:t>
                </a:r>
                <a:r>
                  <a:rPr/>
                  <a:t> is the comparison rule: better on all, strictly better on one. The non-dominated set is the </a:t>
                </a:r>
                <a:r>
                  <a:rPr b="1"/>
                  <a:t>Pareto front</a:t>
                </a:r>
                <a:r>
                  <a:rPr/>
                  <a:t>.</a:t>
                </a:r>
              </a:p>
              <a:p>
                <a:pPr lvl="0"/>
                <a:r>
                  <a:rPr b="1"/>
                  <a:t>MOEAs</a:t>
                </a:r>
                <a:r>
                  <a:rPr/>
                  <a:t> approximate the front with a population of designs, dominance-based selection, and variation operators. No gradients needed.</a:t>
                </a:r>
              </a:p>
              <a:p>
                <a:pPr lvl="0"/>
                <a14:m>
                  <m:oMath xmlns:m="http://schemas.openxmlformats.org/officeDocument/2006/math">
                    <m:r>
                      <m:t>ϵ</m:t>
                    </m:r>
                  </m:oMath>
                </a14:m>
                <a:r>
                  <a:rPr b="1"/>
                  <a:t>-dominance</a:t>
                </a:r>
                <a:r>
                  <a:rPr/>
                  <a:t> thins the archive to a manageable, decision-relevant resolution.</a:t>
                </a:r>
              </a:p>
              <a:p>
                <a:pPr lvl="0"/>
                <a:r>
                  <a:rPr b="1"/>
                  <a:t>Division of labor:</a:t>
                </a:r>
                <a:r>
                  <a:rPr/>
                  <a:t> analysts find the front; decision-makers choose from it.</a:t>
                </a:r>
              </a:p>
              <a:p>
                <a:pPr lvl="0" indent="0" marL="0">
                  <a:spcBef>
                    <a:spcPts val="3000"/>
                  </a:spcBef>
                  <a:buNone/>
                </a:pPr>
                <a:r>
                  <a:rPr b="1"/>
                  <a:t>Looking Ahead</a:t>
                </a:r>
              </a:p>
              <a:p>
                <a:pPr lvl="0" indent="0" marL="0">
                  <a:buNone/>
                </a:pPr>
                <a:r>
                  <a:rPr b="1"/>
                  <a:t>This week:</a:t>
                </a:r>
              </a:p>
              <a:p>
                <a:pPr lvl="0"/>
                <a:r>
                  <a:rPr/>
                  <a:t>Wednesday: Madison leads discussion of Yang et al. (2023) — come prepared to discuss objectives, algorithm choice, and how results inform decisions</a:t>
                </a:r>
              </a:p>
              <a:p>
                <a:pPr lvl="0"/>
                <a:r>
                  <a:rPr/>
                  <a:t>Friday: Lab 10 — generate and visualize Pareto fronts for the house elevation problem</a:t>
                </a:r>
              </a:p>
              <a:p>
                <a:pPr lvl="0"/>
                <a:r>
                  <a:rPr/>
                  <a:t>Friday: </a:t>
                </a:r>
                <a:r>
                  <a:rPr b="1"/>
                  <a:t>Memo 2 due</a:t>
                </a:r>
                <a:r>
                  <a:rPr/>
                  <a:t> (Evidence &amp; Robustness)</a:t>
                </a:r>
              </a:p>
              <a:p>
                <a:pPr lvl="0" indent="0" marL="0">
                  <a:buNone/>
                </a:pPr>
                <a:r>
                  <a:rPr/>
                  <a:t>. . .</a:t>
                </a:r>
              </a:p>
              <a:p>
                <a:pPr lvl="0" indent="0" marL="0">
                  <a:buNone/>
                </a:pPr>
                <a:r>
                  <a:rPr b="1"/>
                  <a:t>Week 13 (Monday):</a:t>
                </a:r>
                <a:r>
                  <a:rPr/>
                  <a:t> Putting it all together — how robustness, scenario discovery, sequential decisions, and multi-objective optimization connect in real projects.</a:t>
                </a:r>
              </a:p>
              <a:p>
                <a:pPr lvl="0" indent="0" marL="0">
                  <a:spcBef>
                    <a:spcPts val="3000"/>
                  </a:spcBef>
                  <a:buNone/>
                </a:pPr>
                <a:r>
                  <a:rPr b="1"/>
                  <a:t>References</a:t>
                </a:r>
              </a:p>
              <a:p>
                <a:pPr lvl="0" indent="0" marL="0">
                  <a:buNone/>
                </a:pPr>
                <a:r>
                  <a:rPr/>
                  <a:t>Kasprzyk, Joseph R., Shanthi Nataraj, Patrick M. Reed, and Robert J. Lempert. 2013. “Many Objective Robust Decision Making for Complex Environmental Systems Undergoing Change.” </a:t>
                </a:r>
                <a:r>
                  <a:rPr i="1"/>
                  <a:t>Environmental Modelling &amp; Software</a:t>
                </a:r>
                <a:r>
                  <a:rPr/>
                  <a:t> 42 (April): 55–71. </a:t>
                </a:r>
                <a:r>
                  <a:rPr>
                    <a:hlinkClick r:id="rId3"/>
                  </a:rPr>
                  <a:t>https://doi.org/10.1016/j.envsoft.2012.12.007</a:t>
                </a:r>
                <a:r>
                  <a:rPr/>
                  <a:t>.</a:t>
                </a:r>
              </a:p>
              <a:p>
                <a:pPr lvl="0" indent="0" marL="0">
                  <a:buNone/>
                </a:pPr>
                <a:r>
                  <a:rPr/>
                  <a:t>Smith, S., M. Southerby, S. Setiniyaz, R. Apsimon, and G. Burt. 2022. “Multiobjective Optimization and Pareto Front Visualization Techniques Applied to Normal Conducting Rf Accelerating Structures.” </a:t>
                </a:r>
                <a:r>
                  <a:rPr i="1"/>
                  <a:t>Physical Review Accelerators and Beams</a:t>
                </a:r>
                <a:r>
                  <a:rPr/>
                  <a:t> 25 (6): 062002. </a:t>
                </a:r>
                <a:r>
                  <a:rPr>
                    <a:hlinkClick r:id="rId4"/>
                  </a:rPr>
                  <a:t>https://doi.org/10.1103/PhysRevAccelBeams.25.062002</a:t>
                </a:r>
                <a:r>
                  <a:rPr/>
                  <a:t>.</a:t>
                </a:r>
              </a:p>
              <a:p>
                <a:pPr lvl="0" indent="0" marL="0">
                  <a:buNone/>
                </a:pPr>
                <a:r>
                  <a:rPr/>
                  <a:t>Yang, Shengnan, Laddaporn Ruangpan, Arlex Sanchez Torres, and Zoran Vojinovic. 2023. “Multi-Objective Optimisation Framework for Assessment of Trade-Offs Between Benefits and Co-benefits of Nature-based Solutions.” </a:t>
                </a:r>
                <a:r>
                  <a:rPr i="1"/>
                  <a:t>Water Resources Management</a:t>
                </a:r>
                <a:r>
                  <a:rPr/>
                  <a:t> 37 (6–7): 2325–45. </a:t>
                </a:r>
                <a:r>
                  <a:rPr>
                    <a:hlinkClick r:id="rId5"/>
                  </a:rPr>
                  <a:t>https://doi.org/10.1007/s11269-023-03470-8</a:t>
                </a:r>
                <a:r>
                  <a:rPr/>
                  <a:t>.</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Multi-Objective Optimization</dc:title>
  <dc:creator>James Doss-Gollin</dc:creator>
  <cp:keywords/>
  <dcterms:created xsi:type="dcterms:W3CDTF">2026-04-13T16:38:14Z</dcterms:created>
  <dcterms:modified xsi:type="dcterms:W3CDTF">2026-04-13T16:38:14Z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2026-04-06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12</vt:lpwstr>
  </property>
</Properties>
</file>
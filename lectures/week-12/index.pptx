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Spend 5 min on this hook. The goal is to motivate multi-objective framing as a way to make value trade-offs explicit rather than hiding them in aggregation. Ask: “Raise your hand if you’d feel comfortable defending the choice of w₁ = 0.3 to a community that gets flooded.” Then pivot: “What if instead we showed decision-makers the full range of trade-offs and let them choose?”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Transition into formal setup.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1:11. Quick slide. Emphasize that BCA is not wrong — it’s a tool with assumptions. When those assumptions hold (everything can be monetized, one decision-maker, shared values), BCA is great. Multi-objective framing is for when they don’t.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Spend about 4 min here. Draw on board if helpful: two axes, each a different objective. Ask students: “Can you think of another pair of objectives in climate adaptation that are in tension?” (e.g., speed of deployment vs. community buy-in; near-term cost vs. long-term resilience).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This is the conceptual core. Take 10 min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Walk through this carefully. Emphasize: “at least as good on ALL, strictly better on AT LEAST ONE.” This is a partial order — many solutions won’t be comparable (neither dominates the other).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Walk through the table row by row. Let students work out the dominance comparisons before you reveal. The “wait” moment is intentional — students often jump to conclusions about dominance. Make them check both objectives carefully.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Cold call 2-3 students before revealing. Key: 1 dominates 4 (better on both — higher </a:t>
            </a:r>
            <a:r>
              <a:rPr/>
              <a:t>f_1</a:t>
            </a:r>
            <a:r>
              <a:rPr/>
              <a:t>, lower </a:t>
            </a:r>
            <a:r>
              <a:rPr/>
              <a:t>f_2</a:t>
            </a:r>
            <a:r>
              <a:rPr/>
              <a:t>). No other dominance pairs among 1, 2, 3, 5. Point 4 (red) is dominated. Ask: “Which points form the Pareto front?” → {1, 2, 3, 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Analogy: the efficient frontier in portfolio theory (risk vs. return). Emphasize the division of labor: analysts find the front, decision-makers choose from it. This is a more honest process than embedding values in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1:31. Short section — 5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1:34. The key takeaway: weighted sum is a useful approximation but has fundamental limits. Multi-objective evolutionary algorithms avoid this problem.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Walk through both panels. Left: any w₁/w₂ combination traces the full front. Right: the concave region (red) has no tangent weight vector — weighted sum can never find those solutions. Ask: which one do you think is more common in real engineering problems? (Non-convex, generally.)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Students don’t need to implement MOEAs — just understand the conceptual machinery well enough to interpret results.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Analogy: each solution is a “design.” The MOEA runs many designs in parallel and iteratively improves them. The diversity mechanism is key: without it, the algorithm collapses to one region of the front.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1:45. These algorithms are heuristics — they don’t guarantee a global optimum. The diagnostics are how we build confidence. Hypervolume is the standard metric: larger = better coverage of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Walk through the parallel axis plot: each vertical axis is one objective (cost, reliability, market use), each colored line is a solution. Solutions that do well on reliability tend to do worse on cost — that’s the trade-off. Color = which model case. This is from a water portfolio problem in the Rio Grande Valley. Point out: 6 objectives, ~1000 non-dominated solutions.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Quick section — 5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Lab 10: students will generate a Pareto front for the house elevation problem (cost vs. expected damages) and identify the knee. This is directly connected to Memo 2 — does your project have multiple objectives that BCA collapses?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1:52. This is the counterweight to the earlier motivation. Multi-objective framing is powerful but not free. The question is always: are the objectives genuinely incommensurable, or can they be reasonably combined? Connect to student projects: most have 2–3 meaningful objectives at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Very short section — 1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1:53. Connect to Memo 2: “Look at your project — does your system have conflicting objectives that BCA collapses? If so, multi-objective framing may give a more honest picture.” Don’t frame this as “multi-objective is always better” — it adds complexity and requires more from decision-makers.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1:53. End class here. Remind students that Madison is leading discussion on Wednesday — they should read Yang et al. with attention to: (1) what are the objectives? (2) how is the Pareto front generated and interpreted? (3) how do the authors handle trade-offs with decision-makers?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hyperlink" Target="https://doi.org/10.1016/j.envsoft.2012.12.007" TargetMode="External" /><Relationship Id="rId4" Type="http://schemas.openxmlformats.org/officeDocument/2006/relationships/hyperlink" Target="https://doi.org/10.1103/PhysRevAccelBeams.25.062002" TargetMode="External" /><Relationship Id="rId5" Type="http://schemas.openxmlformats.org/officeDocument/2006/relationships/hyperlink" Target="https://doi.org/10.1007/s11269-023-03470-8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Weights</a:t>
            </a:r>
          </a:p>
          <a:p>
            <a:pPr lvl="0" indent="0" marL="0">
              <a:buNone/>
            </a:pPr>
            <a:r>
              <a:rPr/>
              <a:t>In Week 9, HCFCD evaluated flood control projects across 7 criteria using weighted scores.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Where do the weights come from?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/>
            <a:r>
              <a:rPr/>
              <a:t>Weights reflect values — whose values?</a:t>
            </a:r>
          </a:p>
          <a:p>
            <a:pPr lvl="0"/>
            <a:r>
              <a:rPr/>
              <a:t>Different stakeholders have different priorities</a:t>
            </a:r>
          </a:p>
          <a:p>
            <a:pPr lvl="0"/>
            <a:r>
              <a:rPr/>
              <a:t>Aggregation requires weights whether they are stated explicitly or embedded in a formula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Single to Multiple Objectives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Single-Objective Optimization</a:t>
                </a:r>
              </a:p>
              <a:p>
                <a:pPr lvl="0" indent="0" marL="0">
                  <a:buNone/>
                </a:pPr>
                <a:r>
                  <a:rPr/>
                  <a:t>Benefit-cost analysis frames adaptation as a single-objective problem: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NPV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requires that </a:t>
                </a:r>
                <a:r>
                  <a:rPr b="1"/>
                  <a:t>all values can be monetized and aggregated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Many adaptation objectives — equity, ecosystem health, cultural preservation — resist monetization.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Multiple Conflicting Objectives</a:t>
                </a:r>
              </a:p>
              <a:p>
                <a:pPr lvl="0" indent="0" marL="0">
                  <a:buNone/>
                </a:pPr>
                <a:r>
                  <a:rPr/>
                  <a:t>A multi-objective problem has several objectives that </a:t>
                </a:r>
                <a:r>
                  <a:rPr b="1"/>
                  <a:t>cannot all be maximized simultaneously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</m:e>
                      </m:d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Coastal adaptation example: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</m:e>
                    </m:d>
                  </m:oMath>
                </a14:m>
                <a:r>
                  <a:rPr/>
                  <a:t>: minimize expected flood damages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</m:e>
                    </m:d>
                  </m:oMath>
                </a14:m>
                <a:r>
                  <a:rPr/>
                  <a:t>: minimize construction cost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</m:e>
                    </m:d>
                  </m:oMath>
                </a14:m>
                <a:r>
                  <a:rPr/>
                  <a:t>: maximize equity — benefits to vulnerable communities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Improving on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generally requires accepting worse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. There is no single “best” solution.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Dominance and Pareto Optimality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What Does “Better” Mean?</a:t></a:r></a:p><a:p><a:pPr lvl="0" indent="0" marL="0"><a:buNone /></a:pPr><a:r><a:rPr /><a:t>With multiple objectives we need a new comparison rule.</a:t></a:r></a:p><a:p><a:pPr lvl="0" indent="0" marL="0"><a:buNone /></a:pPr><a:r><a:rPr b="1" /><a:t>Dominance:</a:t></a:r><a:r><a:rPr /><a:t> Solution </a:t></a:r><a14:m><m:oMath xmlns:m="http://schemas.openxmlformats.org/officeDocument/2006/math"><m:r><m:t>a</m:t></m:r></m:oMath></a14:m><a:r><a:rPr /><a:t> </a:t></a:r><a:r><a:rPr b="1" /><a:t>dominates</a:t></a:r><a:r><a:rPr /><a:t> solution </a:t></a:r><a14:m><m:oMath xmlns:m="http://schemas.openxmlformats.org/officeDocument/2006/math"><m:r><m:t>b</m:t></m:r></m:oMath></a14:m><a:r><a:rPr /><a:t> if:</a:t></a:r></a:p><a:p><a:pPr lvl="0" /><a14:m><m:oMath xmlns:m="http://schemas.openxmlformats.org/officeDocument/2006/math"><m:r><m:t>a</m:t></m:r></m:oMath></a14:m><a:r><a:rPr /><a:t> is </a:t></a:r><a:r><a:rPr b="1" /><a:t>at least as good</a:t></a:r><a:r><a:rPr /><a:t> as </a:t></a:r><a14:m><m:oMath xmlns:m="http://schemas.openxmlformats.org/officeDocument/2006/math"><m:r><m:t>b</m:t></m:r></m:oMath></a14:m><a:r><a:rPr /><a:t> on every objective</a:t></a:r></a:p><a:p><a:pPr lvl="0" /><a14:m><m:oMath xmlns:m="http://schemas.openxmlformats.org/officeDocument/2006/math"><m:r><m:t>a</m:t></m:r></m:oMath></a14:m><a:r><a:rPr /><a:t> is </a:t></a:r><a:r><a:rPr b="1" /><a:t>strictly better</a:t></a:r><a:r><a:rPr /><a:t> than </a:t></a:r><a14:m><m:oMath xmlns:m="http://schemas.openxmlformats.org/officeDocument/2006/math"><m:r><m:t>b</m:t></m:r></m:oMath></a14:m><a:r><a:rPr /><a:t> on at least one objective</a:t></a:r></a:p><a:p><a:pPr lvl="0" indent="0" marL="0"><a:buNone /></a:pPr><a:r><a:rPr /><a:t>. . .</a:t></a:r></a:p><a:p><a:pPr lvl="0" indent="0" marL="0"><a:buNone /></a:pPr><a:r><a:rPr /><a:t>If </a:t></a:r><a14:m><m:oMath xmlns:m="http://schemas.openxmlformats.org/officeDocument/2006/math"><m:r><m:t>a</m:t></m:r></m:oMath></a14:m><a:r><a:rPr /><a:t> dominates </a:t></a:r><a14:m><m:oMath xmlns:m="http://schemas.openxmlformats.org/officeDocument/2006/math"><m:r><m:t>b</m:t></m:r></m:oMath></a14:m><a:r><a:rPr /><a:t>, there is no reason to choose </a:t></a:r><a14:m><m:oMath xmlns:m="http://schemas.openxmlformats.org/officeDocument/2006/math"><m:r><m:t>b</m:t></m:r></m:oMath></a14:m><a:r><a:rPr /><a:t> — you can do better.</a:t></a:r></a:p><a:p><a:pPr lvl="0" indent="0" marL="0"><a:spcBef><a:spcPts val="3000" /></a:spcBef><a:buNone /></a:pPr><a:r><a:rPr b="1" /><a:t>Dominance: Example</a:t></a:r></a:p><a:p><a:pPr lvl="0" indent="0" marL="0"><a:buNone /></a:pPr><a:r><a:rPr /><a:t>Three house elevation strategies, two objectives (minimize both):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 algn="l"><a:buNone /></a:pPr><a:r><a:rPr /><a:t>Strategy</a:t></a:r></a:p></a:txBody><a:tcPr /></a:tc><a:tc><a:txBody><a:bodyPr /><a:lstStyle /><a:p><a:pPr lvl="0" indent="0" marL="0" algn="ctr"><a:buNone /></a:pPr><a:r><a:rPr /><a:t>Expected Damages (</a:t></a:r><a14:m><m:oMath xmlns:m="http://schemas.openxmlformats.org/officeDocument/2006/math"><m:r><m:t>M</m:t></m:r><m:r><m:rPr><m:sty m:val="p" /></m:rPr><m:t>)</m:t></m:r><m:r><m:rPr><m:sty m:val="p" /></m:rPr><m:t>|</m:t></m:r><m:r><m:t>C</m:t></m:r><m:r><m:t>o</m:t></m:r><m:r><m:t>n</m:t></m:r><m:r><m:t>s</m:t></m:r><m:r><m:t>t</m:t></m:r><m:r><m:t>r</m:t></m:r><m:r><m:t>u</m:t></m:r><m:r><m:t>c</m:t></m:r><m:r><m:t>t</m:t></m:r><m:r><m:t>i</m:t></m:r><m:r><m:t>o</m:t></m:r><m:r><m:t>n</m:t></m:r><m:r><m:t>C</m:t></m:r><m:r><m:t>o</m:t></m:r><m:r><m:t>s</m:t></m:r><m:r><m:t>t</m:t></m:r><m:r><m:rPr><m:sty m:val="p" /></m:rPr><m:t>(</m:t></m:r></m:oMath></a14:m><a:r><a:rPr /><a:t>M)</a:t></a:r></a:p></a:txBody><a:tcPr /></a:tc><a:tc><a:txBody><a:bodyPr /><a:lstStyle /><a:p><a:endParaRPr /></a:p></a:txBody><a:tcPr /></a:tc></a:tr><a:tr h="0"><a:tc><a:txBody><a:bodyPr /><a:lstStyle /><a:p><a:pPr lvl="0" indent="0" marL="0" algn="l"><a:buNone /></a:pPr><a:r><a:rPr /><a:t>A: Elevate 1 ft</a:t></a:r></a:p></a:txBody></a:tc><a:tc><a:txBody><a:bodyPr /><a:lstStyle /><a:p><a:pPr lvl="0" indent="0" marL="0" algn="ctr"><a:buNone /></a:pPr><a:r><a:rPr /><a:t>4.0</a:t></a:r></a:p></a:txBody></a:tc><a:tc><a:txBody><a:bodyPr /><a:lstStyle /><a:p><a:pPr lvl="0" indent="0" marL="0" algn="ctr"><a:buNone /></a:pPr><a:r><a:rPr /><a:t>0.5</a:t></a:r></a:p></a:txBody></a:tc></a:tr><a:tr h="0"><a:tc><a:txBody><a:bodyPr /><a:lstStyle /><a:p><a:pPr lvl="0" indent="0" marL="0" algn="l"><a:buNone /></a:pPr><a:r><a:rPr /><a:t>B: Elevate 3 ft</a:t></a:r></a:p></a:txBody></a:tc><a:tc><a:txBody><a:bodyPr /><a:lstStyle /><a:p><a:pPr lvl="0" indent="0" marL="0" algn="ctr"><a:buNone /></a:pPr><a:r><a:rPr /><a:t>2.0</a:t></a:r></a:p></a:txBody></a:tc><a:tc><a:txBody><a:bodyPr /><a:lstStyle /><a:p><a:pPr lvl="0" indent="0" marL="0" algn="ctr"><a:buNone /></a:pPr><a:r><a:rPr /><a:t>1.5</a:t></a:r></a:p></a:txBody></a:tc></a:tr><a:tr h="0"><a:tc><a:txBody><a:bodyPr /><a:lstStyle /><a:p><a:pPr lvl="0" indent="0" marL="0" algn="l"><a:buNone /></a:pPr><a:r><a:rPr /><a:t>C: Elevate 5 ft</a:t></a:r></a:p></a:txBody></a:tc><a:tc><a:txBody><a:bodyPr /><a:lstStyle /><a:p><a:pPr lvl="0" indent="0" marL="0" algn="ctr"><a:buNone /></a:pPr><a:r><a:rPr /><a:t>1.8</a:t></a:r></a:p></a:txBody></a:tc><a:tc><a:txBody><a:bodyPr /><a:lstStyle /><a:p><a:pPr lvl="0" indent="0" marL="0" algn="ctr"><a:buNone /></a:pPr><a:r><a:rPr /><a:t>3.0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" end="3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4" end="4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/>
            <a:r>
              <a:rPr/>
              <a:t>Does A dominate B? No — A is cheaper but has higher damages.</a:t>
            </a:r>
          </a:p>
          <a:p>
            <a:pPr lvl="0"/>
            <a:r>
              <a:rPr/>
              <a:t>Does B dominate C? </a:t>
            </a:r>
            <a:r>
              <a:rPr b="1"/>
              <a:t>Yes</a:t>
            </a:r>
            <a:r>
              <a:rPr/>
              <a:t> — B is better on cost (1.5 &lt; 3.0) and nearly as good on damages (2.0 vs 1.8)… wait, 2.0 &gt; 1.8, so B is </a:t>
            </a:r>
            <a:r>
              <a:rPr i="1"/>
              <a:t>worse</a:t>
            </a:r>
            <a:r>
              <a:rPr/>
              <a:t> on damages. </a:t>
            </a:r>
            <a:r>
              <a:rPr b="1"/>
              <a:t>No</a:t>
            </a:r>
            <a:r>
              <a:rPr/>
              <a:t> — neither dominates.</a:t>
            </a:r>
          </a:p>
          <a:p>
            <a:pPr lvl="0"/>
            <a:r>
              <a:rPr/>
              <a:t>The Pareto front is {A, B, C} — all three are non-dominated.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Dominance: Visualized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points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"5"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colors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tomato,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(; 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f_1</a:t>
            </a:r>
            <a:r>
              <a:rPr>
                <a:solidFill>
                  <a:srgbClr val="20794D"/>
                </a:solidFill>
                <a:latin typeface="Courier"/>
              </a:rPr>
              <a:t>$ (maximize)"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f_2</a:t>
            </a:r>
            <a:r>
              <a:rPr>
                <a:solidFill>
                  <a:srgbClr val="20794D"/>
                </a:solidFill>
                <a:latin typeface="Courier"/>
              </a:rPr>
              <a:t>$ (minimize)"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xticksvisible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xticklabelsvisible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yticksvisible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yticklabelsvisible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limits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(i, (x, y))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enumerate</a:t>
            </a:r>
            <a:r>
              <a:rPr>
                <a:solidFill>
                  <a:srgbClr val="003B4F"/>
                </a:solidFill>
                <a:latin typeface="Courier"/>
              </a:rPr>
              <a:t>(points)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scatter!</a:t>
            </a:r>
            <a:r>
              <a:rPr>
                <a:solidFill>
                  <a:srgbClr val="003B4F"/>
                </a:solidFill>
                <a:latin typeface="Courier"/>
              </a:rPr>
              <a:t>(ax, [x], [y];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colors[i])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text!</a:t>
            </a:r>
            <a:r>
              <a:rPr>
                <a:solidFill>
                  <a:srgbClr val="003B4F"/>
                </a:solidFill>
                <a:latin typeface="Courier"/>
              </a:rPr>
              <a:t>(ax, x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; text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labels[i], fontsize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font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bold)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Arrow from 1 to 4 showing dominance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arrows!</a:t>
            </a:r>
            <a:r>
              <a:rPr>
                <a:solidFill>
                  <a:srgbClr val="003B4F"/>
                </a:solidFill>
                <a:latin typeface="Courier"/>
              </a:rPr>
              <a:t>(ax, [</a:t>
            </a:r>
            <a:r>
              <a:rPr>
                <a:solidFill>
                  <a:srgbClr val="AD0000"/>
                </a:solidFill>
                <a:latin typeface="Courier"/>
              </a:rPr>
              <a:t>2.15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2.15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0.65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0.65</a:t>
            </a:r>
            <a:r>
              <a:rPr>
                <a:solidFill>
                  <a:srgbClr val="003B4F"/>
                </a:solidFill>
                <a:latin typeface="Courier"/>
              </a:rPr>
              <a:t>];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gray50)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text!</a:t>
            </a:r>
            <a:r>
              <a:rPr>
                <a:solidFill>
                  <a:srgbClr val="003B4F"/>
                </a:solidFill>
                <a:latin typeface="Courier"/>
              </a:rPr>
              <a:t>(ax, </a:t>
            </a:r>
            <a:r>
              <a:rPr>
                <a:solidFill>
                  <a:srgbClr val="AD0000"/>
                </a:solidFill>
                <a:latin typeface="Courier"/>
              </a:rPr>
              <a:t>2.7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2.85</a:t>
            </a:r>
            <a:r>
              <a:rPr>
                <a:solidFill>
                  <a:srgbClr val="003B4F"/>
                </a:solidFill>
                <a:latin typeface="Courier"/>
              </a:rPr>
              <a:t>; text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"dominates"</a:t>
            </a:r>
            <a:r>
              <a:rPr>
                <a:solidFill>
                  <a:srgbClr val="003B4F"/>
                </a:solidFill>
                <a:latin typeface="Courier"/>
              </a:rPr>
              <a:t>, fontsize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gray50, rotation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π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  <a:p>
            <a:pPr lvl="0" indent="0">
              <a:buNone/>
            </a:pPr>
            <a:r>
              <a:rPr>
                <a:latin typeface="Courier"/>
              </a:rPr>
              <a:t>┌ Warning: `arrows` are deprecated in favor of `arrows2d` and `arrows3d`.
└ @ Makie ~/.julia/packages/Makie/kJl0u/src/basic_recipes/arrows.jl:166</a:t>
            </a:r>
          </a:p>
        </p:txBody>
      </p:sp>
      <p:pic>
        <p:nvPicPr>
          <p:cNvPr descr="index_files/figure-pptx/cell-3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75100" y="203200"/>
            <a:ext cx="4305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Five candidate solutions. Point 4 (red) is dominated by point 1: worse on both objectives. Points 1, 2, 3, 5 are mutually non-dominated.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Pareto Front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Pareto front</a:t>
            </a:r>
            <a:r>
              <a:rPr/>
              <a:t> is the set of all non-dominated solutions.</a:t>
            </a:r>
          </a:p>
          <a:p>
            <a:pPr lvl="0"/>
            <a:r>
              <a:rPr/>
              <a:t>No solution on the front can be improved on one objective without worsening another</a:t>
            </a:r>
          </a:p>
          <a:p>
            <a:pPr lvl="0"/>
            <a:r>
              <a:rPr/>
              <a:t>Reveals </a:t>
            </a:r>
            <a:r>
              <a:rPr b="1"/>
              <a:t>trade-offs</a:t>
            </a:r>
            <a:r>
              <a:rPr/>
              <a:t> without requiring weights</a:t>
            </a:r>
          </a:p>
          <a:p>
            <a:pPr lvl="0"/>
            <a:r>
              <a:rPr/>
              <a:t>The “efficient frontier” of feasible performance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Pareto front identifies </a:t>
            </a:r>
            <a:r>
              <a:rPr b="1"/>
              <a:t>which solutions are worth considering</a:t>
            </a:r>
            <a:r>
              <a:rPr/>
              <a:t>. Choosing among them is a separate decision that requires values.</a:t>
            </a:r>
          </a:p>
        </p:txBody>
      </p:sp>
      <p:pic>
        <p:nvPicPr>
          <p:cNvPr descr="smith_pareto_2022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625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A Pareto front in two objectives. Source: Smith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Weighted Sum and Its Limits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Can Weighted Sum Find the Pareto Front?</a:t>
                </a:r>
              </a:p>
              <a:p>
                <a:pPr lvl="0" indent="0" marL="0">
                  <a:buNone/>
                </a:pPr>
                <a:r>
                  <a:rPr/>
                  <a:t>We can </a:t>
                </a:r>
                <a:r>
                  <a:rPr i="1"/>
                  <a:t>scalarize</a:t>
                </a:r>
                <a:r>
                  <a:rPr/>
                  <a:t> the problem: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min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Sweeping weights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can recover parts of the Pareto front — but not all of it.</a:t>
                </a:r>
              </a:p>
              <a:p>
                <a:pPr lvl="0"/>
                <a:r>
                  <a:rPr/>
                  <a:t>Weighted sum only finds solutions on the </a:t>
                </a:r>
                <a:r>
                  <a:rPr b="1"/>
                  <a:t>convex hull</a:t>
                </a:r>
                <a:r>
                  <a:rPr/>
                  <a:t> of the front</a:t>
                </a:r>
              </a:p>
              <a:p>
                <a:pPr lvl="0"/>
                <a:r>
                  <a:rPr/>
                  <a:t>Non-convex regions (common in engineering problems) are </a:t>
                </a:r>
                <a:r>
                  <a:rPr b="1"/>
                  <a:t>unreachable</a:t>
                </a:r>
                <a:r>
                  <a:rPr/>
                  <a:t> by any weighting</a:t>
                </a:r>
              </a:p>
              <a:p>
                <a:pPr lvl="0"/>
                <a:r>
                  <a:rPr/>
                  <a:t>You can miss important solutions entirely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Convex vs. Non-Convex Fronts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Multi-Objective Evolutionary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MOEAs Work</a:t>
            </a:r>
          </a:p>
          <a:p>
            <a:pPr lvl="0" indent="0" marL="0">
              <a:buNone/>
            </a:pPr>
            <a:r>
              <a:rPr/>
              <a:t>Multi-objective evolutionary algorithms (MOEAs) search for an </a:t>
            </a:r>
            <a:r>
              <a:rPr b="1"/>
              <a:t>approximation of the full Pareto front simultaneously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Core ideas:</a:t>
            </a:r>
          </a:p>
          <a:p>
            <a:pPr lvl="0"/>
            <a:r>
              <a:rPr/>
              <a:t>Maintain a </a:t>
            </a:r>
            <a:r>
              <a:rPr b="1"/>
              <a:t>population</a:t>
            </a:r>
            <a:r>
              <a:rPr/>
              <a:t> of candidate solutions that evolves over generations</a:t>
            </a:r>
          </a:p>
          <a:p>
            <a:pPr lvl="0"/>
            <a:r>
              <a:rPr b="1"/>
              <a:t>Selection</a:t>
            </a:r>
            <a:r>
              <a:rPr/>
              <a:t> favors non-dominated solutions (dominance-based ranking)</a:t>
            </a:r>
          </a:p>
          <a:p>
            <a:pPr lvl="0"/>
            <a:r>
              <a:rPr b="1"/>
              <a:t>Diversity preservation</a:t>
            </a:r>
            <a:r>
              <a:rPr/>
              <a:t> spreads solutions across the front — not just one cluster</a:t>
            </a:r>
          </a:p>
          <a:p>
            <a:pPr lvl="0"/>
            <a:r>
              <a:rPr/>
              <a:t>Repeat until convergence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Result: a set of solutions approximating the full trade-off curve — including non-convex regions.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Common MOEAs in Climate/Water Work</a:t>
            </a:r>
          </a:p>
          <a:p>
            <a:pPr lvl="0"/>
            <a:r>
              <a:rPr b="1"/>
              <a:t>NSGA-II</a:t>
            </a:r>
            <a:r>
              <a:rPr/>
              <a:t>: Classic; uses crowding distance for diversity</a:t>
            </a:r>
          </a:p>
          <a:p>
            <a:pPr lvl="0"/>
            <a:r>
              <a:rPr b="1"/>
              <a:t>Borg</a:t>
            </a:r>
            <a:r>
              <a:rPr/>
              <a:t>: Widely used in water resources; adaptive population, epsilon-dominance archiving</a:t>
            </a:r>
          </a:p>
          <a:p>
            <a:pPr lvl="0"/>
            <a:r>
              <a:rPr/>
              <a:t>Both widely used; Borg tends to perform better on complex, many-objective problems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Convergence diagnostics:</a:t>
            </a:r>
          </a:p>
          <a:p>
            <a:pPr lvl="0"/>
            <a:r>
              <a:rPr/>
              <a:t>Repeat with different random seeds — do results change significantly?</a:t>
            </a:r>
          </a:p>
          <a:p>
            <a:pPr lvl="0"/>
            <a:r>
              <a:rPr i="1"/>
              <a:t>Hypervolume indicator</a:t>
            </a:r>
            <a:r>
              <a:rPr/>
              <a:t>: measures how much of the objective space the front covers</a:t>
            </a:r>
          </a:p>
          <a:p>
            <a:pPr lvl="0"/>
            <a:r>
              <a:rPr/>
              <a:t>Compare to weighted-sum benchmarks to detect missed regions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Does Many-Objective Look Like?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2 objectives: a curve.</a:t>
            </a:r>
          </a:p>
          <a:p>
            <a:pPr lvl="0" indent="0" marL="0">
              <a:buNone/>
            </a:pPr>
            <a:r>
              <a:rPr/>
              <a:t>With 3+ objectives: a surface — impossible to visualize directly.</a:t>
            </a:r>
          </a:p>
          <a:p>
            <a:pPr lvl="0" indent="0" marL="0">
              <a:buNone/>
            </a:pPr>
            <a:r>
              <a:rPr b="1"/>
              <a:t>Parallel axis plots</a:t>
            </a:r>
            <a:r>
              <a:rPr/>
              <a:t> show all objectives simultaneously.</a:t>
            </a:r>
          </a:p>
          <a:p>
            <a:pPr lvl="0" indent="0" marL="0">
              <a:buNone/>
            </a:pPr>
            <a:r>
              <a:rPr/>
              <a:t>Each line = one non-dominated solution.</a:t>
            </a:r>
          </a:p>
        </p:txBody>
      </p:sp>
      <p:pic>
        <p:nvPicPr>
          <p:cNvPr descr="kasprzyk_mordm_2013_fig5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9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Parallel axis plot of non-dominated solutions across six objectives. Source: Kasprzyk et al. (2013)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and Using the Pareto Front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Pareto Front</a:t>
            </a:r>
          </a:p>
          <a:p>
            <a:pPr lvl="0" indent="0" marL="0">
              <a:buNone/>
            </a:pPr>
            <a:r>
              <a:rPr/>
              <a:t>On a Pareto front plot, each axis is one objective and each point is a non-dominated solution.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The “knee” of the front:</a:t>
            </a:r>
          </a:p>
          <a:p>
            <a:pPr lvl="0"/>
            <a:r>
              <a:rPr/>
              <a:t>Region of high curvature — large gains on one objective for small losses on another</a:t>
            </a:r>
          </a:p>
          <a:p>
            <a:pPr lvl="0"/>
            <a:r>
              <a:rPr/>
              <a:t>Often a practical default if no strong preference exists</a:t>
            </a:r>
          </a:p>
          <a:p>
            <a:pPr lvl="0"/>
            <a:r>
              <a:rPr/>
              <a:t>Not always present; depends on problem structure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analyst generates the front; the decision-maker selects a solution from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How Many Objectives?</a:t>
            </a:r>
          </a:p>
          <a:p>
            <a:pPr lvl="0" indent="0" marL="0">
              <a:buNone/>
            </a:pPr>
            <a:r>
              <a:rPr/>
              <a:t>More objectives → richer problem representation, but real costs:</a:t>
            </a:r>
          </a:p>
          <a:p>
            <a:pPr lvl="0"/>
            <a:r>
              <a:rPr b="1"/>
              <a:t>Computational:</a:t>
            </a:r>
            <a:r>
              <a:rPr/>
              <a:t> exponentially more solutions needed to cover the front</a:t>
            </a:r>
          </a:p>
          <a:p>
            <a:pPr lvl="0"/>
            <a:r>
              <a:rPr b="1"/>
              <a:t>Conceptual:</a:t>
            </a:r>
            <a:r>
              <a:rPr/>
              <a:t> harder to reason about trade-offs in high dimensions</a:t>
            </a:r>
          </a:p>
          <a:p>
            <a:pPr lvl="0"/>
            <a:r>
              <a:rPr b="1"/>
              <a:t>Communication:</a:t>
            </a:r>
            <a:r>
              <a:rPr/>
              <a:t> harder to show decision-makers and stakeholders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as few objectives as possible. Combining objectives into a scalar is often a good idea — </a:t>
            </a:r>
            <a:r>
              <a:rPr i="1"/>
              <a:t>when the assumptions hold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Use Multi-Objective 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Choosing the Right Tool</a:t>
            </a:r>
          </a:p>
          <a:p>
            <a:pPr lvl="0" indent="0" marL="0">
              <a:buNone/>
            </a:pPr>
            <a:r>
              <a:rPr b="1"/>
              <a:t>Use multi-objective framing when:</a:t>
            </a:r>
          </a:p>
          <a:p>
            <a:pPr lvl="0"/>
            <a:r>
              <a:rPr/>
              <a:t>Stakeholders genuinely disagree on how to weight objectives</a:t>
            </a:r>
          </a:p>
          <a:p>
            <a:pPr lvl="0"/>
            <a:r>
              <a:rPr/>
              <a:t>Objectives are incommensurable — not easily reduced to dollars</a:t>
            </a:r>
          </a:p>
          <a:p>
            <a:pPr lvl="0"/>
            <a:r>
              <a:rPr/>
              <a:t>You want to make trade-offs </a:t>
            </a:r>
            <a:r>
              <a:rPr b="1"/>
              <a:t>explicit and visible</a:t>
            </a:r>
            <a:r>
              <a:rPr/>
              <a:t> to decision-makers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Stick with single-objective (BCA) when:</a:t>
            </a:r>
          </a:p>
          <a:p>
            <a:pPr lvl="0"/>
            <a:r>
              <a:rPr/>
              <a:t>One objective clearly dominates</a:t>
            </a:r>
          </a:p>
          <a:p>
            <a:pPr lvl="0"/>
            <a:r>
              <a:rPr/>
              <a:t>Stakeholders agree on how to aggregate</a:t>
            </a:r>
          </a:p>
          <a:p>
            <a:pPr lvl="0"/>
            <a:r>
              <a:rPr/>
              <a:t>Speed and simplicity matter more than exploring trade-offs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This week:</a:t>
            </a:r>
          </a:p>
          <a:p>
            <a:pPr lvl="0"/>
            <a:r>
              <a:rPr/>
              <a:t>Wednesday: Madison leads discussion of Yang et al. (2023) — come prepared to discuss objectives, algorithm choice, and how results inform decisions</a:t>
            </a:r>
          </a:p>
          <a:p>
            <a:pPr lvl="0"/>
            <a:r>
              <a:rPr/>
              <a:t>Friday: Lab 10 — generate and visualize Pareto fronts for the house elevation problem</a:t>
            </a:r>
          </a:p>
          <a:p>
            <a:pPr lvl="0"/>
            <a:r>
              <a:rPr/>
              <a:t>Friday: </a:t>
            </a:r>
            <a:r>
              <a:rPr b="1"/>
              <a:t>Memo 2 due</a:t>
            </a:r>
            <a:r>
              <a:rPr/>
              <a:t> (Evidence &amp; Robustness)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Week 13 (Monday):</a:t>
            </a:r>
            <a:r>
              <a:rPr/>
              <a:t> Putting it all together — how robustness, scenario discovery, sequential decisions, and multi-objective optimization connect in real projects.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Kasprzyk, Joseph R., Shanthi Nataraj, Patrick M. Reed, and Robert J. Lempert. 2013. “Many Objective Robust Decision Making for Complex Environmental Systems Undergoing Change.” </a:t>
            </a:r>
            <a:r>
              <a:rPr i="1"/>
              <a:t>Environmental Modelling &amp; Software</a:t>
            </a:r>
            <a:r>
              <a:rPr/>
              <a:t> 42 (April): 55–71. </a:t>
            </a:r>
            <a:r>
              <a:rPr>
                <a:hlinkClick r:id="rId3"/>
              </a:rPr>
              <a:t>https://doi.org/10.1016/j.envsoft.2012.12.007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Smith, S., M. Southerby, S. Setiniyaz, R. Apsimon, and G. Burt. 2022. “Multiobjective Optimization and Pareto Front Visualization Techniques Applied to Normal Conducting Rf Accelerating Structures.” </a:t>
            </a:r>
            <a:r>
              <a:rPr i="1"/>
              <a:t>Physical Review Accelerators and Beams</a:t>
            </a:r>
            <a:r>
              <a:rPr/>
              <a:t> 25 (6): 062002. </a:t>
            </a:r>
            <a:r>
              <a:rPr>
                <a:hlinkClick r:id="rId4"/>
              </a:rPr>
              <a:t>https://doi.org/10.1103/PhysRevAccelBeams.25.062002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Yang, Shengnan, Laddaporn Ruangpan, Arlex Sanchez Torres, and Zoran Vojinovic. 2023. “Multi-Objective Optimisation Framework for Assessment of Trade-Offs Between Benefits and Co-benefits of Nature-based Solutions.” </a:t>
            </a:r>
            <a:r>
              <a:rPr i="1"/>
              <a:t>Water Resources Management</a:t>
            </a:r>
            <a:r>
              <a:rPr/>
              <a:t> 37 (6–7): 2325–45. </a:t>
            </a:r>
            <a:r>
              <a:rPr>
                <a:hlinkClick r:id="rId5"/>
              </a:rPr>
              <a:t>https://doi.org/10.1007/s11269-023-03470-8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James Doss-Gollin</dc:creator>
  <cp:keywords/>
  <dcterms:created xsi:type="dcterms:W3CDTF">2026-03-22T19:08:13Z</dcterms:created>
  <dcterms:modified xsi:type="dcterms:W3CDTF">2026-03-22T19:08:13Z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
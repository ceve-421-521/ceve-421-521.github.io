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ipcc.ch/report/ar5/wg2/" TargetMode="Externa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6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7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ai.html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sources.qmd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preparation is required for class today. In general, reading may be assigned before Monday lectures.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climate risk management?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3"/>
              </a:rPr>
              <a:t>: IPCC AR5 WG2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Design decisions</a:t>
            </a:r>
            <a:r>
              <a:rPr/>
              <a:t> with years-to-decades timescales</a:t>
            </a:r>
          </a:p>
          <a:p>
            <a:pPr lvl="0"/>
            <a:r>
              <a:rPr/>
              <a:t>Infrastructure sizing, land use planning, building codes</a:t>
            </a:r>
          </a:p>
          <a:p>
            <a:pPr lvl="0"/>
            <a:r>
              <a:rPr/>
              <a:t>Less emphasis on emergency management or real-time operations</a:t>
            </a:r>
          </a:p>
          <a:p>
            <a:pPr lvl="0"/>
            <a:r>
              <a:rPr/>
              <a:t>But the frameworks and tools apply broadly: insurance, humanitarian response, and more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Theoretical Frameworks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Throughout this course, we’ll use the </a:t>
            </a:r>
            <a:r>
              <a:rPr b="1"/>
              <a:t>XLRM Framework</a:t>
            </a:r>
            <a:r>
              <a:rPr/>
              <a:t> to structure our thinking: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also draw on:</a:t>
            </a:r>
          </a:p>
          <a:p>
            <a:pPr lvl="0"/>
            <a:r>
              <a:rPr b="1"/>
              <a:t>Economic theory</a:t>
            </a:r>
            <a:r>
              <a:rPr/>
              <a:t>: utility, welfare, and their limitations</a:t>
            </a:r>
          </a:p>
          <a:p>
            <a:pPr lvl="0"/>
            <a:r>
              <a:rPr b="1"/>
              <a:t>Stochastic optimization</a:t>
            </a:r>
            <a:r>
              <a:rPr/>
              <a:t>: making optimal decisions under uncertainty</a:t>
            </a:r>
          </a:p>
          <a:p>
            <a:pPr lvl="0"/>
            <a:r>
              <a:rPr b="1"/>
              <a:t>Deep uncertainty</a:t>
            </a:r>
            <a:r>
              <a:rPr/>
              <a:t>: what to do when we can’t assign probabilities</a:t>
            </a:r>
          </a:p>
          <a:p>
            <a:pPr lvl="0" indent="0" marL="0">
              <a:buNone/>
            </a:pPr>
            <a:r>
              <a:rPr/>
              <a:t>More on each throughout the semester!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Audit a Real-World Plan</a:t>
            </a:r>
          </a:p>
          <a:p>
            <a:pPr lvl="0" indent="0" marL="1270000">
              <a:buNone/>
            </a:pPr>
            <a:r>
              <a:rPr sz="2000"/>
              <a:t>You’ll select a climate adaptation or risk management plan and critically evaluate it.</a:t>
            </a:r>
          </a:p>
          <a:p>
            <a:pPr lvl="0"/>
            <a:r>
              <a:rPr/>
              <a:t>Every climate plan has hidden assumptions</a:t>
            </a:r>
          </a:p>
          <a:p>
            <a:pPr lvl="0"/>
            <a:r>
              <a:rPr/>
              <a:t>Every cost-benefit analysis makes value judgments</a:t>
            </a:r>
          </a:p>
          <a:p>
            <a:pPr lvl="0"/>
            <a:r>
              <a:rPr/>
              <a:t>You’re training to be the experts who </a:t>
            </a:r>
            <a:r>
              <a:rPr b="1"/>
              <a:t>check the work</a:t>
            </a:r>
          </a:p>
          <a:p>
            <a:pPr lvl="0"/>
            <a:r>
              <a:rPr/>
              <a:t>Find the “vibes” hiding in technical documents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20%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Grading: 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Exams</a:t>
                      </a:r>
                      <a:r>
                        <a:rPr/>
                        <a:t> (3 × 15% each)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Tool comfort:</a:t>
            </a:r>
            <a:r>
              <a:rPr/>
              <a:t> LLMs are oustanding at tasks like coding, </a:t>
            </a:r>
            <a:r>
              <a:rPr i="1"/>
              <a:t>if you really know what you’re doing</a:t>
            </a:r>
          </a:p>
          <a:p>
            <a:pPr lvl="1"/>
            <a:r>
              <a:rPr/>
              <a:t>Most of you are not</a:t>
            </a:r>
          </a:p>
          <a:p>
            <a:pPr lvl="0"/>
            <a:r>
              <a:rPr b="1"/>
              <a:t>Shared responsibility:</a:t>
            </a:r>
            <a:r>
              <a:rPr/>
              <a:t> I teach, you learn</a:t>
            </a:r>
          </a:p>
          <a:p>
            <a:pPr lvl="0"/>
            <a:r>
              <a:rPr b="1"/>
              <a:t>Assessment design:</a:t>
            </a:r>
            <a:r>
              <a:rPr/>
              <a:t> Exams and quizzes test </a:t>
            </a:r>
            <a:r>
              <a:rPr i="1"/>
              <a:t>your</a:t>
            </a:r>
            <a:r>
              <a:rPr/>
              <a:t> understanding</a:t>
            </a:r>
          </a:p>
          <a:p>
            <a:pPr lvl="0"/>
            <a:r>
              <a:rPr b="1"/>
              <a:t>Open dialogue:</a:t>
            </a:r>
            <a:r>
              <a:rPr/>
              <a:t> Let’s talk honestly about how we use these tools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2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Julia</a:t>
            </a:r>
            <a:r>
              <a:rPr/>
              <a:t>, </a:t>
            </a:r>
            <a:r>
              <a:rPr b="1"/>
              <a:t>GitHub</a:t>
            </a:r>
            <a:r>
              <a:rPr/>
              <a:t>, </a:t>
            </a:r>
            <a:r>
              <a:rPr b="1"/>
              <a:t>Quarto</a:t>
            </a:r>
            <a:r>
              <a:rPr/>
              <a:t>, and </a:t>
            </a:r>
            <a:r>
              <a:rPr b="1"/>
              <a:t>VS Code</a:t>
            </a:r>
            <a:r>
              <a:rPr/>
              <a:t> for labs.</a:t>
            </a:r>
          </a:p>
          <a:p>
            <a:pPr lvl="0" indent="0" marL="0">
              <a:buNone/>
            </a:pPr>
            <a:r>
              <a:rPr/>
              <a:t>More details on Friday—see the </a:t>
            </a:r>
            <a:r>
              <a:rPr>
                <a:hlinkClick r:id="rId2"/>
              </a:rPr>
              <a:t>resources page</a:t>
            </a:r>
            <a:r>
              <a:rPr/>
              <a:t> for setup guides!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2026-01-07T21:20:27Z</dcterms:created>
  <dcterms:modified xsi:type="dcterms:W3CDTF">2026-01-07T21:20:27Z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
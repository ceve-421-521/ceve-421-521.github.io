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4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notesMaster" Target="notesMasters/notesMaster1.xml" /><Relationship Id="rId48" Type="http://schemas.openxmlformats.org/officeDocument/2006/relationships/viewProps" Target="viewProps.xml" /><Relationship Id="rId4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0" Type="http://schemas.openxmlformats.org/officeDocument/2006/relationships/tableStyles" Target="tableStyles.xml" /><Relationship Id="rId49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28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29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37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38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4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1:01. Hook: start with concrete decisions to motivate the course. Move through examples quickly (~1 min each).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1:06. Pause for thinking, then invite responses. Listen for: data, models, economics, optimization.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1:08. Connect to what students said. These are the theoretical pillars of the course.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1:10. Quick definition – don’t belabor.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1:12. IPCC risk framework: Risk = f(Hazard, Exposure, Vulnerability). Point out all three components.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1:14. Quick brainstorm – call on a few students.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1:17. Another quick brainstorm. Reveal fragments after hearing responses.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1:20. Key framework for the semester. Will revisit many times. X-L-R-M mnemonic.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1:27. Brief intros—name and background.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1:30. Transition to course logistics.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1:32. Emphasize “expert consultants” – they’re practicing a marketable skill.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28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1:34. Quick overview – they’ll see this structure repeated.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29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1:36. Emphasize no laptops Mon/Wed—this is intentional for discussion quality.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37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38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1:50. End on time. Repeat key actions: read syllabus, do reading, start Lab 1 setup.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houstonpublicmedia.org/articles/news/2017/10/06/240934/many-houstonians-seek-home-elevation-after-repetitive-flooding/" TargetMode="External" /><Relationship Id="rId3" Type="http://schemas.openxmlformats.org/officeDocument/2006/relationships/image" Target="../media/image3.jp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flickr.com/photos/joncutrer/50975248406" TargetMode="External" /><Relationship Id="rId3" Type="http://schemas.openxmlformats.org/officeDocument/2006/relationships/image" Target="../media/image4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commons.wikimedia.org/wiki/File:Electricity_Grid_Schematic_English.svg" TargetMode="External" /><Relationship Id="rId3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glossary.ametsoc.org/wiki/Climate" TargetMode="External" /><Relationship Id="rId4" Type="http://schemas.openxmlformats.org/officeDocument/2006/relationships/hyperlink" Target="https://www.usgs.gov/special-topics/water-science-school/science/water-cycle-diagrams" TargetMode="External" /><Relationship Id="rId3" Type="http://schemas.openxmlformats.org/officeDocument/2006/relationships/image" Target="../media/image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Relationship Id="rId4" Type="http://schemas.openxmlformats.org/officeDocument/2006/relationships/hyperlink" Target="https://www.ipcc.ch/report/ar5/wg2/" TargetMode="External" /><Relationship Id="rId3" Type="http://schemas.openxmlformats.org/officeDocument/2006/relationships/image" Target="../media/image7.jp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dossgollin-lab.github.io" TargetMode="External" /><Relationship Id="rId4" Type="http://schemas.openxmlformats.org/officeDocument/2006/relationships/hyperlink" Target="mailto:jdossgollin@rice.edu" TargetMode="External" /><Relationship Id="rId2" Type="http://schemas.openxmlformats.org/officeDocument/2006/relationships/image" Target="../media/image8.jp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eve-421-521.github.io/" TargetMode="External" /><Relationship Id="rId3" Type="http://schemas.openxmlformats.org/officeDocument/2006/relationships/hyperlink" Target="https://ceve-421-521.github.io/syllabus/" TargetMode="Externa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Relationship Id="rId3" Type="http://schemas.openxmlformats.org/officeDocument/2006/relationships/hyperlink" Target="https://ceve-421-521.github.io/ai.html" TargetMode="Externa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rollingstone.com/culture/culture-features/floods-storms-jersey-shore-beach-rebuilding-1235477927/" TargetMode="External" /><Relationship Id="rId3" Type="http://schemas.openxmlformats.org/officeDocument/2006/relationships/hyperlink" Target="https://www.scientificamerican.com/article/bold-new-jersey-shore-flood-rules-could-be-blueprint-for-entire-u-s-coast/" TargetMode="External" /><Relationship Id="rId4" Type="http://schemas.openxmlformats.org/officeDocument/2006/relationships/hyperlink" Target="https://projects.propublica.org/houston-cypress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 to Climate Risk Management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2026-01-12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Decisions We Face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Update land use / zoning regulations?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Satija et al. (2016)</a:t>
            </a:r>
          </a:p>
        </p:txBody>
      </p:sp>
      <p:pic>
        <p:nvPicPr>
          <p:cNvPr descr="boomtow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358900"/>
            <a:ext cx="4038600" cy="307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to size stormwater infrastructure?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Doss-Gollin</a:t>
            </a:r>
          </a:p>
        </p:txBody>
      </p:sp>
      <p:pic>
        <p:nvPicPr>
          <p:cNvPr descr="doss-gollin-buffalo-drainage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371600"/>
            <a:ext cx="4038600" cy="302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high to elevate a house for proactive flood protection?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Allison Lee / </a:t>
            </a:r>
            <a:r>
              <a:rPr>
                <a:hlinkClick r:id="rId2"/>
              </a:rPr>
              <a:t>Houston Public Media</a:t>
            </a:r>
          </a:p>
        </p:txBody>
      </p:sp>
      <p:pic>
        <p:nvPicPr>
          <p:cNvPr descr="lee-meyerland-elevation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549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Require weatherization of privately owned electricity infrastructure?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</a:t>
            </a:r>
            <a:r>
              <a:rPr>
                <a:hlinkClick r:id="rId2"/>
              </a:rPr>
              <a:t>Jonathan Cutrer</a:t>
            </a:r>
            <a:r>
              <a:rPr/>
              <a:t> / Flickr.</a:t>
            </a:r>
          </a:p>
        </p:txBody>
      </p:sp>
      <p:pic>
        <p:nvPicPr>
          <p:cNvPr descr="cutrer-uri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752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to prioritize grid hardening for a growing, electrifying city?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</a:t>
            </a:r>
            <a:r>
              <a:rPr>
                <a:hlinkClick r:id="rId2"/>
              </a:rPr>
              <a:t>Wikimedia Commons</a:t>
            </a:r>
            <a:r>
              <a:rPr/>
              <a:t> / CC-BY-3.0</a:t>
            </a:r>
          </a:p>
        </p:txBody>
      </p:sp>
      <p:pic>
        <p:nvPicPr>
          <p:cNvPr descr="grid-schematic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372100" y="1193800"/>
            <a:ext cx="2578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Frameworks and Concepts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Turn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How would you help a decision-maker choose the “best” option? What tools or frameworks would you reach for?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Foundations We’ll Draw 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Economic theory</a:t>
            </a:r>
            <a:r>
              <a:rPr/>
              <a:t>: utility, welfare, cost-benefit analysis</a:t>
            </a:r>
          </a:p>
          <a:p>
            <a:pPr lvl="0"/>
            <a:r>
              <a:rPr b="1"/>
              <a:t>Stochastic optimization</a:t>
            </a:r>
            <a:r>
              <a:rPr/>
              <a:t>: optimal decisions under uncertainty</a:t>
            </a:r>
          </a:p>
          <a:p>
            <a:pPr lvl="0"/>
            <a:r>
              <a:rPr b="1"/>
              <a:t>Uncertainty quantification</a:t>
            </a:r>
            <a:r>
              <a:rPr/>
              <a:t>: characterizing what we don’t know</a:t>
            </a:r>
          </a:p>
          <a:p>
            <a:pPr lvl="0"/>
            <a:r>
              <a:rPr b="1"/>
              <a:t>Robust decision making</a:t>
            </a:r>
            <a:r>
              <a:rPr/>
              <a:t>: strategies that work across scenarios</a:t>
            </a:r>
          </a:p>
          <a:p>
            <a:pPr lvl="0"/>
            <a:r>
              <a:rPr b="1"/>
              <a:t>Engineering systems analysis</a:t>
            </a:r>
            <a:r>
              <a:rPr/>
              <a:t>: modeling complex systems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The slowly varying aspects of the atmosphere–hydrosphere–land surface system.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AMS Glossary of Meteorology</a:t>
            </a:r>
          </a:p>
        </p:txBody>
      </p:sp>
      <p:pic>
        <p:nvPicPr>
          <p:cNvPr descr="usgs-water-cycl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257300"/>
            <a:ext cx="40386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>
                <a:hlinkClick r:id="rId4"/>
              </a:rPr>
              <a:t>: USGS Water Cycle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Framework</a:t>
            </a:r>
          </a:p>
        </p:txBody>
      </p:sp>
      <p:pic>
        <p:nvPicPr>
          <p:cNvPr descr="ipcc-risk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070100" y="1193800"/>
            <a:ext cx="5003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>
                <a:hlinkClick r:id="rId4"/>
              </a:rPr>
              <a:t>: IPCC AR5 WG2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Your turn!</a:t>
            </a:r>
          </a:p>
          <a:p>
            <a:pPr lvl="0" indent="0" marL="1270000">
              <a:buNone/>
            </a:pPr>
            <a:r>
              <a:rPr sz="2000"/>
              <a:t>What climate risks have you heard of?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 Management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Your turn!</a:t>
            </a:r>
          </a:p>
          <a:p>
            <a:pPr lvl="0" indent="0" marL="1270000">
              <a:buNone/>
            </a:pPr>
            <a:r>
              <a:rPr sz="2000"/>
              <a:t>What climate risk management strategies have you heard of?</a:t>
            </a:r>
          </a:p>
          <a:p>
            <a:pPr lvl="0"/>
            <a:r>
              <a:rPr/>
              <a:t>Financial instruments (e.g., insurance)</a:t>
            </a:r>
          </a:p>
          <a:p>
            <a:pPr lvl="0"/>
            <a:r>
              <a:rPr/>
              <a:t>Floodproof buildings</a:t>
            </a:r>
          </a:p>
          <a:p>
            <a:pPr lvl="0"/>
            <a:r>
              <a:rPr/>
              <a:t>Zoning codes</a:t>
            </a:r>
          </a:p>
          <a:p>
            <a:pPr lvl="0"/>
            <a:r>
              <a:rPr/>
              <a:t>Major infrastructure</a:t>
            </a:r>
          </a:p>
          <a:p>
            <a:pPr lvl="0"/>
            <a:r>
              <a:rPr/>
              <a:t>Improve emergency planning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XLRM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We’ll use </a:t>
            </a:r>
            <a:r>
              <a:rPr b="1"/>
              <a:t>XLRM</a:t>
            </a:r>
            <a:r>
              <a:rPr/>
              <a:t> to structure our thinking about decisions:</a:t>
            </a:r>
          </a:p>
          <a:p>
            <a:pPr lvl="0"/>
            <a:r>
              <a:rPr b="1"/>
              <a:t>X</a:t>
            </a:r>
            <a:r>
              <a:rPr/>
              <a:t> = e</a:t>
            </a:r>
            <a:r>
              <a:rPr b="1"/>
              <a:t>X</a:t>
            </a:r>
            <a:r>
              <a:rPr/>
              <a:t>ogenous uncertainties (what we can’t control)</a:t>
            </a:r>
          </a:p>
          <a:p>
            <a:pPr lvl="0"/>
            <a:r>
              <a:rPr b="1"/>
              <a:t>L</a:t>
            </a:r>
            <a:r>
              <a:rPr/>
              <a:t> = </a:t>
            </a:r>
            <a:r>
              <a:rPr b="1"/>
              <a:t>L</a:t>
            </a:r>
            <a:r>
              <a:rPr/>
              <a:t>evers (decisions we can make)</a:t>
            </a:r>
          </a:p>
          <a:p>
            <a:pPr lvl="0"/>
            <a:r>
              <a:rPr b="1"/>
              <a:t>R</a:t>
            </a:r>
            <a:r>
              <a:rPr/>
              <a:t> = </a:t>
            </a:r>
            <a:r>
              <a:rPr b="1"/>
              <a:t>R</a:t>
            </a:r>
            <a:r>
              <a:rPr/>
              <a:t>elationships (how the system works)</a:t>
            </a:r>
          </a:p>
          <a:p>
            <a:pPr lvl="0"/>
            <a:r>
              <a:rPr b="1"/>
              <a:t>M</a:t>
            </a:r>
            <a:r>
              <a:rPr/>
              <a:t> = </a:t>
            </a:r>
            <a:r>
              <a:rPr b="1"/>
              <a:t>M</a:t>
            </a:r>
            <a:r>
              <a:rPr/>
              <a:t>etrics (what we care about)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About Us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Me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jdossgollin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41400" y="1193800"/>
            <a:ext cx="2882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Dr. James Doss-Gollin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Assistant Professor of Civil and Environmental Engineering</a:t>
            </a:r>
          </a:p>
          <a:p>
            <a:pPr lvl="0"/>
            <a:r>
              <a:rPr>
                <a:hlinkClick r:id="rId3"/>
              </a:rPr>
              <a:t>dossgollin-lab.github.io</a:t>
            </a:r>
          </a:p>
          <a:p>
            <a:pPr lvl="0"/>
            <a:r>
              <a:rPr>
                <a:hlinkClick r:id="rId4"/>
              </a:rPr>
              <a:t>jdossgollin@rice.edu</a:t>
            </a:r>
          </a:p>
          <a:p>
            <a:pPr lvl="0"/>
            <a:r>
              <a:rPr/>
              <a:t>Office hours Wednesday 12-1 (before class) or by appointment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turn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go around quickly:</a:t>
            </a:r>
          </a:p>
          <a:p>
            <a:pPr lvl="0" indent="-342900" marL="342900">
              <a:buAutoNum type="arabicPeriod"/>
            </a:pPr>
            <a:r>
              <a:rPr/>
              <a:t>Name / what you prefer to be called</a:t>
            </a:r>
          </a:p>
          <a:p>
            <a:pPr lvl="0" indent="-342900" marL="342900">
              <a:buAutoNum type="arabicPeriod"/>
            </a:pPr>
            <a:r>
              <a:rPr/>
              <a:t>Year and major / research area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About the Course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Course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 management is a very broad field. We will:</a:t>
            </a:r>
          </a:p>
          <a:p>
            <a:pPr lvl="0" indent="-342900" marL="342900">
              <a:buAutoNum type="arabicPeriod"/>
            </a:pPr>
            <a:r>
              <a:rPr b="1"/>
              <a:t>Survey</a:t>
            </a:r>
            <a:r>
              <a:rPr/>
              <a:t> how it is implemented in different fields</a:t>
            </a:r>
          </a:p>
          <a:p>
            <a:pPr lvl="0" indent="-342900" marL="342900">
              <a:buAutoNum type="arabicPeriod"/>
            </a:pPr>
            <a:r>
              <a:rPr/>
              <a:t>Develop a </a:t>
            </a:r>
            <a:r>
              <a:rPr b="1"/>
              <a:t>deep understanding</a:t>
            </a:r>
            <a:r>
              <a:rPr/>
              <a:t> of how to assess proposed climate risk strategies</a:t>
            </a:r>
          </a:p>
          <a:p>
            <a:pPr lvl="0" indent="-342900" marL="342900">
              <a:buAutoNum type="arabicPeriod"/>
            </a:pPr>
            <a:r>
              <a:rPr b="1"/>
              <a:t>Apply</a:t>
            </a:r>
            <a:r>
              <a:rPr/>
              <a:t> these methods to a real-world problem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Final Project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small teams, you’ll act as expert consultants auditing a real-world climate plan.</a:t>
            </a:r>
          </a:p>
          <a:p>
            <a:pPr lvl="0"/>
            <a:r>
              <a:rPr b="1"/>
              <a:t>Three Audit Memos:</a:t>
            </a:r>
            <a:r>
              <a:rPr/>
              <a:t> Analyze the plan’s framework, evidence, and robustness</a:t>
            </a:r>
          </a:p>
          <a:p>
            <a:pPr lvl="0"/>
            <a:r>
              <a:rPr b="1"/>
              <a:t>Executive Briefing:</a:t>
            </a:r>
            <a:r>
              <a:rPr/>
              <a:t> Present your findings in Week 14</a:t>
            </a:r>
          </a:p>
          <a:p>
            <a:pPr lvl="0"/>
            <a:r>
              <a:rPr b="1"/>
              <a:t>Written Report:</a:t>
            </a:r>
            <a:r>
              <a:rPr/>
              <a:t> Due during finals week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modules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Risk Analysis</a:t>
            </a:r>
            <a:r>
              <a:rPr/>
              <a:t> (Weeks 1-5): Characterize hazards and quantify uncertainty</a:t>
            </a:r>
          </a:p>
          <a:p>
            <a:pPr lvl="0" indent="-342900" marL="342900">
              <a:buAutoNum type="arabicPeriod"/>
            </a:pPr>
            <a:r>
              <a:rPr b="1"/>
              <a:t>Decision Analysis</a:t>
            </a:r>
            <a:r>
              <a:rPr/>
              <a:t> (Weeks 6-9): Evaluate options under uncertainty</a:t>
            </a:r>
          </a:p>
          <a:p>
            <a:pPr lvl="0" indent="-342900" marL="342900">
              <a:buAutoNum type="arabicPeriod"/>
            </a:pPr>
            <a:r>
              <a:rPr b="1"/>
              <a:t>Optimization Under Uncertainty</a:t>
            </a:r>
            <a:r>
              <a:rPr/>
              <a:t> (Weeks 10-13): Find robust strategies</a:t>
            </a:r>
          </a:p>
          <a:p>
            <a:pPr lvl="0" indent="0" marL="0">
              <a:buNone/>
            </a:pPr>
            <a:r>
              <a:rPr/>
              <a:t>Week 14: Final Project Presentations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Class structure: Weekly rhythm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Activity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Laptops?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Monday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Lecture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Wednesday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Quiz + Paper Discussion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Friday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Lab Studio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 laptops Mon/Wed helps us focus on discussion. Exceptions: tablet note-taking or documented accommodations.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syllabus is online!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Course website: </a:t>
            </a:r>
            <a:r>
              <a:rPr>
                <a:hlinkClick r:id="rId2"/>
              </a:rPr>
              <a:t>https://ceve-421-521.github.io/</a:t>
            </a:r>
          </a:p>
          <a:p>
            <a:pPr lvl="0"/>
            <a:r>
              <a:rPr/>
              <a:t>Syllabus: </a:t>
            </a:r>
            <a:r>
              <a:rPr>
                <a:hlinkClick r:id="rId3"/>
              </a:rPr>
              <a:t>https://ceve-421-521.github.io/syllabus/</a:t>
            </a:r>
          </a:p>
          <a:p>
            <a:pPr lvl="0"/>
            <a:r>
              <a:rPr/>
              <a:t>Read it by Wednesday!</a:t>
            </a:r>
          </a:p>
          <a:p>
            <a:pPr lvl="0"/>
            <a:r>
              <a:rPr/>
              <a:t>Questions? Ask now or later!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Grading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CEVE 421 (Undergrad)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625600"/>
          <a:ext cx="4038600" cy="2959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Weight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Quizzes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Exams (3 × 20%)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60%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Final Project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CEVE 521 (Graduate)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635500" y="1625600"/>
          <a:ext cx="4038600" cy="2959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Weight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Quizzes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15%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Exams (3 × 15%)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45%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Final Project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Seminar Leadership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Graduate students: Discussion leadership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CEVE 521 Requirement</a:t>
            </a:r>
          </a:p>
          <a:p>
            <a:pPr lvl="0" indent="0" marL="1270000">
              <a:buNone/>
            </a:pPr>
            <a:r>
              <a:rPr sz="2000"/>
              <a:t>You will </a:t>
            </a:r>
            <a:r>
              <a:rPr sz="2000" b="1"/>
              <a:t>lead one Wednesday discussion session</a:t>
            </a:r>
            <a:r>
              <a:rPr sz="2000"/>
              <a:t>.</a:t>
            </a:r>
          </a:p>
          <a:p>
            <a:pPr lvl="0"/>
            <a:r>
              <a:rPr/>
              <a:t>Design an active learning experience—not just a presentation</a:t>
            </a:r>
          </a:p>
          <a:p>
            <a:pPr lvl="0"/>
            <a:r>
              <a:rPr/>
              <a:t>Contact me to schedule your session</a:t>
            </a:r>
          </a:p>
          <a:p>
            <a:pPr lvl="0"/>
            <a:r>
              <a:rPr/>
              <a:t>This signals to everyone: Wednesdays are </a:t>
            </a:r>
            <a:r>
              <a:rPr b="1"/>
              <a:t>active</a:t>
            </a:r>
            <a:r>
              <a:rPr/>
              <a:t>, not passive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those exams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 cumulative final!</a:t>
            </a:r>
          </a:p>
          <a:p>
            <a:pPr lvl="0"/>
            <a:r>
              <a:rPr sz="2000" b="1"/>
              <a:t>Exam 1</a:t>
            </a:r>
            <a:r>
              <a:rPr sz="2000"/>
              <a:t> (Week 6): Covers Module 1 (Risk Analysis)</a:t>
            </a:r>
          </a:p>
          <a:p>
            <a:pPr lvl="0"/>
            <a:r>
              <a:rPr sz="2000" b="1"/>
              <a:t>Exam 2</a:t>
            </a:r>
            <a:r>
              <a:rPr sz="2000"/>
              <a:t> (Week 9): Covers Module 2 (Decision Analysis)</a:t>
            </a:r>
          </a:p>
          <a:p>
            <a:pPr lvl="0"/>
            <a:r>
              <a:rPr sz="2000" b="1"/>
              <a:t>Exam 3</a:t>
            </a:r>
            <a:r>
              <a:rPr sz="2000"/>
              <a:t> (Finals Week): Covers Module 3 only</a:t>
            </a:r>
          </a:p>
          <a:p>
            <a:pPr lvl="0" indent="0" marL="1270000">
              <a:buNone/>
            </a:pPr>
            <a:r>
              <a:rPr sz="2000"/>
              <a:t>Finals week = Exam 3 + Written Report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the labs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Labs are </a:t>
            </a:r>
            <a:r>
              <a:rPr b="1"/>
              <a:t>ungraded</a:t>
            </a:r>
            <a:r>
              <a:rPr/>
              <a:t> but essential:</a:t>
            </a:r>
          </a:p>
          <a:p>
            <a:pPr lvl="0"/>
            <a:r>
              <a:rPr/>
              <a:t>Solutions posted immediately for self-correction</a:t>
            </a:r>
          </a:p>
          <a:p>
            <a:pPr lvl="0"/>
            <a:r>
              <a:rPr/>
              <a:t>Wednesday quizzes may include lab content</a:t>
            </a:r>
          </a:p>
          <a:p>
            <a:pPr lvl="0"/>
            <a:r>
              <a:rPr/>
              <a:t>Exams will test your ability to apply these methods</a:t>
            </a:r>
          </a:p>
          <a:p>
            <a:pPr lvl="0" indent="0" marL="0">
              <a:buNone/>
            </a:pPr>
            <a:r>
              <a:rPr/>
              <a:t>You may attend labs in-person or on Zoom.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community of learning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all benefit from a diverse, safe, welcoming, and inclusive environment</a:t>
            </a:r>
          </a:p>
          <a:p>
            <a:pPr lvl="0"/>
            <a:r>
              <a:rPr/>
              <a:t>Analysis is not value neutral</a:t>
            </a:r>
          </a:p>
          <a:p>
            <a:pPr lvl="0"/>
            <a:r>
              <a:rPr/>
              <a:t>Assume good faith and engage in good faith yourself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and LLMs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LLMs are useful for some tasks, notably coding, </a:t>
            </a:r>
            <a:r>
              <a:rPr i="1"/>
              <a:t>if you really know what you’re doing</a:t>
            </a:r>
            <a:r>
              <a:rPr/>
              <a:t>. You should learn to use them appropriately.</a:t>
            </a:r>
          </a:p>
          <a:p>
            <a:pPr lvl="0"/>
            <a:r>
              <a:rPr/>
              <a:t>Your use should be guided by purpose (here: learning!)</a:t>
            </a:r>
          </a:p>
          <a:p>
            <a:pPr lvl="0"/>
            <a:r>
              <a:rPr/>
              <a:t>I want us to discuss how we use these tools rather than to police your use.</a:t>
            </a:r>
          </a:p>
          <a:p>
            <a:pPr lvl="0" indent="0" marL="0">
              <a:buNone/>
            </a:pPr>
            <a:r>
              <a:rPr/>
              <a:t>Full policy: </a:t>
            </a:r>
            <a:r>
              <a:rPr>
                <a:hlinkClick r:id="rId3"/>
              </a:rPr>
              <a:t>ceve-421-521.github.io/ai.html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Accommodations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you have a documented disability, scheduling conflicts, or otherwise need accommodations, please let me know as soon as possible.</a:t>
            </a:r>
          </a:p>
          <a:p>
            <a:pPr lvl="0" indent="0" marL="0">
              <a:buNone/>
            </a:pPr>
            <a:r>
              <a:rPr/>
              <a:t>Viruses are circulating and everyone’s immune system is different. If you need others to wear a mask to protect you, please let me know – no health disclosures needed.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Logistics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Reading for Wednesday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articles on flood risk management in New Jersey:</a:t>
            </a:r>
          </a:p>
          <a:p>
            <a:pPr lvl="0"/>
            <a:r>
              <a:rPr/>
              <a:t>Frank (2022)</a:t>
            </a:r>
          </a:p>
          <a:p>
            <a:pPr lvl="0"/>
            <a:r>
              <a:rPr/>
              <a:t>Crawford (2025)</a:t>
            </a:r>
          </a:p>
          <a:p>
            <a:pPr lvl="0" indent="0" marL="0">
              <a:buNone/>
            </a:pPr>
            <a:r>
              <a:rPr/>
              <a:t>Readings and guiding questions are on the class website</a:t>
            </a:r>
          </a:p>
          <a:p>
            <a:pPr lvl="0"/>
            <a:r>
              <a:rPr/>
              <a:t>Come prepared for discussion</a:t>
            </a:r>
          </a:p>
          <a:p>
            <a:pPr lvl="0"/>
            <a:r>
              <a:rPr/>
              <a:t>Quiz should be easy if you do the reading!</a:t>
            </a:r>
          </a:p>
          <a:p>
            <a:pPr lvl="0"/>
            <a:r>
              <a:rPr/>
              <a:t>PDFs also available on Canvas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Lab 1: Friday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Julia setup and “Hello World”</a:t>
            </a:r>
          </a:p>
          <a:p>
            <a:pPr lvl="0"/>
            <a:r>
              <a:rPr/>
              <a:t>Start early! Installation can be tricky.</a:t>
            </a:r>
          </a:p>
          <a:p>
            <a:pPr lvl="0"/>
            <a:r>
              <a:rPr/>
              <a:t>Friday lab session is for troubleshooting and Q&amp;A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Week’s To-Dos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Wednesday</a:t>
            </a:r>
          </a:p>
          <a:p>
            <a:pPr lvl="0" indent="-342900" marL="342900">
              <a:buAutoNum type="arabicPeriod"/>
            </a:pPr>
            <a:r>
              <a:rPr/>
              <a:t>Read the syllabus</a:t>
            </a:r>
          </a:p>
          <a:p>
            <a:pPr lvl="0" indent="-342900" marL="342900">
              <a:buAutoNum type="arabicPeriod"/>
            </a:pPr>
            <a:r>
              <a:rPr/>
              <a:t>Complete the reading (Frank (2022) and Crawford (2025))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Before Friday</a:t>
            </a:r>
          </a:p>
          <a:p>
            <a:pPr lvl="0" indent="-342900" marL="342900">
              <a:buAutoNum startAt="3" type="arabicPeriod"/>
            </a:pPr>
            <a:r>
              <a:rPr/>
              <a:t>Start Lab 1 — complete the “Before Lab” setup steps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Crawford, Susan. 2025. “Floods and Storms Are Ravaging the Jersey Shore. Why Do We Keep Building It Back?” Rolling Stone, December 5. </a:t>
            </a:r>
            <a:r>
              <a:rPr>
                <a:hlinkClick r:id="rId2"/>
              </a:rPr>
              <a:t>https://www.rollingstone.com/culture/culture-features/floods-storms-jersey-shore-beach-rebuilding-1235477927/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Frank, Thomas. 2022. “Bold New Jersey Shore Flood Rules Could Be Blueprint for Entire U.S. Coast.” </a:t>
            </a:r>
            <a:r>
              <a:rPr i="1"/>
              <a:t>Scientific American</a:t>
            </a:r>
            <a:r>
              <a:rPr/>
              <a:t>, August 22. </a:t>
            </a:r>
            <a:r>
              <a:rPr>
                <a:hlinkClick r:id="rId3"/>
              </a:rPr>
              <a:t>https://www.scientificamerican.com/article/bold-new-jersey-shore-flood-rules-could-be-blueprint-for-entire-u-s-coast/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Satija, Nina, Kiah Collier, and Al Shaw. 2016. “Boomtown, Flood Town.” </a:t>
            </a:r>
            <a:r>
              <a:rPr i="1"/>
              <a:t>ProPublica: Hell and High Water</a:t>
            </a:r>
            <a:r>
              <a:rPr/>
              <a:t> (Houston, TX), December 7. </a:t>
            </a:r>
            <a:r>
              <a:rPr>
                <a:hlinkClick r:id="rId4"/>
              </a:rPr>
              <a:t>https://projects.propublica.org/houston-cypress/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 to Climate Risk Management</dc:title>
  <dc:creator>James Doss-Gollin</dc:creator>
  <cp:keywords/>
  <dcterms:created xsi:type="dcterms:W3CDTF">2026-04-03T15:51:35Z</dcterms:created>
  <dcterms:modified xsi:type="dcterms:W3CDTF">2026-04-03T15:51:35Z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2026-01-12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institution">
    <vt:lpwstr>Rice University</vt:lpwstr>
  </property>
  <property fmtid="{D5CDD505-2E9C-101B-9397-08002B2CF9AE}" pid="15" name="labels">
    <vt:lpwstr/>
  </property>
  <property fmtid="{D5CDD505-2E9C-101B-9397-08002B2CF9AE}" pid="16" name="status">
    <vt:lpwstr>published</vt:lpwstr>
  </property>
  <property fmtid="{D5CDD505-2E9C-101B-9397-08002B2CF9AE}" pid="17" name="toc-title">
    <vt:lpwstr>Table of contents</vt:lpwstr>
  </property>
  <property fmtid="{D5CDD505-2E9C-101B-9397-08002B2CF9AE}" pid="18" name="week">
    <vt:lpwstr>1</vt:lpwstr>
  </property>
</Properties>
</file>
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notesMaster" Target="notesMasters/notesMaster1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3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39.xml" /><Relationship Id="rId1" Type="http://schemas.openxmlformats.org/officeDocument/2006/relationships/notesMaster" Target="../notesMasters/notesMaster1.xml" /></Relationships>
</file>

<file path=ppt/notesSlides/_rels/notesSlide25.xml.rels><?xml version="1.0" encoding="UTF-8"?><Relationships xmlns="http://schemas.openxmlformats.org/package/2006/relationships"><Relationship Id="rId2" Type="http://schemas.openxmlformats.org/officeDocument/2006/relationships/slide" Target="../slides/slide40.xml" /><Relationship Id="rId1" Type="http://schemas.openxmlformats.org/officeDocument/2006/relationships/notesMaster" Target="../notesMasters/notesMaster1.xml" /></Relationships>
</file>

<file path=ppt/notesSlides/_rels/notesSlide26.xml.rels><?xml version="1.0" encoding="UTF-8"?><Relationships xmlns="http://schemas.openxmlformats.org/package/2006/relationships"><Relationship Id="rId2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current events that students have likely seen in the news. Don’t dive deep into insurance business—just use it as a hook.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Discussion prompts (pick 1-2 if time):</a:t>
            </a:r>
          </a:p>
          <a:p>
            <a:pPr lvl="0" indent="0" marL="0">
              <a:buNone/>
            </a:pPr>
          </a:p>
          <a:p>
            <a:pPr lvl="0"/>
            <a:r>
              <a:rPr/>
              <a:t>Why would an insurance company leave a market entirely rather than raise prices?</a:t>
            </a:r>
          </a:p>
          <a:p>
            <a:pPr lvl="0" indent="0" marL="0">
              <a:buNone/>
            </a:pPr>
          </a:p>
          <a:p>
            <a:pPr lvl="0"/>
            <a:r>
              <a:rPr/>
              <a:t>What happens to homeowners who can’t get private insurance?</a:t>
            </a:r>
          </a:p>
          <a:p>
            <a:pPr lvl="0" indent="0" marL="0">
              <a:buNone/>
            </a:pPr>
          </a:p>
          <a:p>
            <a:pPr lvl="0"/>
            <a:r>
              <a:rPr/>
              <a:t>If “100-year floods” keep happening every few years, what does that tell us about the models?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Optional listening: NYT Daily podcast on climate insurance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1:02. Connect to convolution—what happens when damage function meets hazard distribution. Key point: the integral is hard, so we approximate with Monte Carlo.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1:04. Quick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1:07. Core vocabulary slide. These two questions are inverses of each 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Explanations include</a:t>
            </a:r>
          </a:p>
          <a:p>
            <a:pPr lvl="0" indent="0" marL="0">
              <a:buNone/>
            </a:pPr>
          </a:p>
          <a:p>
            <a:pPr lvl="0"/>
            <a:r>
              <a:rPr/>
              <a:t>unlucky</a:t>
            </a:r>
          </a:p>
          <a:p>
            <a:pPr lvl="0" indent="0" marL="0">
              <a:buNone/>
            </a:pPr>
          </a:p>
          <a:p>
            <a:pPr lvl="0"/>
            <a:r>
              <a:rPr/>
              <a:t>they were “500 year floods” in different dimensions and places over a big area</a:t>
            </a:r>
          </a:p>
          <a:p>
            <a:pPr lvl="0" indent="0" marL="0">
              <a:buNone/>
            </a:pPr>
          </a:p>
          <a:p>
            <a:pPr lvl="0"/>
            <a:r>
              <a:rPr/>
              <a:t>climate change</a:t>
            </a:r>
          </a:p>
          <a:p>
            <a:pPr lvl="0" indent="0" marL="0">
              <a:buNone/>
            </a:pPr>
          </a:p>
          <a:p>
            <a:pPr lvl="0"/>
            <a:r>
              <a:rPr/>
              <a:t>all of the above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Show how to compute return levels from a distribution.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Code example showing return level calculation.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1:16. Start with the concrete example. Show the graph of electricity demand vs. generation during the freeze. Point out the multi-day duration of the shortage.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1:18. Show how the return period changes as a function of event duration. The 1-day event is relatively common, but the 5-day event is much rarer. This explains why the system wasn’t designed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Draw out the unified lesson from ERCOT. How we define the hazard determines the return period. Use consistent table format throughout.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1:22. Visual comparison is key here.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Left panel shows they look similar near the center. Right panel (log scale) reveals the difference in the tails. LogNormal has exponential decay (light tail). Pareto has power-law decay - the smaller alpha, the heavier the 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1:24. Define alpha mathematically, show estimation formula, discuss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1:26. Show Hill estimator and its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1:28. Connect to the practical implication.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1:30. Adapt the running mean plot from clt.jl. Show that GEV running mean is much noisier than Normal.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1:32. Drive home the practical point. Key insight: sample average is usually BELOW true mean for fat tails.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Set up the progression of metrics.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Introduce VaR with clear definition.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1:42. CVaR as the solution. Also called Expected Shortfall (ES) or Tail VaR.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Use intuitive explanation, avoid jargon students don’t have background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33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1:46. Key conceptual example. Parameters chosen so hazard distributions have similar means but different tail behavior. Distribution A: Gumbel (ξ=0) with higher location Distribution B: Fréchet (ξ=0.2) with lower location to compensate for heavier tail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Review from Week 2, add emphasis on “any metric.”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Full worked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1:52. Connect to fat tails.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39</a:t>
            </a:fld>
            <a:endParaRPr lang="en-US"/>
          </a:p>
        </p:txBody>
      </p:sp>
    </p:spTree>
  </p:cSld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1:54. Brief mention of advanced techniques—students should know these exist.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40</a:t>
            </a:fld>
            <a:endParaRPr lang="en-US"/>
          </a:p>
        </p:txBody>
      </p:sp>
    </p:spTree>
  </p:cSld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1:56. Five bullets max.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nytimes.com/2024/07/09/climate/home-insurance-prices-climate-change.html" TargetMode="External" /><Relationship Id="rId4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7.xml" /><Relationship Id="rId3" Type="http://schemas.openxmlformats.org/officeDocument/2006/relationships/image" Target="../media/image3.sv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Relationship Id="rId4" Type="http://schemas.openxmlformats.org/officeDocument/2006/relationships/hyperlink" Target="https://twitter.com/BPBartholomew/status/1364446059028750337" TargetMode="External" /><Relationship Id="rId3" Type="http://schemas.openxmlformats.org/officeDocument/2006/relationships/image" Target="../media/image4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image" Target="../media/image6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0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1.xml" /><Relationship Id="rId3" Type="http://schemas.openxmlformats.org/officeDocument/2006/relationships/image" Target="../media/image7.sv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5.xml" /><Relationship Id="rId3" Type="http://schemas.openxmlformats.org/officeDocument/2006/relationships/image" Target="../media/image8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sv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0.sv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1.xml" /><Relationship Id="rId3" Type="http://schemas.openxmlformats.org/officeDocument/2006/relationships/image" Target="../media/image11.sv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5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6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88/1748-9326/ac0278" TargetMode="External" /><Relationship Id="rId3" Type="http://schemas.openxmlformats.org/officeDocument/2006/relationships/hyperlink" Target="https://yalelawjournal.org/essay/the-uninsurable-future-the-climate-threat-to-property-insurance-and-how-to-stop-it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Probabilistic Risk and Tail Risks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Climate Risk to Insurance Premiums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nyt-flavelle-2024-07-09.png" id="0" name="Picture 1">
            <a:hlinkClick r:id="rId3"/>
          </p:cNvPr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0" y="1193800"/>
            <a:ext cx="2400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yljf-jones-2025.pn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092700" y="1193800"/>
            <a:ext cx="314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common thread:</a:t>
            </a:r>
            <a:r>
              <a:rPr/>
              <a:t> When the “worst case” keeps happening, models break down.</a:t>
            </a:r>
          </a:p>
          <a:p>
            <a:pPr lvl="0" indent="0" marL="0">
              <a:buNone/>
            </a:pPr>
            <a:r>
              <a:rPr/>
              <a:t>Today: The vocabulary and tools to talk about these tail risks.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Building on Week 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E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D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∫</m:t>
                            </m:r>
                            <m:r>
                              <m:t>D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h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⋅</m:t>
                            </m:r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h</m:t>
                                </m:r>
                              </m:e>
                            </m:d>
                            <m:r>
                              <m:t> </m:t>
                            </m:r>
                            <m:r>
                              <m:t>d</m:t>
                            </m:r>
                            <m:r>
                              <m:t>h</m:t>
                            </m:r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≈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r>
                                  <m:t>N</m:t>
                                </m:r>
                              </m:den>
                            </m:f>
                            <m:nary>
                              <m:naryPr>
                                <m:chr m:val="∑"/>
                                <m:limLoc m:val="undOvr"/>
                                <m:subHide m:val="off"/>
                                <m:supHide m:val="off"/>
                              </m:naryPr>
                              <m:sub>
                                <m:r>
                                  <m:t>i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sub>
                              <m:sup>
                                <m:r>
                                  <m:t>N</m:t>
                                </m:r>
                              </m:sup>
                              <m:e>
                                <m:r>
                                  <m:t>D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h</m:t>
                                    </m:r>
                                  </m:e>
                                  <m:sub>
                                    <m:r>
                                      <m:t>i</m:t>
                                    </m:r>
                                  </m:sub>
                                </m:sSub>
                              </m:e>
                            </m:d>
                          </m:e>
                          <m:e>
                            <m:r>
                              <m:rPr>
                                <m:nor/>
                                <m:sty m:val="p"/>
                              </m:rPr>
                              <m:t>if </m:t>
                            </m:r>
                            <m:sSub>
                              <m:e>
                                <m:r>
                                  <m:t>h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∼</m:t>
                            </m:r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h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The problem:</a:t>
                </a:r>
                <a:r>
                  <a:rPr/>
                  <a:t> With fat tails, this expectation is </a:t>
                </a:r>
                <a:r>
                  <a:rPr i="1"/>
                  <a:t>hard</a:t>
                </a:r>
                <a:r>
                  <a:rPr/>
                  <a:t> to estimate.</a:t>
                </a:r>
              </a:p>
              <a:p>
                <a:pPr lvl="0"/>
                <a:r>
                  <a:rPr/>
                  <a:t>Rare extreme events dominate the sum</a:t>
                </a:r>
              </a:p>
              <a:p>
                <a:pPr lvl="0"/>
                <a:r>
                  <a:rPr/>
                  <a:t>Different assumptions about tail shape → very different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D</m:t>
                        </m:r>
                      </m:e>
                    </m:d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Roadmap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Vocabulary:</a:t>
            </a:r>
            <a:r>
              <a:rPr/>
              <a:t> Return periods and return levels</a:t>
            </a:r>
          </a:p>
          <a:p>
            <a:pPr lvl="0" indent="-342900" marL="342900">
              <a:buAutoNum type="arabicPeriod"/>
            </a:pPr>
            <a:r>
              <a:rPr b="1"/>
              <a:t>Fat tails:</a:t>
            </a:r>
            <a:r>
              <a:rPr/>
              <a:t> When extremes dominate</a:t>
            </a:r>
          </a:p>
          <a:p>
            <a:pPr lvl="0" indent="-342900" marL="342900">
              <a:buAutoNum type="arabicPeriod"/>
            </a:pPr>
            <a:r>
              <a:rPr b="1"/>
              <a:t>Risk metrics:</a:t>
            </a:r>
            <a:r>
              <a:rPr/>
              <a:t> EAD, VaR, CVaR</a:t>
            </a:r>
          </a:p>
          <a:p>
            <a:pPr lvl="0" indent="-342900" marL="342900">
              <a:buAutoNum type="arabicPeriod"/>
            </a:pPr>
            <a:r>
              <a:rPr b="1"/>
              <a:t>Monte Carlo:</a:t>
            </a:r>
            <a:r>
              <a:rPr/>
              <a:t> Computing any metric from samples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Vocabulary: Extreme Value Statistics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Ways to Ask the Same Question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Return Period (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 b="1"/>
                  <a:t>)</a:t>
                </a:r>
              </a:p>
              <a:p>
                <a:pPr lvl="0" indent="0" marL="0">
                  <a:buNone/>
                </a:pPr>
                <a:r>
                  <a:rPr/>
                  <a:t>“How often does a flood this big happen?”</a:t>
                </a:r>
              </a:p>
              <a:p>
                <a:pPr lvl="0"/>
                <a:r>
                  <a:rPr/>
                  <a:t>Average time between exceedances</a:t>
                </a:r>
              </a:p>
              <a:p>
                <a:pPr lvl="0"/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t>p</m:t>
                    </m:r>
                  </m:oMath>
                </a14:m>
                <a:r>
                  <a:rPr/>
                  <a:t> where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is annual exceedance probability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Return Level (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 b="1"/>
                  <a:t>)</a:t>
                </a:r>
              </a:p>
              <a:p>
                <a:pPr lvl="0" indent="0" marL="0">
                  <a:buNone/>
                </a:pPr>
                <a:r>
                  <a:rPr/>
                  <a:t>“How big is a T-year flood?”</a:t>
                </a:r>
              </a:p>
              <a:p>
                <a:pPr lvl="0"/>
                <a:r>
                  <a:rPr/>
                  <a:t>The intensity exceeded once every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years on average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p>
                      <m:e>
                        <m:r>
                          <m:t>F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>
                          <m:t>T</m:t>
                        </m:r>
                      </m:e>
                    </m:d>
                  </m:oMath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</a:t>
            </a:r>
            <a:r>
              <a:rPr b="1"/>
              <a:t>inverse</a:t>
            </a:r>
            <a:r>
              <a:rPr/>
              <a:t> operations on the CDF.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“100-Year Floods” and Your Mortgage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Over 30 years: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0.99</m:t>
                            </m:r>
                          </m:e>
                        </m:d>
                      </m:e>
                      <m:sup>
                        <m:r>
                          <m:t>30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t>26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chance of at least one</a:t>
                </a:r>
              </a:p>
              <a:p>
                <a:pPr lvl="0"/>
                <a:r>
                  <a:rPr/>
                  <a:t>Houston experienced three “500-year” floods in three years (Harvey, Tax Day, Memorial Day)</a:t>
                </a:r>
              </a:p>
              <a:p>
                <a:pPr lvl="0"/>
                <a:r>
                  <a:rPr/>
                  <a:t>What are possible explanations?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Return Level Calculation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 GEV distribution with parameters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μ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σ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ξ</m:t>
                        </m:r>
                      </m:e>
                    </m:d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σ</m:t>
                          </m:r>
                        </m:num>
                        <m:den>
                          <m:r>
                            <m:t>ξ</m:t>
                          </m:r>
                        </m:den>
                      </m:f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rPr>
                                      <m:sty m:val="p"/>
                                    </m:rPr>
                                    <m:t>ln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f>
                                        <m:fPr>
                                          <m:type m:val="bar"/>
                                        </m:fPr>
                                        <m:num>
                                          <m:r>
                                            <m:t>1</m:t>
                                          </m:r>
                                        </m:num>
                                        <m:den>
                                          <m:r>
                                            <m:t>T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ξ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Julia, this is just: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quantile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(gev_dist,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T)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Return Levels in Practice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Define a GEV for storm surge (typical Gulf Coast parameters)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gev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μ=5ft, σ=1.5ft, ξ=0.2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return levels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return_periods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500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return_levels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(gev,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T) for T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return_periods]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700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"Return Period (years)"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"Return Level (ft)"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xscale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log10,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"Storm Surge Return Levels"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scatterlines!</a:t>
            </a:r>
            <a:r>
              <a:rPr>
                <a:solidFill>
                  <a:srgbClr val="003B4F"/>
                </a:solidFill>
                <a:latin typeface="Courier"/>
              </a:rPr>
              <a:t>(ax, return_periods, return_levels, markersize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ax.xticks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return_periods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3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939800"/>
            <a:ext cx="5105400" cy="292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2021 Texas Freeze</a:t>
            </a:r>
          </a:p>
        </p:txBody>
      </p:sp>
      <p:pic>
        <p:nvPicPr>
          <p:cNvPr descr="bartholomew-ercot-feb21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Electricity demand (blue) exceeded supply (red) for multiple consecutive days. Source: </a:t>
            </a:r>
            <a:r>
              <a:rPr>
                <a:hlinkClick r:id="rId4"/>
              </a:rPr>
              <a:t>Bryan Bartholomew on Twitter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extreme was the cold?</a:t>
            </a:r>
          </a:p>
        </p:txBody>
      </p:sp>
      <p:pic>
        <p:nvPicPr>
          <p:cNvPr descr="local_rt_era5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89100" y="1193800"/>
            <a:ext cx="5765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2: Return period of heating demand as across space (Doss-Gollin et al. 2021).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Return Period vs. Duration</a:t>
            </a:r>
          </a:p>
        </p:txBody>
      </p:sp>
      <p:pic>
        <p:nvPicPr>
          <p:cNvPr descr="txtreme-fig2b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895600" y="1193800"/>
            <a:ext cx="3365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3: Return period of heating demand during Feb 2021 as a function of event duration (Doss-Gollin et al. 2021).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Intensity Measures Matter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insight:</a:t>
            </a:r>
            <a:r>
              <a:rPr/>
              <a:t> Return period depends on how you define the event.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ERCOT Example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Impact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1-day cold snap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~10 years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Grid can handle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5-day cold snap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~50 years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Cascading failures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General principle:</a:t>
            </a:r>
            <a:r>
              <a:rPr/>
              <a:t> The choice of intensity measure affects everything downstream.</a:t>
            </a:r>
          </a:p>
          <a:p>
            <a:pPr lvl="0" indent="0" marL="0">
              <a:buNone/>
            </a:pPr>
            <a:r>
              <a:rPr/>
              <a:t>There are statistical approaches to specifying return periods for multivariate or </a:t>
            </a:r>
            <a:r>
              <a:rPr i="1"/>
              <a:t>compound</a:t>
            </a:r>
            <a:r>
              <a:rPr/>
              <a:t> extremes, such as copulas.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Fat Tails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Normal vs. Fat-Tailed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let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Define distributions with different tail behavior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Match location/scale to make comparison "fair"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xmin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1.0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Pareto distributions with different tail indices (alpha)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α ≥ 2: finite mean and variance (physically plausible)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α ∈ [1, 2): finite mean, infinite variance (some extreme events)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α &lt; 1: infinite mean and variance (very extreme, unlikely in nature)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pareto_α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2.0</a:t>
            </a:r>
            <a:r>
              <a:rPr>
                <a:solidFill>
                  <a:srgbClr val="003B4F"/>
                </a:solidFill>
                <a:latin typeface="Courier"/>
              </a:rPr>
              <a:t>, xmin)  </a:t>
            </a:r>
            <a:r>
              <a:rPr>
                <a:solidFill>
                  <a:srgbClr val="5E5E5E"/>
                </a:solidFill>
                <a:latin typeface="Courier"/>
              </a:rPr>
              <a:t># α = 2: physically plausible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pareto_α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xmin)  </a:t>
            </a:r>
            <a:r>
              <a:rPr>
                <a:solidFill>
                  <a:srgbClr val="5E5E5E"/>
                </a:solidFill>
                <a:latin typeface="Courier"/>
              </a:rPr>
              <a:t># α = 1.5: very heavy tail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pareto_α</a:t>
            </a:r>
            <a:r>
              <a:rPr>
                <a:solidFill>
                  <a:srgbClr val="AD0000"/>
                </a:solidFill>
                <a:latin typeface="Courier"/>
              </a:rPr>
              <a:t>08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xmin)  </a:t>
            </a:r>
            <a:r>
              <a:rPr>
                <a:solidFill>
                  <a:srgbClr val="5E5E5E"/>
                </a:solidFill>
                <a:latin typeface="Courier"/>
              </a:rPr>
              <a:t># α = 0.8: infinite mean/variance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LogNormal for comparison (light-tailed relative to Pareto)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lognormal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LogNormal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Left panel: PDFs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ax1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"p(x)"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"Probability Density Functions"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range</a:t>
            </a:r>
            <a:r>
              <a:rPr>
                <a:solidFill>
                  <a:srgbClr val="003B4F"/>
                </a:solidFill>
                <a:latin typeface="Courier"/>
              </a:rPr>
              <a:t>(xmin,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length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1_000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x, </a:t>
            </a:r>
            <a:r>
              <a:rPr>
                <a:solidFill>
                  <a:srgbClr val="4758AB"/>
                </a:solidFill>
                <a:latin typeface="Courier"/>
              </a:rPr>
              <a:t>pdf</a:t>
            </a:r>
            <a:r>
              <a:rPr>
                <a:solidFill>
                  <a:srgbClr val="003B4F"/>
                </a:solidFill>
                <a:latin typeface="Courier"/>
              </a:rPr>
              <a:t>.(lognormal, x),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text</a:t>
            </a:r>
            <a:r>
              <a:rPr>
                <a:solidFill>
                  <a:srgbClr val="20794D"/>
                </a:solidFill>
                <a:latin typeface="Courier"/>
              </a:rPr>
              <a:t>{LogNormal}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",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color=:blue)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x, </a:t>
            </a:r>
            <a:r>
              <a:rPr>
                <a:solidFill>
                  <a:srgbClr val="4758AB"/>
                </a:solidFill>
                <a:latin typeface="Courier"/>
              </a:rPr>
              <a:t>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x),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linestyle=:dash, color=:orange)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x, </a:t>
            </a:r>
            <a:r>
              <a:rPr>
                <a:solidFill>
                  <a:srgbClr val="4758AB"/>
                </a:solidFill>
                <a:latin typeface="Courier"/>
              </a:rPr>
              <a:t>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x),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=1.5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linestyle=:dot, color=:red)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(ax1,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Right panel: Log-scale to see tails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"\log(p(x))"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"Tails on Log Scale"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length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.(lognormal,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text</a:t>
            </a:r>
            <a:r>
              <a:rPr>
                <a:solidFill>
                  <a:srgbClr val="20794D"/>
                </a:solidFill>
                <a:latin typeface="Courier"/>
              </a:rPr>
              <a:t>{LogNormal}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color=:blue)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linestyle=:dash, color=:orange)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=1.5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linestyle=:dot, color=:red)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08</a:t>
            </a:r>
            <a:r>
              <a:rPr>
                <a:solidFill>
                  <a:srgbClr val="003B4F"/>
                </a:solidFill>
                <a:latin typeface="Courier"/>
              </a:rPr>
              <a:t>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=0.8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linestyle=:dashdot, color=:purple)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(ax2,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fig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</a:p>
        </p:txBody>
      </p:sp>
      <p:pic>
        <p:nvPicPr>
          <p:cNvPr descr="index_files/figure-pptx/cell-4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The Pareto Tail Index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For a Pareto distribution: </a:t></a:r><a14:m><m:oMath xmlns:m="http://schemas.openxmlformats.org/officeDocument/2006/math"><m:r><m:t>P</m:t></m:r><m:d><m:dPr><m:begChr m:val="(" /><m:sepChr m:val="" /><m:endChr m:val=")" /><m:grow /></m:dPr><m:e><m:r><m:t>X</m:t></m:r><m:r><m:rPr><m:sty m:val="p" /></m:rPr><m:t>&gt;</m:t></m:r><m:r><m:t>x</m:t></m:r></m:e></m:d><m:r><m:rPr><m:sty m:val="p" /></m:rPr><m:t>∼</m:t></m:r><m:sSup><m:e><m:r><m:t>x</m:t></m:r></m:e><m:sup><m:r><m:rPr><m:sty m:val="p" /></m:rPr><m:t>−</m:t></m:r><m:r><m:t>α</m:t></m:r></m:sup></m:sSup></m:oMath></a14:m><a:r><a:rPr /><a:t> as </a:t></a:r><a14:m><m:oMath xmlns:m="http://schemas.openxmlformats.org/officeDocument/2006/math"><m:r><m:t>x</m:t></m:r><m:r><m:rPr><m:sty m:val="p" /></m:rPr><m:t>→</m:t></m:r><m:r><m:rPr><m:sty m:val="p" /></m:rPr><m:t>∞</m:t></m:r></m:oMath></a14:m></a:p><a:p><a:pPr lvl="0" indent="0" marL="0"><a:buNone /></a:pPr><a:r><a:rPr b="1" /><a:t>Tail index</a:t></a:r><a:r><a:rPr /><a:t> </a:t></a:r><a14:m><m:oMath xmlns:m="http://schemas.openxmlformats.org/officeDocument/2006/math"><m:r><m:t>α</m:t></m:r></m:oMath></a14:m><a:r><a:rPr /><a:t> controls both tail heaviness and moment existence: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><a:buNone /></a:pPr><a14:m><m:oMath xmlns:m="http://schemas.openxmlformats.org/officeDocument/2006/math"><m:r><m:t>α</m:t></m:r></m:oMath></a14:m></a:p></a:txBody><a:tcPr /></a:tc><a:tc><a:txBody><a:bodyPr /><a:lstStyle /><a:p><a:pPr lvl="0" indent="0" marL="0"><a:buNone /></a:pPr><a:r><a:rPr /><a:t>Mean</a:t></a:r></a:p></a:txBody><a:tcPr /></a:tc><a:tc><a:txBody><a:bodyPr /><a:lstStyle /><a:p><a:pPr lvl="0" indent="0" marL="0"><a:buNone /></a:pPr><a:r><a:rPr /><a:t>Variance</a:t></a:r></a:p></a:txBody><a:tcPr /></a:tc><a:tc><a:txBody><a:bodyPr /><a:lstStyle /><a:p><a:pPr lvl="0" indent="0" marL="0"><a:buNone /></a:pPr><a:r><a:rPr /><a:t>Physical Plausibility</a:t></a:r></a:p></a:txBody><a:tcPr /></a:tc></a:tr><a:tr h="0"><a:tc><a:txBody><a:bodyPr /><a:lstStyle /><a:p><a:pPr lvl="0" indent="0" marL="0"><a:buNone /></a:pPr><a14:m><m:oMath xmlns:m="http://schemas.openxmlformats.org/officeDocument/2006/math"><m:r><m:t>α</m:t></m:r><m:r><m:rPr><m:sty m:val="p" /></m:rPr><m:t>≥</m:t></m:r><m:r><m:t>2</m:t></m:r></m:oMath></a14:m></a:p></a:txBody></a:tc><a:tc><a:txBody><a:bodyPr /><a:lstStyle /><a:p><a:pPr lvl="0" indent="0" marL="0"><a:buNone /></a:pPr><a:r><a:rPr /><a:t>Finite</a:t></a:r></a:p></a:txBody></a:tc><a:tc><a:txBody><a:bodyPr /><a:lstStyle /><a:p><a:pPr lvl="0" indent="0" marL="0"><a:buNone /></a:pPr><a:r><a:rPr /><a:t>Finite</a:t></a:r></a:p></a:txBody></a:tc><a:tc><a:txBody><a:bodyPr /><a:lstStyle /><a:p><a:pPr lvl="0" indent="0" marL="0"><a:buNone /></a:pPr><a:r><a:rPr /><a:t>Most climate/flood risks</a:t></a:r></a:p></a:txBody></a:tc></a:tr><a:tr h="0"><a:tc><a:txBody><a:bodyPr /><a:lstStyle /><a:p><a:pPr lvl="0" indent="0" marL="0"><a:buNone /></a:pPr><a14:m><m:oMath xmlns:m="http://schemas.openxmlformats.org/officeDocument/2006/math"><m:r><m:t>1</m:t></m:r><m:r><m:rPr><m:sty m:val="p" /></m:rPr><m:t>&lt;</m:t></m:r><m:r><m:t>α</m:t></m:r><m:r><m:rPr><m:sty m:val="p" /></m:rPr><m:t>&lt;</m:t></m:r><m:r><m:t>2</m:t></m:r></m:oMath></a14:m></a:p></a:txBody></a:tc><a:tc><a:txBody><a:bodyPr /><a:lstStyle /><a:p><a:pPr lvl="0" indent="0" marL="0"><a:buNone /></a:pPr><a:r><a:rPr /><a:t>Finite</a:t></a:r></a:p></a:txBody></a:tc><a:tc><a:txBody><a:bodyPr /><a:lstStyle /><a:p><a:pPr lvl="0" indent="0" marL="0"><a:buNone /></a:pPr><a:r><a:rPr /><a:t>Infinite</a:t></a:r></a:p></a:txBody></a:tc><a:tc><a:txBody><a:bodyPr /><a:lstStyle /><a:p><a:pPr lvl="0" indent="0" marL="0"><a:buNone /></a:pPr><a:r><a:rPr /><a:t>Some extreme events</a:t></a:r></a:p></a:txBody></a:tc></a:tr><a:tr h="0"><a:tc><a:txBody><a:bodyPr /><a:lstStyle /><a:p><a:pPr lvl="0" indent="0" marL="0"><a:buNone /></a:pPr><a14:m><m:oMath xmlns:m="http://schemas.openxmlformats.org/officeDocument/2006/math"><m:r><m:t>α</m:t></m:r><m:r><m:rPr><m:sty m:val="p" /></m:rPr><m:t>&lt;</m:t></m:r><m:r><m:t>1</m:t></m:r></m:oMath></a14:m></a:p></a:txBody></a:tc><a:tc><a:txBody><a:bodyPr /><a:lstStyle /><a:p><a:pPr lvl="0" indent="0" marL="0"><a:buNone /></a:pPr><a:r><a:rPr /><a:t>Infinite</a:t></a:r></a:p></a:txBody></a:tc><a:tc><a:txBody><a:bodyPr /><a:lstStyle /><a:p><a:pPr lvl="0" indent="0" marL="0"><a:buNone /></a:pPr><a:r><a:rPr /><a:t>Infinite</a:t></a:r></a:p></a:txBody></a:tc><a:tc><a:txBody><a:bodyPr /><a:lstStyle /><a:p><a:pPr lvl="0" indent="0" marL="0"><a:buNone /></a:pPr><a:r><a:rPr /><a:t>Unlikely in nature</a:t></a:r></a:p></a:txBody></a:tc></a:tr></a:tbl></a:graphicData></a:graphic></p:graphicFrame></p:spTree></p:cSld>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Estimating the Tail Index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Hill estimator</a:t>
                </a:r>
                <a:r>
                  <a:rPr/>
                  <a:t> for tail index from the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largest observations: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α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r>
                                    <m:t>k</m:t>
                                  </m:r>
                                </m:den>
                              </m:f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k</m:t>
                                  </m:r>
                                </m:sup>
                                <m:e>
                                  <m:r>
                                    <m:rPr>
                                      <m:sty m:val="p"/>
                                    </m:rPr>
                                    <m:t>ln</m:t>
                                  </m:r>
                                </m:e>
                              </m:nary>
                              <m:f>
                                <m:fPr>
                                  <m:type m:val="bar"/>
                                </m:fPr>
                                <m:num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r>
                                            <m:t>i</m:t>
                                          </m:r>
                                        </m:e>
                                      </m:d>
                                    </m:sub>
                                  </m:sSub>
                                </m:num>
                                <m:den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r>
                                            <m:t>k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m:t>+</m:t>
                                          </m:r>
                                          <m:r>
                                            <m:t>1</m:t>
                                          </m:r>
                                        </m:e>
                                      </m:d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Pitfalls:</a:t>
                </a:r>
              </a:p>
              <a:p>
                <a:pPr lvl="0"/>
                <a:r>
                  <a:rPr/>
                  <a:t>Requires choosing threshold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(how many extremes to use?)</a:t>
                </a:r>
              </a:p>
              <a:p>
                <a:pPr lvl="0"/>
                <a:r>
                  <a:rPr/>
                  <a:t>Need </a:t>
                </a:r>
                <a:r>
                  <a:rPr i="1"/>
                  <a:t>many</a:t>
                </a:r>
                <a:r>
                  <a:rPr/>
                  <a:t> observations in the tail to estimate reliably</a:t>
                </a:r>
              </a:p>
              <a:p>
                <a:pPr lvl="0"/>
                <a:r>
                  <a:rPr/>
                  <a:t>Historical data often too short for rare extremes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Do Fat Tails Matter?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fat-tailed distributions:</a:t>
            </a:r>
          </a:p>
          <a:p>
            <a:pPr lvl="0"/>
            <a:r>
              <a:rPr/>
              <a:t>The </a:t>
            </a:r>
            <a:r>
              <a:rPr b="1"/>
              <a:t>mean</a:t>
            </a:r>
            <a:r>
              <a:rPr/>
              <a:t> can be dominated by rare extreme events</a:t>
            </a:r>
          </a:p>
          <a:p>
            <a:pPr lvl="0"/>
            <a:r>
              <a:rPr/>
              <a:t>Sample averages converge </a:t>
            </a:r>
            <a:r>
              <a:rPr b="1"/>
              <a:t>slowly</a:t>
            </a:r>
            <a:r>
              <a:rPr/>
              <a:t> to the true mean</a:t>
            </a:r>
          </a:p>
          <a:p>
            <a:pPr lvl="0"/>
            <a:r>
              <a:rPr/>
              <a:t>Historical data undersamples the tail</a:t>
            </a:r>
          </a:p>
          <a:p>
            <a:pPr lvl="0" indent="0" marL="0">
              <a:buNone/>
            </a:pPr>
            <a:r>
              <a:rPr i="1"/>
              <a:t>“The average is dominated by a small number of extreme values.”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Slow Convergence of the Mean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let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running_mean</a:t>
            </a:r>
            <a:r>
              <a:rPr>
                <a:solidFill>
                  <a:srgbClr val="003B4F"/>
                </a:solidFill>
                <a:latin typeface="Courier"/>
              </a:rPr>
              <a:t>(samples)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cumsum</a:t>
            </a:r>
            <a:r>
              <a:rPr>
                <a:solidFill>
                  <a:srgbClr val="003B4F"/>
                </a:solidFill>
                <a:latin typeface="Courier"/>
              </a:rPr>
              <a:t>(samples) </a:t>
            </a:r>
            <a:r>
              <a:rPr>
                <a:solidFill>
                  <a:srgbClr val="5E5E5E"/>
                </a:solidFill>
                <a:latin typeface="Courier"/>
              </a:rPr>
              <a:t>./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n_samples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n_lines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LogNormal distribution (light tail)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ax1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\b</a:t>
            </a:r>
            <a:r>
              <a:rPr>
                <a:solidFill>
                  <a:srgbClr val="20794D"/>
                </a:solidFill>
                <a:latin typeface="Courier"/>
              </a:rPr>
              <a:t>ar{x}_n"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"LogNormal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: </a:t>
            </a:r>
            <a:r>
              <a:rPr>
                <a:solidFill>
                  <a:srgbClr val="003B4F"/>
                </a:solidFill>
                <a:latin typeface="Courier"/>
              </a:rPr>
              <a:t>Light</a:t>
            </a:r>
            <a:r>
              <a:rPr>
                <a:solidFill>
                  <a:srgbClr val="20794D"/>
                </a:solidFill>
                <a:latin typeface="Courier"/>
              </a:rPr>
              <a:t> Tail"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lognormal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LogNormal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_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n_lines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(lognormal, n_samples)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n_samples, </a:t>
            </a:r>
            <a:r>
              <a:rPr>
                <a:solidFill>
                  <a:srgbClr val="4758AB"/>
                </a:solidFill>
                <a:latin typeface="Courier"/>
              </a:rPr>
              <a:t>running_mean</a:t>
            </a:r>
            <a:r>
              <a:rPr>
                <a:solidFill>
                  <a:srgbClr val="003B4F"/>
                </a:solidFill>
                <a:latin typeface="Courier"/>
              </a:rPr>
              <a:t>(samples),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hlines!</a:t>
            </a:r>
            <a:r>
              <a:rPr>
                <a:solidFill>
                  <a:srgbClr val="003B4F"/>
                </a:solidFill>
                <a:latin typeface="Courier"/>
              </a:rPr>
              <a:t>(ax1, [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(lognormal)],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black, linestyle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dash,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"\mu"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(ax1,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ylims!</a:t>
            </a:r>
            <a:r>
              <a:rPr>
                <a:solidFill>
                  <a:srgbClr val="003B4F"/>
                </a:solidFill>
                <a:latin typeface="Courier"/>
              </a:rPr>
              <a:t>(ax1,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Pareto distribution (α = 1.5, fat-tailed)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\b</a:t>
            </a:r>
            <a:r>
              <a:rPr>
                <a:solidFill>
                  <a:srgbClr val="20794D"/>
                </a:solidFill>
                <a:latin typeface="Courier"/>
              </a:rPr>
              <a:t>ar{x}_n"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=1.25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): </a:t>
            </a:r>
            <a:r>
              <a:rPr>
                <a:solidFill>
                  <a:srgbClr val="003B4F"/>
                </a:solidFill>
                <a:latin typeface="Courier"/>
              </a:rPr>
              <a:t>Fat</a:t>
            </a:r>
            <a:r>
              <a:rPr>
                <a:solidFill>
                  <a:srgbClr val="20794D"/>
                </a:solidFill>
                <a:latin typeface="Courier"/>
              </a:rPr>
              <a:t> Tail"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pareto_fat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_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n_lines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(pareto_fat, n_samples)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n_samples, </a:t>
            </a:r>
            <a:r>
              <a:rPr>
                <a:solidFill>
                  <a:srgbClr val="4758AB"/>
                </a:solidFill>
                <a:latin typeface="Courier"/>
              </a:rPr>
              <a:t>running_mean</a:t>
            </a:r>
            <a:r>
              <a:rPr>
                <a:solidFill>
                  <a:srgbClr val="003B4F"/>
                </a:solidFill>
                <a:latin typeface="Courier"/>
              </a:rPr>
              <a:t>(samples),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red,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hlines!</a:t>
            </a:r>
            <a:r>
              <a:rPr>
                <a:solidFill>
                  <a:srgbClr val="003B4F"/>
                </a:solidFill>
                <a:latin typeface="Courier"/>
              </a:rPr>
              <a:t>(ax2, [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(pareto_fat)],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black, linestyle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dash,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"\mu"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(ax2,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ylims!</a:t>
            </a:r>
            <a:r>
              <a:rPr>
                <a:solidFill>
                  <a:srgbClr val="003B4F"/>
                </a:solidFill>
                <a:latin typeface="Courier"/>
              </a:rPr>
              <a:t>(ax2,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fig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</a:p>
        </p:txBody>
      </p:sp>
      <p:pic>
        <p:nvPicPr>
          <p:cNvPr descr="index_files/figure-pptx/cell-5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Implications for Risk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fat-tailed hazards:</a:t>
            </a:r>
          </a:p>
          <a:p>
            <a:pPr lvl="0"/>
            <a:r>
              <a:rPr b="1"/>
              <a:t>Usually</a:t>
            </a:r>
            <a:r>
              <a:rPr/>
              <a:t>, the average over N years is </a:t>
            </a:r>
            <a:r>
              <a:rPr i="1"/>
              <a:t>less than</a:t>
            </a:r>
            <a:r>
              <a:rPr/>
              <a:t> the true mean</a:t>
            </a:r>
          </a:p>
          <a:p>
            <a:pPr lvl="0"/>
            <a:r>
              <a:rPr/>
              <a:t>The mean is dominated by rare extremes you probably haven’t observed yet</a:t>
            </a:r>
          </a:p>
          <a:p>
            <a:pPr lvl="0"/>
            <a:r>
              <a:rPr/>
              <a:t>Occasionally you get unlucky and observe a tail event—then your estimate jumps</a:t>
            </a:r>
          </a:p>
          <a:p>
            <a:pPr lvl="0" indent="0" marL="0">
              <a:buNone/>
            </a:pPr>
            <a:r>
              <a:rPr b="1"/>
              <a:t>Implication:</a:t>
            </a:r>
            <a:r>
              <a:rPr/>
              <a:t> Historical averages systematically underestimate risk.</a:t>
            </a:r>
          </a:p>
          <a:p>
            <a:pPr lvl="0" indent="0" marL="0">
              <a:buNone/>
            </a:pPr>
            <a:r>
              <a:rPr/>
              <a:t>We need metrics that focus specifically on the tail.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 Metrics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Expected Value to Tail Focus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Expected Annual Damage (EAD)</a:t>
                </a:r>
                <a:r>
                  <a:rPr/>
                  <a:t> averages over everything: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EAD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t>D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⋅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h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But decision-makers often care more about </a:t>
                </a:r>
                <a:r>
                  <a:rPr b="1"/>
                  <a:t>worst-case scenarios</a:t>
                </a:r>
                <a:r>
                  <a:rPr/>
                  <a:t>:</a:t>
                </a:r>
              </a:p>
              <a:p>
                <a:pPr lvl="0"/>
                <a:r>
                  <a:rPr/>
                  <a:t>“What’s the damage I should prepare for?”</a:t>
                </a:r>
              </a:p>
              <a:p>
                <a:pPr lvl="0"/>
                <a:r>
                  <a:rPr/>
                  <a:t>“What’s the catastrophic loss I might face?”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Value at Risk (VaR)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VaR at confidence level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: The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-quantile of the loss distribution.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</m:e>
                        <m:sub>
                          <m:r>
                            <m:t>α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Sup>
                        <m:e>
                          <m:r>
                            <m:t>F</m:t>
                          </m:r>
                        </m:e>
                        <m:sub>
                          <m:r>
                            <m:t>L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bSup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α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95% VaR</a:t>
            </a:r>
          </a:p>
          <a:p>
            <a:pPr lvl="0"/>
            <a:r>
              <a:rPr/>
              <a:t>“5% of the time, losses exceed this value”</a:t>
            </a:r>
          </a:p>
          <a:p>
            <a:pPr lvl="0"/>
            <a:r>
              <a:rPr/>
              <a:t>Also called: 20-year loss (same concept, different vocab)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 Julia: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(losses,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VaR Illustrated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Generate damage samples (house at 3ft elevation, $200k value)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25_000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house_elevation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3.0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house_value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200.0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in $1000s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hazards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), 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house_elevation)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house_value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hazards]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700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"Probability Density"</a:t>
            </a:r>
            <a:r>
              <a:rPr>
                <a:solidFill>
                  <a:srgbClr val="003B4F"/>
                </a:solidFill>
                <a:latin typeface="Courier"/>
              </a:rPr>
              <a:t>,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Distribution with 95% VaR"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(ax, damages,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vlines!</a:t>
            </a:r>
            <a:r>
              <a:rPr>
                <a:solidFill>
                  <a:srgbClr val="003B4F"/>
                </a:solidFill>
                <a:latin typeface="Courier"/>
              </a:rPr>
              <a:t>(ax, [VaR_95],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red,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"95% VaR =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6-output-1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39800"/>
            <a:ext cx="5105400" cy="292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Conditional Value at Risk (CVaR)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CVaR</a:t>
                </a:r>
                <a:r>
                  <a:rPr/>
                  <a:t> (Expected Shortfall): Average loss in the worst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% of cases.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nor/>
                              <m:sty m:val="p"/>
                            </m:rPr>
                            <m:t>CVaR</m:t>
                          </m:r>
                        </m:e>
                        <m:sub>
                          <m:r>
                            <m:t>α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L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L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sSub>
                            <m:e>
                              <m:r>
                                <m:rPr>
                                  <m:nor/>
                                  <m:sty m:val="p"/>
                                </m:rPr>
                                <m:t>VaR</m:t>
                              </m:r>
                            </m:e>
                            <m:sub>
                              <m:r>
                                <m:t>α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In Julia: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VaR_95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quantile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(losses,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CVaR_95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mean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(losses[losses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.&gt;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VaR_95])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VaR vs. CVaR Illustrated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Compute VaR and CVaR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tail_losses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damages[damages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VaR_95]  </a:t>
            </a:r>
            <a:r>
              <a:rPr>
                <a:solidFill>
                  <a:srgbClr val="5E5E5E"/>
                </a:solidFill>
                <a:latin typeface="Courier"/>
              </a:rPr>
              <a:t># Use &gt;= to ensure non-empty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(tail_losses)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"Probability 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"VaR shows threshold; CVaR shows tail average"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Main histogram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(ax, damages,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Add lines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vlines!</a:t>
            </a:r>
            <a:r>
              <a:rPr>
                <a:solidFill>
                  <a:srgbClr val="003B4F"/>
                </a:solidFill>
                <a:latin typeface="Courier"/>
              </a:rPr>
              <a:t>(ax, [VaR_95],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darkred,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linestyle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dash,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"VaR₉₅ =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vlines!</a:t>
            </a:r>
            <a:r>
              <a:rPr>
                <a:solidFill>
                  <a:srgbClr val="003B4F"/>
                </a:solidFill>
                <a:latin typeface="Courier"/>
              </a:rPr>
              <a:t>(ax, [CVaR_95],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purple,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"CVaR₉₅ =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ct, backgroundcolor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white)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7-output-1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CVaR &gt; VaR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VaR tells you the </a:t>
            </a:r>
            <a:r>
              <a:rPr b="1"/>
              <a:t>threshold</a:t>
            </a:r>
            <a:r>
              <a:rPr/>
              <a:t>; CVaR tells you what happens </a:t>
            </a:r>
            <a:r>
              <a:rPr b="1"/>
              <a:t>beyond</a:t>
            </a:r>
            <a:r>
              <a:rPr/>
              <a:t> it.</a:t>
            </a:r>
          </a:p>
          <a:p>
            <a:pPr lvl="0"/>
            <a:r>
              <a:rPr/>
              <a:t>VaR answers: “What loss do I exceed 5% of the time?”</a:t>
            </a:r>
          </a:p>
          <a:p>
            <a:pPr lvl="0"/>
            <a:r>
              <a:rPr/>
              <a:t>CVaR answers: “When things go bad, </a:t>
            </a:r>
            <a:r>
              <a:rPr i="1"/>
              <a:t>how bad</a:t>
            </a:r>
            <a:r>
              <a:rPr/>
              <a:t> do they get on average?”</a:t>
            </a:r>
          </a:p>
          <a:p>
            <a:pPr lvl="0"/>
            <a:r>
              <a:rPr/>
              <a:t>VaR says nothing about the </a:t>
            </a:r>
            <a:r>
              <a:rPr b="1"/>
              <a:t>severity</a:t>
            </a:r>
            <a:r>
              <a:rPr/>
              <a:t> of tail events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If your 95% VaR is $100k, that just means 5% of outcomes are worse. But are they $101k worse or $1M worse? </a:t>
            </a:r>
            <a:r>
              <a:rPr b="1"/>
              <a:t>CVaR answers this.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Worked Example: Same EAD, Different Tails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Two GEV distributions calibrated to produce similar EAD but different tails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A: Gumbel (light tail) with higher location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B: Fréchet (fat tail) with lower location to match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dist_A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Gumbel (light tail)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dist_B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Fréchet (fat tail)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house_elev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house_val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200.0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$1000s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damages_A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house_elev)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(dist_A, n)]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damages_B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house_elev)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(dist_B, n)]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Compute metrics (use &gt;= to ensure non-empty tail 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VaR95_A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(damages_A,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VaR95_B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(damages_B,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metrics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EAD_A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EAD_B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(damages_B),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VaR95_A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VaR95_A,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VaR95_B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VaR95_B,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CVaR95_A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(damages_A[damages_A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VaR95_A]),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CVaR95_B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(damages_B[damages_B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VaR95_B])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350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ax1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"GEV(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xi</a:t>
            </a:r>
            <a:r>
              <a:rPr>
                <a:solidFill>
                  <a:srgbClr val="20794D"/>
                </a:solidFill>
                <a:latin typeface="Courier"/>
              </a:rPr>
              <a:t> = 0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 </a:t>
            </a:r>
            <a:r>
              <a:rPr>
                <a:solidFill>
                  <a:srgbClr val="003B4F"/>
                </a:solidFill>
                <a:latin typeface="Courier"/>
              </a:rPr>
              <a:t>(light tail)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"GEV(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xi</a:t>
            </a:r>
            <a:r>
              <a:rPr>
                <a:solidFill>
                  <a:srgbClr val="20794D"/>
                </a:solidFill>
                <a:latin typeface="Courier"/>
              </a:rPr>
              <a:t> = 0.2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 </a:t>
            </a:r>
            <a:r>
              <a:rPr>
                <a:solidFill>
                  <a:srgbClr val="003B4F"/>
                </a:solidFill>
                <a:latin typeface="Courier"/>
              </a:rPr>
              <a:t>(fatter tail)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(ax1, damages_A,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(ax2, damages_B,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red,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xlims!</a:t>
            </a:r>
            <a:r>
              <a:rPr>
                <a:solidFill>
                  <a:srgbClr val="003B4F"/>
                </a:solidFill>
                <a:latin typeface="Courier"/>
              </a:rPr>
              <a:t>(ax1,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xlims!</a:t>
            </a:r>
            <a:r>
              <a:rPr>
                <a:solidFill>
                  <a:srgbClr val="003B4F"/>
                </a:solidFill>
                <a:latin typeface="Courier"/>
              </a:rPr>
              <a:t>(ax2,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linkyaxes!</a:t>
            </a:r>
            <a:r>
              <a:rPr>
                <a:solidFill>
                  <a:srgbClr val="003B4F"/>
                </a:solidFill>
                <a:latin typeface="Courier"/>
              </a:rPr>
              <a:t>(ax1, ax2)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8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282700"/>
            <a:ext cx="51054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EAD, Different Tail Risk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Distribution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Distribution B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$46.0k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$36.0k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95% VaR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$130.0k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$137.0k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95% CVaR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$158.0k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$174.0k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Monte Carlo for Risk Metrics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Monte Carlo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Sample</a:t>
            </a:r>
            <a:r>
              <a:rPr/>
              <a:t> hazard scenarios from distribution</a:t>
            </a:r>
          </a:p>
          <a:p>
            <a:pPr lvl="0" indent="-342900" marL="342900">
              <a:buAutoNum type="arabicPeriod"/>
            </a:pPr>
            <a:r>
              <a:rPr b="1"/>
              <a:t>Apply</a:t>
            </a:r>
            <a:r>
              <a:rPr/>
              <a:t> damage function to each scenario</a:t>
            </a:r>
          </a:p>
          <a:p>
            <a:pPr lvl="0" indent="-342900" marL="342900">
              <a:buAutoNum type="arabicPeriod"/>
            </a:pPr>
            <a:r>
              <a:rPr b="1"/>
              <a:t>Summarize</a:t>
            </a:r>
            <a:r>
              <a:rPr/>
              <a:t> the damage samples</a:t>
            </a:r>
          </a:p>
          <a:p>
            <a:pPr lvl="0" indent="0" marL="0">
              <a:buNone/>
            </a:pPr>
            <a:r>
              <a:rPr/>
              <a:t>Once you have samples, </a:t>
            </a:r>
            <a:r>
              <a:rPr b="1"/>
              <a:t>any</a:t>
            </a:r>
            <a:r>
              <a:rPr/>
              <a:t> metric is trivial: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EAD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(damages[damages </a:t>
            </a:r>
            <a:r>
              <a:rPr>
                <a:solidFill>
                  <a:srgbClr val="5E5E5E"/>
                </a:solidFill>
                <a:latin typeface="Courier"/>
              </a:rPr>
              <a:t>.&gt;</a:t>
            </a:r>
            <a:r>
              <a:rPr>
                <a:solidFill>
                  <a:srgbClr val="003B4F"/>
                </a:solidFill>
                <a:latin typeface="Courier"/>
              </a:rPr>
              <a:t> VaR_95])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Computing All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Complete Monte Carlo workflow (same setup as Lab 2)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100_000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1. Sample hazards (GEV for storm surge, same as Lab 2)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surge_dist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hazards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(surge_dist, n_samples)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2. Apply damage function (house at 4ft elevation, $300k value)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base_elevation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house_value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300_000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base_elevation)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house_value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hazards]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3. Compute metrics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EAD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VaR_99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(damages[damages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VaR_95])  </a:t>
            </a:r>
            <a:r>
              <a:rPr>
                <a:solidFill>
                  <a:srgbClr val="5E5E5E"/>
                </a:solidFill>
                <a:latin typeface="Courier"/>
              </a:rPr>
              <a:t># Use &gt;= to ensure non-empty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CVaR_99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(damages[damages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VaR_99])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"Risk Metrics (house value = \$300k, base elevation = 4ft)"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"━"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"Expected Annual Damage (EAD):   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(EAD,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VaR (20-year loss):         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"99% VaR (100-year loss):        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(VaR_99,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CVaR (avg loss in worst 5%):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"99% CVaR (avg loss in worst 1%):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(CVaR_99,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Risk Metrics (house value = $300k, base elevation = 4ft)
━━━━━━━━━━━━━━━━━━━━━━━━━━━━━━━━━━━━━━━━━━━━━━━━━━
Expected Annual Damage (EAD):     $67216.0
95% VaR (20-year loss):           $223965.0
99% VaR (100-year loss):          $300000.0
95% CVaR (avg loss in worst 5%):  $264827.0
99% CVaR (avg loss in worst 1%):  $300000.0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Monte Carlo is Essential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fat-tailed distributions:</a:t>
            </a:r>
          </a:p>
          <a:p>
            <a:pPr lvl="0"/>
            <a:r>
              <a:rPr/>
              <a:t>Analytical formulas often don’t exist</a:t>
            </a:r>
          </a:p>
          <a:p>
            <a:pPr lvl="0"/>
            <a:r>
              <a:rPr/>
              <a:t>Numerical integration struggles with heavy tails</a:t>
            </a:r>
          </a:p>
          <a:p>
            <a:pPr lvl="0"/>
            <a:r>
              <a:rPr/>
              <a:t>Monte Carlo naturally captures rare events (with enough samples)</a:t>
            </a:r>
          </a:p>
          <a:p>
            <a:pPr lvl="0" indent="0" marL="0">
              <a:buNone/>
            </a:pPr>
            <a:r>
              <a:rPr b="1"/>
              <a:t>Key insight:</a:t>
            </a:r>
            <a:r>
              <a:rPr/>
              <a:t> Increase sample size when tails matter more.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Advanced Sampling (Preview)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Naive Monte Carlo requires many samples to capture rare events:</a:t>
            </a:r>
          </a:p>
          <a:p>
            <a:pPr lvl="0"/>
            <a:r>
              <a:rPr/>
              <a:t>To get 10 samples of a 1-in-1000 event, you need ~10,000 runs</a:t>
            </a:r>
          </a:p>
          <a:p>
            <a:pPr lvl="0" indent="0" marL="0">
              <a:buNone/>
            </a:pPr>
            <a:r>
              <a:rPr b="1"/>
              <a:t>Advanced techniques</a:t>
            </a:r>
            <a:r>
              <a:rPr/>
              <a:t> can do better:</a:t>
            </a:r>
          </a:p>
          <a:p>
            <a:pPr lvl="0"/>
            <a:r>
              <a:rPr b="1"/>
              <a:t>Importance sampling:</a:t>
            </a:r>
            <a:r>
              <a:rPr/>
              <a:t> Oversample the tail, then reweight</a:t>
            </a:r>
          </a:p>
          <a:p>
            <a:pPr lvl="0"/>
            <a:r>
              <a:rPr b="1"/>
              <a:t>Stratified sampling:</a:t>
            </a:r>
            <a:r>
              <a:rPr/>
              <a:t> Ensure coverage across the distribution</a:t>
            </a:r>
          </a:p>
          <a:p>
            <a:pPr lvl="0" indent="0" marL="0">
              <a:buNone/>
            </a:pPr>
            <a:r>
              <a:rPr/>
              <a:t>These are beyond our scope, but good to know they exist when you need them.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 Up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Return period</a:t>
                </a:r>
                <a:r>
                  <a:rPr/>
                  <a:t> and </a:t>
                </a:r>
                <a:r>
                  <a:rPr b="1"/>
                  <a:t>return level</a:t>
                </a:r>
                <a:r>
                  <a:rPr/>
                  <a:t> are inverse operations on the CDF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Fat tails</a:t>
                </a:r>
                <a:r>
                  <a:rPr/>
                  <a:t> mean extremes dominate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We can measure fat tails using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 or </a:t>
                </a:r>
                <a14:m>
                  <m:oMath xmlns:m="http://schemas.openxmlformats.org/officeDocument/2006/math">
                    <m:r>
                      <m:t>ξ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EAD</a:t>
                </a:r>
                <a:r>
                  <a:rPr/>
                  <a:t> averages over everything; </a:t>
                </a:r>
                <a:r>
                  <a:rPr b="1"/>
                  <a:t>VaR</a:t>
                </a:r>
                <a:r>
                  <a:rPr/>
                  <a:t> gives a threshold; </a:t>
                </a:r>
                <a:r>
                  <a:rPr b="1"/>
                  <a:t>CVaR</a:t>
                </a:r>
                <a:r>
                  <a:rPr/>
                  <a:t> captures the tail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Monte Carlo</a:t>
                </a:r>
                <a:r>
                  <a:rPr/>
                  <a:t> lets us compute metrics from samples</a:t>
                </a:r>
              </a:p>
            </p:txBody>
          </p:sp>
        </mc:Choice>
      </mc:AlternateContent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Doss-Gollin, James, David J Farnham, Upmanu Lall, and Vijay Modi. 2021. “How Unprecedented Was the February 2021 Texas Cold Snap?” </a:t>
            </a:r>
            <a:r>
              <a:rPr i="1"/>
              <a:t>Environmental Research Letters</a:t>
            </a:r>
            <a:r>
              <a:rPr/>
              <a:t> 16 (6): 064056. </a:t>
            </a:r>
            <a:r>
              <a:rPr>
                <a:hlinkClick r:id="rId2"/>
              </a:rPr>
              <a:t>https://doi.org/10.1088/1748-9326/ac0278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Jones, Dave. 2025. “The Uninsurable Future: The Climate Threat to Property Insurance, and How to Stop It.” </a:t>
            </a:r>
            <a:r>
              <a:rPr i="1"/>
              <a:t>Yale Law Journal</a:t>
            </a:r>
            <a:r>
              <a:rPr/>
              <a:t> 135 (December). </a:t>
            </a:r>
            <a:r>
              <a:rPr>
                <a:hlinkClick r:id="rId3"/>
              </a:rPr>
              <a:t>https://yalelawjournal.org/essay/the-uninsurable-future-the-climate-threat-to-property-insurance-and-how-to-stop-it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Probabilistic Risk and Tail Risks</dc:title>
  <dc:creator>Dr. James Doss-Gollin</dc:creator>
  <cp:keywords/>
  <dcterms:created xsi:type="dcterms:W3CDTF">2026-03-06T08:00:14Z</dcterms:created>
  <dcterms:modified xsi:type="dcterms:W3CDTF">2026-03-06T08:00:14Z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>../../references.bib</vt:lpwstr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2026-02-02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4</vt:lpwstr>
  </property>
</Properties>
</file>
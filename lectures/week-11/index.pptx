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Flag the error in Garner/Keller clearly so students know before discussion.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97500" y="1625600"/>
            <a:ext cx="2527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The flexible design shifts the entire VaR curve rightward: less downside, more upside. Source: de Neufville et al.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classify decision support frameworks for water resources planning under climate change into two families.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76300"/>
            <a:ext cx="51054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We have already covered robust planning (Weeks 7–8). Today focuses on dynamic planning — the highlighted column.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96900"/>
            <a:ext cx="5105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Figure 3: 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this is what makes the problem sequential.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</a:t>
                </a:r>
              </a:p>
              <a:p>
                <a:pPr lvl="0" indent="0" marL="0">
                  <a:buNone/>
                </a:pPr>
                <a:r>
                  <a:rPr/>
                  <a:t>Different solution methods disagree on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— that’s the rest of this lecture.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Equivalent to extended static BCA: optimize once, execute forever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To meet reliability constraints under all futures, must </a:t>
                </a:r>
                <a:r>
                  <a:rPr b="1"/>
                  <a:t>over-build</a:t>
                </a:r>
                <a:r>
                  <a:rPr/>
                  <a:t> for the worst case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scenario framework you’ve been using all semester</a:t>
                </a:r>
                <a:r>
                  <a:rPr/>
                  <a:t> — simulate forward, aggregate performance.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40300" y="203200"/>
            <a:ext cx="2362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Dike height trajectories under DPS (colored) vs. intertemporal (solid black), for three scenarios. Source: Garner and Keller (2018)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Indicator Variables: What Do You Observe?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 Five possible outcomes (Herman et al. (2020), Fig. 6):</a:t>
            </a:r>
          </a:p>
        </p:txBody>
      </p:sp>
      <p:pic>
        <p:nvPicPr>
          <p:cNvPr descr="herman_fig6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419100"/>
            <a:ext cx="51054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NA = no action; V = validation; O = optimization; P = perfect foresight.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Garner and Keller (2018) and de Neufville et al. (2006).</a:t>
                </a:r>
              </a:p>
              <a:p>
                <a:pPr lvl="0" indent="0" marL="0">
                  <a:buNone/>
                </a:pPr>
                <a:r>
                  <a:rPr/>
                  <a:t>Note: there is a known unit error in Garner and Keller (2018) — storm surge is off by a factor of 10, over-weighting SLR. Methods and qualitative findings remain valid.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2026-03-25T21:26:43Z</dcterms:created>
  <dcterms:modified xsi:type="dcterms:W3CDTF">2026-03-25T21:26:43Z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
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All three embedded flexibility deliberately — at a cost — before the future was known. The Tagus bridge story is especially nice: the engineers in 1966 couldn’t know if rail would ever be built, but they kept the option alive. The satellite example shows this isn’t just civil infrastructure — staged deployment is a general principle. Ask students: “What’s the cost of building in this flexibility?” — It’s paid upfront, regardless of whether the option is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The asymmetry point is key: you only exercise when good, so bad outcomes don’t cost you the extra investment. This will connect naturally to the formal framework — a real option IS a policy with a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Walk through the table. The flexible design actually costs LESS upfront (build 4 floors, not 6) AND has higher ENPV. The columns cost extra, but you avoid the cost of over-building. The VaR figure makes the asymmetry vivid: the rigid design has a long left tail; the flexible design truncates it. Don’t over-explain — they’ll go deep on Wednesday. Just establish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1:13. Make the transition crisp. This is the pivot from Module 2 to today. “Rule” is the key word — we’re not picking an action, we’re picking a mapping from observations to 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Robust planning (Weeks 7–9): find alternatives that hold up across scenarios. Bottom-up, scenario-based. Students know this well. Dynamic planning (today): design policies that </a:t>
            </a:r>
            <a:r>
              <a:rPr i="1"/>
              <a:t>respond</a:t>
            </a:r>
            <a:r>
              <a:rPr/>
              <a:t> to new observations over time. Higher dependence on uncertainty characterization because you’re optimizing a sequence of decisions through time, not just a single action. A dynamic plan can also be robust; static robust plans tend toward overdesign because they can’t exploit information as it arrives. Point to the figure: dynamic planning is highlighted. Note that both can co-exist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Walk students through the diagram carefully — this is the conceptual map for the lecture. Left box: the policy. Two flavors shown — SDP (value function Q, discretized states) and policy search (ANN or tree mapping I_t to a_t). We’ll discuss both. Top: the chain of forcing uncertainty — GHG emissions → GCM → regional climate → hydrology. This is the “cascade of uncertainty” from Herman. Center: the human-environmental system with its state transition f_t. This is where dike heights, reservoir levels, and infrastructure capacity live. Right: performance metrics J — cost, damages, reliability. The non-climate forcing arrow (economic, regulatory) is a nice reminder that human systems are also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Walk through the table one row at a time. “The dike height is a state — it’s a number we observe before we decide. The forcing is stochastic — we don’t know next year’s storm surge, but we do know the dike height right now.” The state transition equation: given where we are, what we do, and what happens, where do we end up?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Dwell on the distinction: optimizing a rule vs. optimizing actions. In the static case, we pick numbers (dike height = 3.5m). In the sequential case, we pick a function (“raise the dike when the observed water level exceeds the buffer by X cm”). The expectation is over all the uncertainty in forcing — this connects to scenarios they’ve been using all semester. The subscript on the expectation, E_e, is important: we’re averaging over possible forcing trajectories. Each trajectory is a scenario. The last line sets up the three solution methods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This taxonomy is directly from the paper. It’s useful because different uncertainty types call for different responses. Key insight: thermodynamic changes (SLR, snowpack loss) are more detectable and plannable around than dynamic changes (precipitation trends). That affects what indicator variables are useful. The last line is critical — foreshadows the validation discussion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This is what the Garner/Keller “intertemporal” formulation does — 300 annual heightenings decided at the start. Students can intuit the problem: if you set a schedule in 2025 assuming median SLR, you’ll under-build in the high-SLR future and over-build in the low-SLR future. The policy can’t adapt.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The Bellman equation: “Today’s optimal action depends on the expected value of being in each possible future state, weighted by how likely each future state is.” Emphasize the key constraint: SDP requires you to specify a probability distribution for the forcing, AND to discretize the state space. If your uncertainty is deep — if you can’t write down a credible probability model — SDP struggles. Curse of dimensionality: doubling the number of state variables squares the state space. Practical limit is about 3-4 continuous state variables.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This is the key insight to land hard. In SDP, you encode uncertainty into a probability model inside the equation. In DPS, you draw scenarios and simulate. Students have been drawing scenarios and simulating since Week 4. Function classes for π: simple threshold rules, radial basis functions, neural networks. The choice is a modeling decision. DPS scales much better than SDP: 10 parameters instead of a full value function over a discretized state space. Optimizer: often an evolutionary algorithm (can handle non-smooth, high-dimensional θ search).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The figure makes the idea vivid without requiring students to have read the paper. Key observation: the intertemporal policy is a single rigid staircase — same for every scenario. The DPS policy adapts: under the high-SLR scenario (red) it builds aggressively; under the low-SLR scenario (green) it barely builds at all. Result: DPS achieves lower cost AND lower damages — it dominates the intertemporal approach. Save the detailed mechanics (what exactly the state variables are, the Pareto comparison) for Wednesday’s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false positive / false negative framing connects to frequentist hypothesis testing students know from statistics. The thermodynamic vs. dynamic distinction from Herman: sea level is a cleaner signal than precipitation. This affects what you should be watching. We’ll revisit indicator selection more carefully next week with case studies.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This is the payoff of the opening. The connection should feel satisfying — we’ve been building toward this since slide 1. “Building in the real option” = choosing a state transition function </a:t>
            </a:r>
            <a:r>
              <a:rPr/>
              <a:t>f</a:t>
            </a:r>
            <a:r>
              <a:rPr/>
              <a:t> that makes certain future actions possible. You can only build the extra floors if the columns were reinforced.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The distinction matters practically: a policy evaluated robustly may still have been designed against a narrow set of scenarios. If the future is outside that envelope, the policy may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Five possible outcomes for a policy tested out-of-sample: 1. Meets requirement — good 2. Overfit — performs well in training, not in validation; need more/different scenarios 3. Action-constrained — even perfect foresight can’t meet target; need different actions 4. Information-constrained — perfect foresight works but your policy doesn’t; need better indicator variables 5. No adaptation needed — target met without doing anything; maybe you already have enough robustness The distinction between cases 3 and 4 is especially useful: it tells you whether you need to change WHAT you can do vs. WHAT you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Flag the error in Garner/Keller clearly so students know before discussion. The summary list should feel like a coherent arc, not a bag of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slide — no notes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hyperlink" Target="https://doi.org/10.1016/j.envsoft.2018.05.006" TargetMode="External" /><Relationship Id="rId4" Type="http://schemas.openxmlformats.org/officeDocument/2006/relationships/hyperlink" Target="https://doi.org/10.1029/2019wr025502" TargetMode="External" /><Relationship Id="rId5" Type="http://schemas.openxmlformats.org/officeDocument/2006/relationships/hyperlink" Target="https://doi.org/10.1061/(asce)1076-0342(2006)12:2(107)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Infrastructure Puzzles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Tagus River bridge</a:t>
            </a:r>
            <a:r>
              <a:rPr/>
              <a:t> (Lisbon, 1966) was built for road traffic. Rail was added in 1999 — because the original design reserved the option.</a:t>
            </a:r>
          </a:p>
          <a:p>
            <a:pPr lvl="0"/>
            <a:r>
              <a:rPr/>
              <a:t>A </a:t>
            </a:r>
            <a:r>
              <a:rPr b="1"/>
              <a:t>satellite constellation</a:t>
            </a:r>
            <a:r>
              <a:rPr/>
              <a:t> (de Weck et al., 2004): staging deployment in phases rather than launching all satellites at once improved expected value by ~30%.</a:t>
            </a:r>
          </a:p>
          <a:p>
            <a:pPr lvl="0"/>
            <a:r>
              <a:rPr/>
              <a:t>A </a:t>
            </a:r>
            <a:r>
              <a:rPr b="1"/>
              <a:t>parking garage</a:t>
            </a:r>
            <a:r>
              <a:rPr/>
              <a:t> in England reinforced its columns during construction. Extra floors were added later when demand grew.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What do these have in common?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Options: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real option</a:t>
            </a:r>
            <a:r>
              <a:rPr/>
              <a:t> is the right — but not the obligation — to take an action in the future.</a:t>
            </a:r>
          </a:p>
          <a:p>
            <a:pPr lvl="0"/>
            <a:r>
              <a:rPr b="1"/>
              <a:t>Option premium</a:t>
            </a:r>
            <a:r>
              <a:rPr/>
              <a:t>: upfront cost to preserve flexibility </a:t>
            </a:r>
            <a:r>
              <a:rPr i="1"/>
              <a:t>Reinforcing the columns; over-engineering the bridge</a:t>
            </a:r>
          </a:p>
          <a:p>
            <a:pPr lvl="0"/>
            <a:r>
              <a:rPr b="1"/>
              <a:t>Option value</a:t>
            </a:r>
            <a:r>
              <a:rPr/>
              <a:t>: expected gain from having the option </a:t>
            </a:r>
            <a:r>
              <a:rPr i="1"/>
              <a:t>Higher expected NPV (ENPV), lower downside risk</a:t>
            </a:r>
          </a:p>
          <a:p>
            <a:pPr lvl="0"/>
            <a:r>
              <a:rPr/>
              <a:t>You exercise the option </a:t>
            </a:r>
            <a:r>
              <a:rPr b="1"/>
              <a:t>only when conditions favor it</a:t>
            </a:r>
            <a:r>
              <a:rPr/>
              <a:t> — asymmetric upside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 b="1"/>
              <a:t>Options are valuable precisely because the future is uncertain.</a:t>
            </a:r>
            <a:r>
              <a:rPr/>
              <a:t> If you knew the future, you’d either always build the extra floors or never.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Parking Garage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 Neufville, Scholtes, and Wang (2006) — paper you’ll discuss Wednesday.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Design choice:</a:t>
            </a:r>
            <a:r>
              <a:rPr/>
              <a:t> 4 floors with strong columns (option to expand) vs. 6 floors rigid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No flexibility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Flexible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cost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$22.7M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$14.5M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Expected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$2.87M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$5.12M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−$24.7M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−$12.6M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Maximum NPV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$13.8M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$14.8M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Option value ≈ </a:t>
            </a:r>
            <a:r>
              <a:rPr b="1"/>
              <a:t>$2.25M</a:t>
            </a:r>
            <a:r>
              <a:rPr/>
              <a:t> — the flexible design wins on ENPV, minimum NPV, and initial cost.</a:t>
            </a:r>
          </a:p>
        </p:txBody>
      </p:sp>
      <p:pic>
        <p:nvPicPr>
          <p:cNvPr descr="deneufville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97500" y="1625600"/>
            <a:ext cx="2527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The flexible design shifts the entire VaR curve rightward: less downside, more upside. Source: de Neufville, Scholtes, and Wang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Static to Sequential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So far in this course: choose one action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</m:oMath>
                </a14:m>
                <a:r>
                  <a:rPr/>
                  <a:t> today,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A</m:t>
                          </m:r>
                        </m:lim>
                      </m:limLow>
                      <m:r>
                        <m:t> 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Cost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ignores two things we know to be true: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We learn over time</a:t>
                </a:r>
                <a:r>
                  <a:rPr/>
                  <a:t> — SLR observations will sharpen; storm records will grow.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Actions have lifetimes</a:t>
                </a:r>
                <a:r>
                  <a:rPr/>
                  <a:t> — a dike built to 3.5m today constrains what you can do in 2040.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Sequential decision making asks: </a:t>
                </a:r>
                <a:r>
                  <a:rPr b="1"/>
                  <a:t>what rule should govern each future choice</a:t>
                </a:r>
                <a:r>
                  <a:rPr/>
                  <a:t>, given what you observe at the time you choose?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Paradigms for Planning Under Uncertainty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classify decision support frameworks for water resources planning under climate change into two families.</a:t>
            </a:r>
          </a:p>
        </p:txBody>
      </p:sp>
      <p:pic>
        <p:nvPicPr>
          <p:cNvPr descr="herm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76300"/>
            <a:ext cx="5105400" cy="252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We have already covered robust planning (Weeks 7–8). Today focuses on dynamic planning — the highlighted column.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Control Problem: Components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planning has four components: policy structure, uncertainty characterization, solution method, and validation.</a:t>
            </a:r>
          </a:p>
        </p:txBody>
      </p:sp>
      <p:pic>
        <p:nvPicPr>
          <p:cNvPr descr="herman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96900"/>
            <a:ext cx="51054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/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Figure 3: The control policy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(left box) observes the system and selects actions 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 Forcing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propagates through the climate-hydrology chain into the human-environmental system, producing performance metrics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. From Herman et al. (2020).</a:t>
                </a:r>
              </a:p>
            </p:txBody>
          </p:sp>
        </mc:Choice>
      </mc:AlternateContent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State, Action, Forcing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Formal setup: at each time step </a:t></a:r><a14:m><m:oMath xmlns:m="http://schemas.openxmlformats.org/officeDocument/2006/math"><m:r><m:t>t</m:t></m:r></m:oMath></a14:m><a:r><a:rPr /><a:t>,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a:tc><a:txBody><a:bodyPr /><a:lstStyle /><a:p><a:pPr lvl="0" indent="0" marL="0"><a:buNone /></a:pPr><a:r><a:rPr /><a:t>Example</a:t></a:r></a:p></a:txBody><a:tcPr /></a:tc></a:tr><a:tr h="0"><a:tc><a:txBody><a:bodyPr /><a:lstStyle /><a:p><a:pPr lvl="0" indent="0" marL="0"><a:buNone /></a:pPr><a14:m><m:oMath xmlns:m="http://schemas.openxmlformats.org/officeDocument/2006/math"><m:sSub><m:e><m:r><m:rPr><m:sty m:val="b" /></m:rPr><m:t>x</m:t></m:r></m:e><m:sub><m:r><m:t>t</m:t></m:r></m:sub></m:sSub></m:oMath></a14:m></a:p></a:txBody></a:tc><a:tc><a:txBody><a:bodyPr /><a:lstStyle /><a:p><a:pPr lvl="0" indent="0" marL="0"><a:buNone /></a:pPr><a:r><a:rPr /><a:t>System state</a:t></a:r></a:p></a:txBody></a:tc><a:tc><a:txBody><a:bodyPr /><a:lstStyle /><a:p><a:pPr lvl="0" indent="0" marL="0"><a:buNone /></a:pPr><a:r><a:rPr /><a:t>Dike height, reservoir storage</a:t></a:r></a:p></a:txBody></a:tc></a:tr><a:tr h="0"><a:tc><a:txBody><a:bodyPr /><a:lstStyle /><a:p><a:pPr lvl="0" indent="0" marL="0"><a:buNone /></a:pPr><a14:m><m:oMath xmlns:m="http://schemas.openxmlformats.org/officeDocument/2006/math"><m:sSub><m:e><m:r><m:t>a</m:t></m:r></m:e><m:sub><m:r><m:t>t</m:t></m:r></m:sub></m:sSub><m:r><m:rPr><m:sty m:val="p" /></m:rPr><m:t>∈</m:t></m:r><m:r><m:rPr><m:sty m:val="p" /><m:scr m:val="script" /></m:rPr><m:t>A</m:t></m:r></m:oMath></a14:m></a:p></a:txBody></a:tc><a:tc><a:txBody><a:bodyPr /><a:lstStyle /><a:p><a:pPr lvl="0" indent="0" marL="0"><a:buNone /></a:pPr><a:r><a:rPr /><a:t>Action</a:t></a:r></a:p></a:txBody></a:tc><a:tc><a:txBody><a:bodyPr /><a:lstStyle /><a:p><a:pPr lvl="0" indent="0" marL="0"><a:buNone /></a:pPr><a:r><a:rPr /><a:t>Heighten by </a:t></a:r><a14:m><m:oMath xmlns:m="http://schemas.openxmlformats.org/officeDocument/2006/math"><m:sSub><m:e><m:r><m:t>u</m:t></m:r></m:e><m:sub><m:r><m:t>t</m:t></m:r></m:sub></m:sSub></m:oMath></a14:m><a:r><a:rPr /><a:t>; expand; do nothing</a:t></a:r></a:p></a:txBody></a:tc></a:tr><a:tr h="0"><a:tc><a:txBody><a:bodyPr /><a:lstStyle /><a:p><a:pPr lvl="0" indent="0" marL="0"><a:buNone /></a:pPr><a14:m><m:oMath xmlns:m="http://schemas.openxmlformats.org/officeDocument/2006/math"><m:sSub><m:e><m:r><m:rPr><m:sty m:val="b" /></m:rPr><m:t>e</m:t></m:r></m:e><m:sub><m:r><m:t>t</m:t></m:r></m:sub></m:sSub></m:oMath></a14:m></a:p></a:txBody></a:tc><a:tc><a:txBody><a:bodyPr /><a:lstStyle /><a:p><a:pPr lvl="0" indent="0" marL="0"><a:buNone /></a:pPr><a:r><a:rPr /><a:t>Stochastic forcing</a:t></a:r></a:p></a:txBody></a:tc><a:tc><a:txBody><a:bodyPr /><a:lstStyle /><a:p><a:pPr lvl="0" indent="0" marL="0"><a:buNone /></a:pPr><a:r><a:rPr /><a:t>SLR realization, storm surge, precipitation</a:t></a:r></a:p></a:txBody></a:tc></a:tr><a:tr h="0"><a:tc><a:txBody><a:bodyPr /><a:lstStyle /><a:p><a:pPr lvl="0" indent="0" marL="0"><a:buNone /></a:pPr><a14:m><m:oMath xmlns:m="http://schemas.openxmlformats.org/officeDocument/2006/math"><m:sSub><m:e><m:r><m:t>J</m:t></m:r></m:e><m:sub><m:r><m:t>t</m:t></m:r></m:sub></m:sSub></m:oMath></a14:m></a:p></a:txBody></a:tc><a:tc><a:txBody><a:bodyPr /><a:lstStyle /><a:p><a:pPr lvl="0" indent="0" marL="0"><a:buNone /></a:pPr><a:r><a:rPr /><a:t>Cost</a:t></a:r></a:p></a:txBody></a:tc><a:tc><a:txBody><a:bodyPr /><a:lstStyle /><a:p><a:pPr lvl="0" indent="0" marL="0"><a:buNone /></a:pPr><a:r><a:rPr /><a:t>Investment cost + expected damages</a:t></a:r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State transition: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are chosen </a:t>
                </a:r>
                <a:r>
                  <a:rPr i="1"/>
                  <a:t>after</a:t>
                </a:r>
                <a:r>
                  <a:rPr/>
                  <a:t> observing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this is what makes the problem sequential.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Policy and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agent applies a </a:t>
                </a:r>
                <a:r>
                  <a:rPr b="1"/>
                  <a:t>policy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to observable information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m:t>I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can include current states, trend estimates, projections — anything observable.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Objective:</a:t>
                </a:r>
                <a:r>
                  <a:rPr/>
                  <a:t> minimize expected total cost over a planning horizon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e</m:t>
                          </m:r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 </m:t>
                              </m:r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 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e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We are optimizing </a:t>
                </a:r>
                <a:r>
                  <a:rPr b="1"/>
                  <a:t>a rule</a:t>
                </a:r>
                <a:r>
                  <a:rPr/>
                  <a:t>, not a sequence of actions.</a:t>
                </a:r>
              </a:p>
              <a:p>
                <a:pPr lvl="0" indent="0" marL="0">
                  <a:buNone/>
                </a:pPr>
                <a:r>
                  <a:rPr/>
                  <a:t>Different solution methods disagree on </a:t>
                </a:r>
                <a:r>
                  <a:rPr i="1"/>
                  <a:t>how</a:t>
                </a:r>
                <a:r>
                  <a:rPr/>
                  <a:t> to find the best </a:t>
                </a:r>
                <a14:m>
                  <m:oMath xmlns:m="http://schemas.openxmlformats.org/officeDocument/2006/math">
                    <m:r>
                      <m:t>π</m:t>
                    </m:r>
                  </m:oMath>
                </a14:m>
                <a:r>
                  <a:rPr/>
                  <a:t> — that’s the rest of this lecture.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Is This Hard? Three Sources of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 et al. (2020) identify three distinct sources:</a:t>
            </a:r>
          </a:p>
          <a:p>
            <a:pPr lvl="0" indent="-342900" marL="342900">
              <a:buAutoNum type="arabicPeriod"/>
            </a:pPr>
            <a:r>
              <a:rPr b="1"/>
              <a:t>Sampling uncertainty</a:t>
            </a:r>
            <a:r>
              <a:rPr/>
              <a:t> — finite historical record; rare events underrepresented. </a:t>
            </a:r>
            <a:r>
              <a:rPr i="1"/>
              <a:t>30 years of storm surge data doesn’t capture the full tail.</a:t>
            </a:r>
          </a:p>
          <a:p>
            <a:pPr lvl="0" indent="-342900" marL="342900">
              <a:buAutoNum type="arabicPeriod"/>
            </a:pPr>
            <a:r>
              <a:rPr b="1"/>
              <a:t>Exogenous hydroclimate uncertainty</a:t>
            </a:r>
            <a:r>
              <a:rPr/>
              <a:t> — cascade from emissions → GCMs → downscaling → hydrology. </a:t>
            </a:r>
            <a:r>
              <a:rPr i="1"/>
              <a:t>Dynamic changes (precipitation, storm tracks) far more uncertain than thermodynamic (SLR, snowpack).</a:t>
            </a:r>
          </a:p>
          <a:p>
            <a:pPr lvl="0" indent="-342900" marL="342900">
              <a:buAutoNum type="arabicPeriod"/>
            </a:pPr>
            <a:r>
              <a:rPr b="1"/>
              <a:t>Endogenous human-environment uncertainty</a:t>
            </a:r>
            <a:r>
              <a:rPr/>
              <a:t> — water demand, land use, institutional capacity. </a:t>
            </a:r>
            <a:r>
              <a:rPr i="1"/>
              <a:t>Often exceeds climate uncertainty on decadal planning horizons.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policy optimized against a narrow set of scenarios may fail outside that envelope.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1: Open-Loop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simplest approach: decide the full action sequence now, commit.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{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 </m:t>
                      </m:r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Actions depend only on </a:t>
                </a:r>
                <a:r>
                  <a:rPr b="1"/>
                  <a:t>time</a:t>
                </a:r>
                <a:r>
                  <a:rPr/>
                  <a:t>, not on observations.</a:t>
                </a:r>
              </a:p>
              <a:p>
                <a:pPr lvl="0"/>
                <a:r>
                  <a:rPr/>
                  <a:t>Equivalent to extended static BCA: optimize once, execute forever</a:t>
                </a:r>
              </a:p>
              <a:p>
                <a:pPr lvl="0"/>
                <a:r>
                  <a:rPr/>
                  <a:t>No feedback — same dike-heightening schedule regardless of whether SLR is fast or slow</a:t>
                </a:r>
              </a:p>
              <a:p>
                <a:pPr lvl="0"/>
                <a:r>
                  <a:rPr/>
                  <a:t>To meet reliability constraints under all futures, must </a:t>
                </a:r>
                <a:r>
                  <a:rPr b="1"/>
                  <a:t>over-build</a:t>
                </a:r>
                <a:r>
                  <a:rPr/>
                  <a:t> for the worst case</a:t>
                </a:r>
              </a:p>
              <a:p>
                <a:pPr lvl="0"/>
                <a:r>
                  <a:rPr/>
                  <a:t>Computationally simple; 300-year problem = 300 decision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2: Stochastic Dynamic Programming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Closed-loop: work backward from the terminal state using </a:t>
                </a:r>
                <a:r>
                  <a:rPr b="1"/>
                  <a:t>Bellman’s equation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sSub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  <m:r>
                        <m:t>​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 </m:t>
                          </m:r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 </m:t>
                              </m:r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 </m:t>
                              </m:r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e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t> 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 </m:t>
                          </m:r>
                          <m:r>
                            <m:t>γ</m:t>
                          </m:r>
                          <m:r>
                            <m:t> </m:t>
                          </m:r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m:t> 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d>
                  </m:oMath>
                </a14:m>
                <a:r>
                  <a:rPr/>
                  <a:t>: optimal cost-to-go from state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 at time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:r>
                  <a:rPr/>
                  <a:t>Recursive: solve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, …, then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The expectation requires a </a:t>
                </a:r>
                <a:r>
                  <a:rPr b="1"/>
                  <a:t>probability model for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e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you must encode all uncertainty into the transition distribution</a:t>
                </a:r>
              </a:p>
              <a:p>
                <a:pPr lvl="0"/>
                <a:r>
                  <a:rPr b="1"/>
                  <a:t>Curse of dimensionality</a:t>
                </a:r>
                <a:r>
                  <a:rPr/>
                  <a:t>: computational cost explodes with the number of state variables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Solution Method 3: Direct Policy Search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solving for the value function, </a:t>
                </a:r>
                <a:r>
                  <a:rPr b="1"/>
                  <a:t>parameterize the policy directly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π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m:t>I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θ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can parameterize a threshold rule, a radial basis function, a neural network — any differentiable or simulable function.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Optimize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by </a:t>
                </a:r>
                <a:r>
                  <a:rPr b="1"/>
                  <a:t>evaluating the policy over an ensemble of scenarios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θ</m:t>
                          </m:r>
                        </m:lim>
                      </m:limLow>
                      <m:r>
                        <m:t> 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0</m:t>
                              </m:r>
                            </m:sub>
                            <m:sup>
                              <m:r>
                                <m:t>H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p>
                            <m:e>
                              <m:sSubSup>
                                <m:e>
                                  <m:r>
                                    <m:t>J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  <m:sup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i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π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rPr>
                                      <m:sty m:val="b"/>
                                    </m:rPr>
                                    <m:t>I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 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sSubSup>
                            <m:e>
                              <m:r>
                                <m:rPr>
                                  <m:sty m:val="b"/>
                                </m:rPr>
                                <m:t>e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</m:sub>
                            <m: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i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indexes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scenario framework you’ve been using all semester</a:t>
                </a:r>
                <a:r>
                  <a:rPr/>
                  <a:t> — simulate forward, aggregate performance.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DPS in Action: The Levee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Intertemporal (open-loop): prescribe annual heightenings </a:t>
                </a:r>
                <a14:m>
                  <m:oMath xmlns:m="http://schemas.openxmlformats.org/officeDocument/2006/math">
                    <m:sSub>
                      <m:e>
                        <m:r>
                          <m:t>u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u</m:t>
                        </m:r>
                      </m:e>
                      <m:sub>
                        <m:r>
                          <m:t>300</m:t>
                        </m:r>
                      </m:sub>
                    </m:sSub>
                  </m:oMath>
                </a14:m>
                <a:r>
                  <a:rPr/>
                  <a:t> at the start. Same schedule for every future.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DPS (closed-loop): observe the </a:t>
                </a:r>
                <a:r>
                  <a:rPr b="1"/>
                  <a:t>rate of water rise</a:t>
                </a:r>
                <a:r>
                  <a:rPr/>
                  <a:t> and </a:t>
                </a:r>
                <a:r>
                  <a:rPr b="1"/>
                  <a:t>variability around the trend</a:t>
                </a:r>
                <a:r>
                  <a:rPr/>
                  <a:t>. Apply a rule: “heighten by enough to restore the buffer, plus freeboard.”</a:t>
                </a:r>
              </a:p>
            </p:txBody>
          </p:sp>
        </mc:Choice>
      </mc:AlternateContent>
      <p:pic>
        <p:nvPicPr>
          <p:cNvPr descr="garner_fig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40300" y="203200"/>
            <a:ext cx="2362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Dike height trajectories under DPS (colored) vs. intertemporal (solid black), for three scenarios. Source: Garner and Keller (2018)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Indicator Variables: What Do You Observe?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policy </a:t>
                </a:r>
                <a14:m>
                  <m:oMath xmlns:m="http://schemas.openxmlformats.org/officeDocument/2006/math">
                    <m:r>
                      <m:t>π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I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is only as useful as the information in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indicator</a:t>
                </a:r>
                <a:r>
                  <a:rPr/>
                  <a:t> = variable + timescale + aggregation window + transform </a:t>
                </a:r>
                <a:r>
                  <a:rPr i="1"/>
                  <a:t>“30-year moving average of annual inflow”</a:t>
                </a:r>
                <a:r>
                  <a:rPr/>
                  <a:t> </a:t>
                </a:r>
                <a:r>
                  <a:rPr i="1"/>
                  <a:t>“Rate of water rise over the prior 30 simulation years”</a:t>
                </a:r>
              </a:p>
              <a:p>
                <a:pPr lvl="0"/>
                <a:r>
                  <a:rPr b="1"/>
                  <a:t>False positive</a:t>
                </a:r>
                <a:r>
                  <a:rPr/>
                  <a:t>: adapt when you didn’t need to — wasted investment</a:t>
                </a:r>
              </a:p>
              <a:p>
                <a:pPr lvl="0"/>
                <a:r>
                  <a:rPr b="1"/>
                  <a:t>False negative</a:t>
                </a:r>
                <a:r>
                  <a:rPr/>
                  <a:t>: fail to adapt when you should — damages or failure</a:t>
                </a:r>
              </a:p>
              <a:p>
                <a:pPr lvl="0"/>
                <a:r>
                  <a:rPr/>
                  <a:t>Short observation window → more false positives</a:t>
                </a:r>
              </a:p>
              <a:p>
                <a:pPr lvl="0"/>
                <a:r>
                  <a:rPr/>
                  <a:t>Long observation window → more false negatives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Thermodynamic signals (SLR, snowpack) detectable sooner. Dynamic signals (precipitation trends) may take 50+ years to emerge.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Options Revisited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that we have the vocabulary: a real option is simply a </a:t>
                </a:r>
                <a:r>
                  <a:rPr b="1"/>
                  <a:t>policy with a rule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parking garage policy: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a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add a floor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occupancy</m:t>
                                </m:r>
                                <m:r>
                                  <m:rPr>
                                    <m:sty m:val="p"/>
                                  </m:rPr>
                                  <m:t>&gt;</m:t>
                                </m:r>
                                <m:r>
                                  <m:t>τ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for two consecutive years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do nothing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</a:t>
                </a:r>
                <a14:m>
                  <m:oMath xmlns:m="http://schemas.openxmlformats.org/officeDocument/2006/math">
                    <m:r>
                      <m:t>π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I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=</m:t>
                    </m:r>
                    <m:r>
                      <m:t>τ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I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occupancy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De Neufville found it by intuition and simulation. DPS finds it by optimization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across many scenarios.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The option premium</a:t>
                </a:r>
                <a:r>
                  <a:rPr/>
                  <a:t> = cost of reinforcing the columns = cost to make this policy feasible.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Evaluating vs. Designing Policies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These are different tasks and are easy to confuse.</a:t>
                </a:r>
              </a:p>
              <a:p>
                <a:pPr lvl="0" indent="0" marL="0">
                  <a:buNone/>
                </a:pPr>
                <a:r>
                  <a:rPr b="1"/>
                  <a:t>Evaluating</a:t>
                </a:r>
                <a:r>
                  <a:rPr/>
                  <a:t> a policy: given fixed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, simulate over scenarios and compute costs. This is what robustness analysis in Weeks 7–8 did.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Designing</a:t>
                </a:r>
                <a:r>
                  <a:rPr/>
                  <a:t> a policy: search over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to minimize expected costs across the ensemble. This is what DPS does.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quality of a designed policy depends on the quality of the uncertainty characterization used during optimization.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Validation: How Good Is Your Policy?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the optimized policy against scenarios </a:t>
            </a:r>
            <a:r>
              <a:rPr i="1"/>
              <a:t>not used in optimization</a:t>
            </a:r>
            <a:r>
              <a:rPr/>
              <a:t>. Five possible outcomes (Herman et al. (2020), Fig. 6):</a:t>
            </a:r>
          </a:p>
        </p:txBody>
      </p:sp>
      <p:pic>
        <p:nvPicPr>
          <p:cNvPr descr="herman_fig6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419100"/>
            <a:ext cx="51054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NA = no action; V = validation; O = optimization; P = perfect foresight.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Real options</a:t>
                </a:r>
                <a:r>
                  <a:rPr/>
                  <a:t>: build in the right to act later; option value = ENPV gain from flexibility</a:t>
                </a:r>
              </a:p>
              <a:p>
                <a:pPr lvl="0"/>
                <a:r>
                  <a:rPr b="1"/>
                  <a:t>Sequential decisions</a:t>
                </a:r>
                <a:r>
                  <a:rPr/>
                  <a:t>: optimize a policy </a:t>
                </a:r>
                <a14:m>
                  <m:oMath xmlns:m="http://schemas.openxmlformats.org/officeDocument/2006/math">
                    <m:r>
                      <m:t>π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I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— a rule mapping observations to actions</a:t>
                </a:r>
              </a:p>
              <a:p>
                <a:pPr lvl="0"/>
                <a:r>
                  <a:rPr b="1"/>
                  <a:t>Open loop</a:t>
                </a:r>
                <a:r>
                  <a:rPr/>
                  <a:t>: no feedback; must over-build to cover worst case</a:t>
                </a:r>
              </a:p>
              <a:p>
                <a:pPr lvl="0"/>
                <a:r>
                  <a:rPr b="1"/>
                  <a:t>SDP</a:t>
                </a:r>
                <a:r>
                  <a:rPr/>
                  <a:t>: closed loop, exact, requires probability model + discretized state space</a:t>
                </a:r>
              </a:p>
              <a:p>
                <a:pPr lvl="0"/>
                <a:r>
                  <a:rPr b="1"/>
                  <a:t>DPS</a:t>
                </a:r>
                <a:r>
                  <a:rPr/>
                  <a:t>: closed loop, scalable, evaluates policy over scenarios — the framework we’ve been using</a:t>
                </a:r>
              </a:p>
              <a:p>
                <a:pPr lvl="0"/>
                <a:r>
                  <a:rPr b="1"/>
                  <a:t>Validation</a:t>
                </a:r>
                <a:r>
                  <a:rPr/>
                  <a:t>: evaluating ≠ designing; test out-of-sample or risk overfit to your training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 b="1"/>
                  <a:t>Wednesday:</a:t>
                </a:r>
                <a:r>
                  <a:rPr/>
                  <a:t> Fuad leads discussion of Garner and Keller (2018) and de Neufville, Scholtes, and Wang (2006).</a:t>
                </a:r>
              </a:p>
              <a:p>
                <a:pPr lvl="0" indent="0" marL="0">
                  <a:buNone/>
                </a:pPr>
                <a:r>
                  <a:rPr/>
                  <a:t>Note: there is a known unit error in Garner and Keller (2018) — storm surge is off by a factor of 10, over-weighting SLR. Methods and qualitative findings remain valid.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Garner, Gregory G., and Klaus Keller. 2018. “Using Direct Policy Search to Identify Robust Strategies in Adapting to Uncertain Sea-Level Rise and Storm Surge.” </a:t>
            </a:r>
            <a:r>
              <a:rPr i="1"/>
              <a:t>Environmental Modelling &amp; Software</a:t>
            </a:r>
            <a:r>
              <a:rPr/>
              <a:t> 107 (September): 96–104. </a:t>
            </a:r>
            <a:r>
              <a:rPr>
                <a:hlinkClick r:id="rId3"/>
              </a:rPr>
              <a:t>https://doi.org/10.1016/j.envsoft.2018.05.006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4"/>
              </a:rPr>
              <a:t>https://doi.org/10.1029/2019wr025502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Neufville, Richard de, Stefan Scholtes, and Tao Wang. 2006. “Real Options by Spreadsheet: Parking Garage Case Example.” </a:t>
            </a:r>
            <a:r>
              <a:rPr i="1"/>
              <a:t>Journal of Infrastructure Systems</a:t>
            </a:r>
            <a:r>
              <a:rPr/>
              <a:t> 12 (2): 107–11. </a:t>
            </a:r>
            <a:r>
              <a:rPr>
                <a:hlinkClick r:id="rId5"/>
              </a:rPr>
              <a:t>https://doi.org/10.1061/(asce)1076-0342(2006)12:2(107)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James Doss-Gollin</dc:creator>
  <cp:keywords/>
  <dcterms:created xsi:type="dcterms:W3CDTF">2026-03-22T19:08:06Z</dcterms:created>
  <dcterms:modified xsi:type="dcterms:W3CDTF">2026-03-22T19:08:06Z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
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notesMaster" Target="notesMasters/notesMaster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the hook — get students thinking about a concrete decision before introducing formalism.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1:02. Pause for a few hands. Cold call 1-2 students for their gut reaction. Key point: students will have intuitions, but we need a systematic framework.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1:05. This list motivates each piece of the BCA framework we’ll develop.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Emphasize that “utility” is just a general term — could be called objective function, loss function, etc. The key idea is a function that takes a decision and an uncertain state and returns a number.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1:10. The freedom to choose metrics is powerful but also means BCA is never “objective.” Every choice of what to measure is a choice about what matters.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1:12. Transition to the harder question: what about things that are hard to monetize?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1:14. Opportunity cost is the economist’s main tool for monetizing non-market goods. It’s useful but imperfect — the “but are they really substitutes?” question is genuine and unresolved.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1:16. Key example: $1,000 means a lot more to someone earning $30K/year than to someone earning $300K/year. This matters because BCA typically ignores </a:t>
            </a:r>
            <a:r>
              <a:rPr i="1"/>
              <a:t>who</a:t>
            </a:r>
            <a:r>
              <a:rPr/>
              <a:t> bears the costs and benefits.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1:18. Don’t try to resolve this — just make sure students see that “total benefits &gt; total costs” is not the whole story. We’ll return to values and trade-offs in Week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1:21. Rhetorical question — transition to discounting.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1:23. Write the formula on the board if possible. Emphasize that this is a </a:t>
            </a:r>
            <a:r>
              <a:rPr i="1"/>
              <a:t>choice</a:t>
            </a:r>
            <a:r>
              <a:rPr/>
              <a:t> — the discount rate is not a law of nature.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1:25. Important to flag because students will encounter both conventions. Don’t spend too long here — just make sure they know to check.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1:27. The jump from 2% to 7% is dramatic — this foreshadows why the discount rate debate matters so much. Ask: “Which discount rate should we use for climate policy?”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1:29. This is how most BCA is actually done, especially outside of academic settings. Set up the critique.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1:31. This connects to a core theme of the course: single-scenario analysis is brittle. Students will encounter this again in robustness and exploratory modeling.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1:33. Connect to Monte Carlo from Week 4: “You already know how to compute expectations with samples!” NPV already sums over time; the expectation integrates over uncertainty.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1:35. This makes the abstract formalism concrete. Students did exactly this in Lab 4. Emphasize: BCA + Monte Carlo = expected utility analysis.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1:36. Pause here. Now let’s apply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1:37. Walk through: EAD = probability </a:t>
            </a:r>
            <a:r>
              <a:rPr/>
              <a:t>\times</a:t>
            </a:r>
            <a:r>
              <a:rPr/>
              <a:t> damage. These are simplified numbers — real analysis would integrate over all flood depths. Ask students to compute the EAD values themselves before revealing.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1:40. Pause and ask the class. Possible answers: higher flood probability, longer time horizon, include insurance savings, include non-monetary benefits. The point is that BCA forces you to articulate </a:t>
            </a:r>
            <a:r>
              <a:rPr i="1"/>
              <a:t>why</a:t>
            </a:r>
            <a:r>
              <a:rPr/>
              <a:t> you think a project is worthwhile.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1:43. This is the key pedagogical moment. BCA is not giving us “the answer” — it’s showing us which assumptions drive the answer. This is why sensitivity analysis matters (Week 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The 2023 update was a significant shift — reflects decades of academic argument (including Arrow et al.) finally reaching policy. A shift from 7% to 2% can flip a project from “fails” to “passes,” as we just saw in our worked example.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1:46. Preview for Wednesday’s reading (Arrow et al.).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1:48. This is why the A-94 update mattered so much. A shift from 7% to 2% can flip a project from “fails” to “passes.”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This is the most important conceptual point of the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1:53. Remind students of the reading assignment and discussion questions posted on the course website.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s://doi.org/10.1126/science.1235665" TargetMode="External" /><Relationship Id="rId4" Type="http://schemas.openxmlformats.org/officeDocument/2006/relationships/hyperlink" Target="https://www.whitehouse.gov/wp-content/uploads/2023/11/CircularA-94.pdf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Valuation &amp; Benefit-Cost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Decision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Much Would You Pay?</a:t>
            </a:r>
          </a:p>
          <a:p>
            <a:pPr lvl="0" indent="0" marL="0">
              <a:buNone/>
            </a:pPr>
            <a:r>
              <a:rPr/>
              <a:t>Imagine you own a home in Houston’s Meyerland neighborhood.</a:t>
            </a:r>
          </a:p>
          <a:p>
            <a:pPr lvl="0"/>
            <a:r>
              <a:rPr/>
              <a:t>Your house flooded in 2015, 2016, </a:t>
            </a:r>
            <a:r>
              <a:rPr i="1"/>
              <a:t>and</a:t>
            </a:r>
            <a:r>
              <a:rPr/>
              <a:t> 2017</a:t>
            </a:r>
          </a:p>
          <a:p>
            <a:pPr lvl="0"/>
            <a:r>
              <a:rPr/>
              <a:t>A contractor offers to elevate your house by 5 feet for </a:t>
            </a:r>
            <a:r>
              <a:rPr b="1"/>
              <a:t>$80,000</a:t>
            </a:r>
          </a:p>
          <a:p>
            <a:pPr lvl="0"/>
            <a:r>
              <a:rPr/>
              <a:t>Should you do it?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Need to Know?</a:t>
            </a:r>
          </a:p>
          <a:p>
            <a:pPr lvl="0"/>
            <a:r>
              <a:rPr/>
              <a:t>What does elevation cost? (up-front + disruption)</a:t>
            </a:r>
          </a:p>
          <a:p>
            <a:pPr lvl="0"/>
            <a:r>
              <a:rPr/>
              <a:t>What are the benefits? (avoided flood damage, insurance savings, peace of mind)</a:t>
            </a:r>
          </a:p>
          <a:p>
            <a:pPr lvl="0"/>
            <a:r>
              <a:rPr/>
              <a:t>How likely is future flooding?</a:t>
            </a:r>
          </a:p>
          <a:p>
            <a:pPr lvl="0"/>
            <a:r>
              <a:rPr/>
              <a:t>How long do we plan to live there?</a:t>
            </a:r>
          </a:p>
          <a:p>
            <a:pPr lvl="0"/>
            <a:r>
              <a:rPr/>
              <a:t>How do we compare costs </a:t>
            </a:r>
            <a:r>
              <a:rPr i="1"/>
              <a:t>now</a:t>
            </a:r>
            <a:r>
              <a:rPr/>
              <a:t> vs. benefits </a:t>
            </a:r>
            <a:r>
              <a:rPr i="1"/>
              <a:t>later</a:t>
            </a:r>
            <a:r>
              <a:rPr/>
              <a:t>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Utility Theory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Utility Functions</a:t>
                </a:r>
              </a:p>
              <a:p>
                <a:pPr lvl="0" indent="0" marL="0">
                  <a:buNone/>
                </a:pPr>
                <a:r>
                  <a:rPr/>
                  <a:t>We need a way to score how “good” a decision is. Define a </a:t>
                </a:r>
                <a:r>
                  <a:rPr b="1"/>
                  <a:t>utility function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u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rPr>
                          <m:sty m:val="p"/>
                        </m:rPr>
                        <m:t>:</m:t>
                      </m:r>
                      <m:r>
                        <m:rPr>
                          <m:sty m:val="p"/>
                          <m:scr m:val="script"/>
                        </m:rPr>
                        <m:t>A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  <m:scr m:val="script"/>
                        </m:rPr>
                        <m:t>S</m:t>
                      </m:r>
                      <m:r>
                        <m:rPr>
                          <m:sty m:val="p"/>
                        </m:rPr>
                        <m:t>→</m:t>
                      </m:r>
                      <m:r>
                        <m:rPr>
                          <m:sty m:val="p"/>
                          <m:scr m:val="double-struck"/>
                        </m:rPr>
                        <m:t>R</m:t>
                      </m:r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A</m:t>
                    </m:r>
                  </m:oMath>
                </a14:m>
                <a:r>
                  <a:rPr/>
                  <a:t>: a decision (or </a:t>
                </a:r>
                <a:r>
                  <a:rPr b="1"/>
                  <a:t>a</a:t>
                </a:r>
                <a:r>
                  <a:rPr/>
                  <a:t>ction)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S</m:t>
                    </m:r>
                  </m:oMath>
                </a14:m>
                <a:r>
                  <a:rPr/>
                  <a:t>: the </a:t>
                </a:r>
                <a:r>
                  <a:rPr b="1"/>
                  <a:t>s</a:t>
                </a:r>
                <a:r>
                  <a:rPr/>
                  <a:t>tate of the world (everything uncertain)</a:t>
                </a:r>
              </a:p>
              <a:p>
                <a:pPr lvl="0"/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: maps (decision, state) to a real number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Choosing Your Metric</a:t>
                </a:r>
              </a:p>
              <a:p>
                <a:pPr lvl="0" indent="0" marL="0">
                  <a:buNone/>
                </a:pPr>
                <a:r>
                  <a:rPr/>
                  <a:t>You are </a:t>
                </a:r>
                <a:r>
                  <a:rPr b="1"/>
                  <a:t>free</a:t>
                </a:r>
                <a:r>
                  <a:rPr/>
                  <a:t> to define “goodness” however you want.</a:t>
                </a:r>
              </a:p>
              <a:p>
                <a:pPr lvl="0"/>
                <a:r>
                  <a:rPr/>
                  <a:t>Monetary cost</a:t>
                </a:r>
              </a:p>
              <a:p>
                <a:pPr lvl="0"/>
                <a:r>
                  <a:rPr/>
                  <a:t>Lives saved</a:t>
                </a:r>
              </a:p>
              <a:p>
                <a:pPr lvl="0"/>
                <a:r>
                  <a:rPr/>
                  <a:t>Acres of wetland preserved</a:t>
                </a:r>
              </a:p>
              <a:p>
                <a:pPr lvl="0"/>
                <a:r>
                  <a:rPr/>
                  <a:t>Some weighted combination</a:t>
                </a:r>
              </a:p>
              <a:p>
                <a:pPr lvl="0" indent="0" marL="0">
                  <a:buNone/>
                </a:pPr>
                <a:r>
                  <a:rPr/>
                  <a:t>This is a feature, not a bug — but it means every BCA embeds </a:t>
                </a:r>
                <a:r>
                  <a:rPr b="1"/>
                  <a:t>value judgments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Money as a Common Unit</a:t>
                </a:r>
              </a:p>
              <a:p>
                <a:pPr lvl="0" indent="0" marL="0">
                  <a:buNone/>
                </a:pPr>
                <a:r>
                  <a:rPr/>
                  <a:t>Utility is often measured in </a:t>
                </a:r>
                <a:r>
                  <a:rPr b="1"/>
                  <a:t>dollars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Not because money is all that matters, but because it provides a common unit for comparing different things.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/>
                  <a:t>For house elevation, monetary costs and benefits include:</a:t>
                </a:r>
              </a:p>
              <a:p>
                <a:pPr lvl="0"/>
                <a:r>
                  <a:rPr sz="2000"/>
                  <a:t>Up-front construction cost</a:t>
                </a:r>
              </a:p>
              <a:p>
                <a:pPr lvl="0"/>
                <a:r>
                  <a:rPr sz="2000"/>
                  <a:t>Change in flood insurance premiums</a:t>
                </a:r>
              </a:p>
              <a:p>
                <a:pPr lvl="0"/>
                <a:r>
                  <a:rPr sz="2000"/>
                  <a:t>Change in property value</a:t>
                </a:r>
              </a:p>
              <a:p>
                <a:pPr lvl="0"/>
                <a:r>
                  <a:rPr sz="2000"/>
                  <a:t>Expected future flood damages avoided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Opportunity Costs</a:t>
                </a:r>
              </a:p>
              <a:p>
                <a:pPr lvl="0" indent="0" marL="0">
                  <a:buNone/>
                </a:pPr>
                <a:r>
                  <a:rPr/>
                  <a:t>How do we put a dollar value on something that isn’t traded in a market?</a:t>
                </a:r>
              </a:p>
              <a:p>
                <a:pPr lvl="0" indent="0" marL="0">
                  <a:buNone/>
                </a:pPr>
                <a:r>
                  <a:rPr b="1"/>
                  <a:t>Opportunity cost</a:t>
                </a:r>
                <a:r>
                  <a:rPr/>
                  <a:t>: the value of the next best alternative.</a:t>
                </a:r>
              </a:p>
              <a:p>
                <a:pPr lvl="0"/>
                <a:r>
                  <a:rPr/>
                  <a:t>If we can protect one square mile of pristine wetland for $1 million, that’s the cost of </a:t>
                </a:r>
                <a:r>
                  <a:rPr i="1"/>
                  <a:t>not</a:t>
                </a:r>
                <a:r>
                  <a:rPr/>
                  <a:t> protecting a comparable square mile elsewhere</a:t>
                </a:r>
              </a:p>
              <a:p>
                <a:pPr lvl="0"/>
                <a:r>
                  <a:rPr/>
                  <a:t>If a household spends 10 hours per flood event cleaning up, the value of their time is an opportunity cost</a:t>
                </a:r>
              </a:p>
              <a:p>
                <a:pPr lvl="0"/>
                <a:r>
                  <a:rPr/>
                  <a:t>But: are these really substitutes?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Decreasing Marginal Utility</a:t>
                </a:r>
              </a:p>
              <a:p>
                <a:pPr lvl="0" indent="0" marL="0">
                  <a:buNone/>
                </a:pPr>
                <a:r>
                  <a:rPr/>
                  <a:t>A key insight from economics: the </a:t>
                </a:r>
                <a:r>
                  <a:rPr b="1"/>
                  <a:t>more</a:t>
                </a:r>
                <a:r>
                  <a:rPr/>
                  <a:t> you have of something, the </a:t>
                </a:r>
                <a:r>
                  <a:rPr b="1"/>
                  <a:t>less</a:t>
                </a:r>
                <a:r>
                  <a:rPr/>
                  <a:t> each additional unit is worth.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769E"/>
                    </a:solidFill>
                    <a:latin typeface="Courier"/>
                  </a:rPr>
                  <a:t>using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CairoMakie</a:t>
                </a:r>
                <a:br/>
                <a:br/>
                <a:r>
                  <a:rPr b="1">
                    <a:solidFill>
                      <a:srgbClr val="003B4F"/>
                    </a:solidFill>
                    <a:latin typeface="Courier"/>
                  </a:rPr>
                  <a:t>let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fig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Figure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(; size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600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350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ax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Axis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fig[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];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xlabel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"Consumption (\$)"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ylabel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"Utility"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xticklabelsvisible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yticklabelsvisible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xgridvisible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ygridvisible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x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range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; length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lines!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(ax, x,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log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.(x); linewidth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fig</a:t>
                </a:r>
                <a:br/>
                <a:r>
                  <a:rPr b="1">
                    <a:solidFill>
                      <a:srgbClr val="003B4F"/>
                    </a:solidFill>
                    <a:latin typeface="Courier"/>
                  </a:rPr>
                  <a:t>end</a:t>
                </a:r>
              </a:p>
            </p:txBody>
          </p:sp>
        </mc:Choice>
      </mc:AlternateContent>
      <p:pic>
        <p:nvPicPr>
          <p:cNvPr descr="index_files/figure-pptx/cell-2-output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47700"/>
            <a:ext cx="5105400" cy="297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Each additional dollar of consumption provides less additional utility.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Implication: Distribution and Social Welfare</a:t>
            </a:r>
          </a:p>
          <a:p>
            <a:pPr lvl="0" indent="0" marL="0">
              <a:buNone/>
            </a:pPr>
            <a:r>
              <a:rPr/>
              <a:t>If marginal utility decreases with wealth:</a:t>
            </a:r>
          </a:p>
          <a:p>
            <a:pPr lvl="0"/>
            <a:r>
              <a:rPr/>
              <a:t>A dollar of damage hurts a low-income household </a:t>
            </a:r>
            <a:r>
              <a:rPr b="1"/>
              <a:t>more</a:t>
            </a:r>
            <a:r>
              <a:rPr/>
              <a:t> than a wealthy one</a:t>
            </a:r>
          </a:p>
          <a:p>
            <a:pPr lvl="0"/>
            <a:r>
              <a:rPr/>
              <a:t>Standard BCA treats a dollar the same regardless of who receives it</a:t>
            </a:r>
          </a:p>
          <a:p>
            <a:pPr lvl="0"/>
            <a:r>
              <a:rPr/>
              <a:t>And there is </a:t>
            </a:r>
            <a:r>
              <a:rPr b="1"/>
              <a:t>no single “right” way</a:t>
            </a:r>
            <a:r>
              <a:rPr/>
              <a:t> to aggregate individual welfare into social welfare</a:t>
            </a:r>
          </a:p>
          <a:p>
            <a:pPr lvl="0" indent="0" marL="0">
              <a:buNone/>
            </a:pPr>
            <a:r>
              <a:rPr/>
              <a:t>We will revisit equity and values later in the semester.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Dealing with Time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Costs Now, Benefits Later</a:t>
                </a:r>
              </a:p>
              <a:p>
                <a:pPr lvl="0" indent="0" marL="0">
                  <a:buNone/>
                </a:pPr>
                <a:r>
                  <a:rPr/>
                  <a:t>Climate adaptation costs and benefits are spread over </a:t>
                </a:r>
                <a:r>
                  <a:rPr b="1"/>
                  <a:t>decades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How should we weigh a dollar of benefit 30 years from now against a dollar of cost today?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Net Present Value</a:t>
                </a:r>
              </a:p>
              <a:p>
                <a:pPr lvl="0" indent="0" marL="0">
                  <a:buNone/>
                </a:pPr>
                <a:r>
                  <a:rPr b="1"/>
                  <a:t>Discount</a:t>
                </a:r>
                <a:r>
                  <a:rPr/>
                  <a:t> future values to the present using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sub>
                        <m:sup>
                          <m:r>
                            <m:t>T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B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rPr>
                                      <m:sty m:val="b"/>
                                    </m:rPr>
                                    <m:t>s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rPr>
                                      <m:sty m:val="b"/>
                                    </m:rPr>
                                    <m:t>s</m:t>
                                  </m:r>
                                </m:e>
                              </m:d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t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C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: net benefits (benefits minus costs) in year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: discount rate (e.g., 2% per year)</a:t>
                </a:r>
              </a:p>
              <a:p>
                <a:pPr lvl="0"/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+</m:t>
                                </m:r>
                                <m:r>
                                  <m:t>r</m:t>
                                </m:r>
                              </m:e>
                            </m:d>
                          </m:e>
                          <m:sup>
                            <m:r>
                              <m:t>t</m:t>
                            </m:r>
                          </m:sup>
                        </m:sSup>
                      </m:den>
                    </m:f>
                  </m:oMath>
                </a14:m>
                <a:r>
                  <a:rPr/>
                  <a:t>: how much we value a dollar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years from now</a:t>
                </a:r>
              </a:p>
              <a:p>
                <a:pPr lvl="0"/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: time horizon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Alternative Notation</a:t>
                </a:r>
              </a:p>
              <a:p>
                <a:pPr lvl="0" indent="0" marL="0">
                  <a:buNone/>
                </a:pPr>
                <a:r>
                  <a:rPr/>
                  <a:t>You will also see NPV written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sub>
                        <m:sup>
                          <m:r>
                            <m:t>T</m:t>
                          </m:r>
                        </m:sup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γ</m:t>
                                  </m:r>
                                </m:e>
                              </m:d>
                            </m:e>
                            <m:sup>
                              <m:r>
                                <m:t>t</m:t>
                              </m:r>
                            </m:sup>
                          </m:sSup>
                        </m:e>
                      </m:nary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b>
                            <m:e>
                              <m:r>
                                <m:t>B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These are </a:t>
                </a:r>
                <a:r>
                  <a:rPr b="1"/>
                  <a:t>mathematically equivalent</a:t>
                </a:r>
                <a:r>
                  <a:rPr/>
                  <a:t> — just different parameterizations</a:t>
                </a:r>
              </a:p>
              <a:p>
                <a:pPr lvl="0"/>
                <a:r>
                  <a:rPr/>
                  <a:t>Our formula: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, discount factor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+</m:t>
                                </m:r>
                                <m:r>
                                  <m:t>r</m:t>
                                </m:r>
                              </m:e>
                            </m:d>
                          </m:e>
                          <m:sup>
                            <m:r>
                              <m:t>t</m:t>
                            </m:r>
                          </m:sup>
                        </m:sSup>
                      </m:den>
                    </m:f>
                  </m:oMath>
                </a14:m>
              </a:p>
              <a:p>
                <a:pPr lvl="0"/>
                <a:r>
                  <a:rPr/>
                  <a:t>Alternative: discount rate </a:t>
                </a:r>
                <a14:m>
                  <m:oMath xmlns:m="http://schemas.openxmlformats.org/officeDocument/2006/math">
                    <m:r>
                      <m:t>γ</m:t>
                    </m:r>
                  </m:oMath>
                </a14:m>
                <a:r>
                  <a:rPr/>
                  <a:t>, discount factor </a:t>
                </a:r>
                <a14:m>
                  <m:oMath xmlns:m="http://schemas.openxmlformats.org/officeDocument/2006/math"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γ</m:t>
                            </m:r>
                          </m:e>
                        </m:d>
                      </m:e>
                      <m:sup>
                        <m:r>
                          <m:t>t</m:t>
                        </m:r>
                      </m:sup>
                    </m:sSup>
                  </m:oMath>
                </a14:m>
              </a:p>
              <a:p>
                <a:pPr lvl="0"/>
                <a:r>
                  <a:rPr/>
                  <a:t>Relationship: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γ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</m:den>
                    </m:f>
                  </m:oMath>
                </a14:m>
                <a:r>
                  <a:rPr/>
                  <a:t>, so </a:t>
                </a:r>
                <a14:m>
                  <m:oMath xmlns:m="http://schemas.openxmlformats.org/officeDocument/2006/math">
                    <m:r>
                      <m:t>γ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</m:den>
                    </m:f>
                  </m:oMath>
                </a14:m>
              </a:p>
              <a:p>
                <a:pPr lvl="0" indent="0" marL="1270000">
                  <a:buNone/>
                </a:pPr>
                <a:r>
                  <a:rPr sz="2000" b="1"/>
                  <a:t>Important</a:t>
                </a:r>
              </a:p>
              <a:p>
                <a:pPr lvl="0" indent="0" marL="1270000">
                  <a:buNone/>
                </a:pPr>
                <a:r>
                  <a:rPr sz="2000"/>
                  <a:t>Always check which convention a paper or report uses — a “2% discount rate” gives different numbers depending on the formula!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Worked Example</a:t>
                </a:r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, what is </a:t>
                </a:r>
                <a:r>
                  <a:rPr b="1"/>
                  <a:t>$1</a:t>
                </a:r>
                <a:r>
                  <a:rPr/>
                  <a:t> in 10 years worth today?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1.02</m:t>
                                  </m:r>
                                </m:e>
                              </m:d>
                            </m:e>
                            <m:sup>
                              <m:r>
                                <m:t>10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≈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0.82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What about </a:t>
                </a:r>
                <a:r>
                  <a:rPr b="1"/>
                  <a:t>$1</a:t>
                </a:r>
                <a:r>
                  <a:rPr/>
                  <a:t> in 50 years?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1.02</m:t>
                                  </m:r>
                                </m:e>
                              </m:d>
                            </m:e>
                            <m:sup>
                              <m:r>
                                <m:t>50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≈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0.37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: $1 in 50 years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1.07</m:t>
                                </m:r>
                              </m:e>
                            </m:d>
                          </m:e>
                          <m:sup>
                            <m:r>
                              <m:t>50</m:t>
                            </m:r>
                          </m:sup>
                        </m:sSup>
                      </m:den>
                    </m:f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$</m:t>
                    </m:r>
                    <m:r>
                      <m:t>0.03</m:t>
                    </m:r>
                  </m:oMath>
                </a14:m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Handling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BCA Is Commonly Practiced</a:t>
                </a:r>
              </a:p>
              <a:p>
                <a:pPr lvl="0" indent="0" marL="0">
                  <a:buNone/>
                </a:pPr>
                <a:r>
                  <a:rPr/>
                  <a:t>Most real-world analyses pick a </a:t>
                </a:r>
                <a:r>
                  <a:rPr b="1"/>
                  <a:t>single “best guess”</a:t>
                </a:r>
                <a:r>
                  <a:rPr/>
                  <a:t> scenario.</a:t>
                </a:r>
              </a:p>
              <a:p>
                <a:pPr lvl="0"/>
                <a:r>
                  <a:rPr/>
                  <a:t>A Houston water utility picks </a:t>
                </a:r>
                <a:r>
                  <a:rPr b="1"/>
                  <a:t>one assumption</a:t>
                </a:r>
                <a:r>
                  <a:rPr/>
                  <a:t> for each uncertain input (population, climate, regulations, costs)</a:t>
                </a:r>
              </a:p>
              <a:p>
                <a:pPr lvl="0"/>
                <a:r>
                  <a:rPr/>
                  <a:t>Calculate NPV under this single scenario</a:t>
                </a:r>
              </a:p>
              <a:p>
                <a:pPr lvl="0"/>
                <a:r>
                  <a:rPr/>
                  <a:t>If NPV &gt; 0, the project “passes”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Single-Scenario BCA Is Fragile</a:t>
                </a:r>
              </a:p>
              <a:p>
                <a:pPr lvl="0" indent="0" marL="0">
                  <a:buNone/>
                </a:pPr>
                <a:r>
                  <a:rPr/>
                  <a:t>Decisions that look great under one scenario can fail badly under another.</a:t>
                </a:r>
              </a:p>
              <a:p>
                <a:pPr lvl="0"/>
                <a:r>
                  <a:rPr/>
                  <a:t>Build a reservoir for future demand → but what if future is </a:t>
                </a:r>
                <a:r>
                  <a:rPr b="1"/>
                  <a:t>drier</a:t>
                </a:r>
                <a:r>
                  <a:rPr/>
                  <a:t> than expected? (Reservoir doesn’t fill)</a:t>
                </a:r>
              </a:p>
              <a:p>
                <a:pPr lvl="0"/>
                <a:r>
                  <a:rPr/>
                  <a:t>Build a reservoir for future demand → but what if future is </a:t>
                </a:r>
                <a:r>
                  <a:rPr b="1"/>
                  <a:t>wetter</a:t>
                </a:r>
                <a:r>
                  <a:rPr/>
                  <a:t> than expected? (Reservoir was unnecessary — funds should have gone to flood protection)</a:t>
                </a:r>
              </a:p>
              <a:p>
                <a:pPr lvl="0"/>
                <a:r>
                  <a:rPr/>
                  <a:t>The “best guess” is almost certainly wrong in some dimension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Expected Utility</a:t>
                </a:r>
              </a:p>
              <a:p>
                <a:pPr lvl="0" indent="0" marL="0">
                  <a:buNone/>
                </a:pPr>
                <a:r>
                  <a:rPr/>
                  <a:t>A better approach: pick the decision with the best </a:t>
                </a:r>
                <a:r>
                  <a:rPr b="1"/>
                  <a:t>expected</a:t>
                </a:r>
                <a:r>
                  <a:rPr/>
                  <a:t> NPV: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*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max</m:t>
                          </m:r>
                        </m:e>
                        <m:lim>
                          <m:r>
                            <m:t>a</m:t>
                          </m:r>
                        </m:lim>
                      </m:limLow>
                      <m:r>
                        <m:t> </m:t>
                      </m:r>
                      <m:sSub>
                        <m:e>
                          <m:r>
                            <m:rPr>
                              <m:sty m:val="p"/>
                              <m:scr m:val="double-struck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s</m:t>
                          </m:r>
                        </m:sub>
                      </m:sSub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t>P</m:t>
                          </m:r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Recall: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ty m:val="p"/>
                              <m:scr m:val="double-struck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s</m:t>
                          </m:r>
                        </m:sub>
                      </m:sSub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t>P</m:t>
                          </m:r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t> </m:t>
                      </m:r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rPr>
                          <m:sty m:val="b"/>
                        </m:rPr>
                        <m:t>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requires a </a:t>
                </a:r>
                <a:r>
                  <a:rPr b="1"/>
                  <a:t>probability distribution</a:t>
                </a:r>
                <a:r>
                  <a:rPr/>
                  <a:t> over states of the world.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Connecting to Monte Carlo</a:t>
                </a:r>
              </a:p>
              <a:p>
                <a:pPr lvl="0" indent="0" marL="0">
                  <a:buNone/>
                </a:pPr>
                <a:r>
                  <a:rPr/>
                  <a:t>You already know how to do this!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Sample many states of the world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from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</m: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Compute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t>P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rPr>
                                <m:sty m:val="b"/>
                              </m:rPr>
                              <m:t>s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for each sample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rPr>
                            <m:sty m:val="p"/>
                            <m:scr m:val="double-struck"/>
                          </m:rPr>
                          <m:t>E</m:t>
                        </m:r>
                      </m:e>
                    </m:acc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N</m:t>
                        </m:r>
                        <m:r>
                          <m:t>P</m:t>
                        </m:r>
                        <m:r>
                          <m:t>V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a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rPr>
                                <m:sty m:val="b"/>
                              </m:rPr>
                              <m:t>s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≈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N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t>N</m:t>
                        </m:r>
                      </m:e>
                    </m:nary>
                    <m:r>
                      <m:t>P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rPr>
                                <m:sty m:val="b"/>
                              </m:rPr>
                              <m:t>s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Compare across actions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A</m:t>
                    </m:r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Standard BCA Recipe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Define the set of actions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A</m:t>
                    </m:r>
                  </m:oMath>
                </a14:m>
                <a:r>
                  <a:rPr/>
                  <a:t> (e.g., elevate by 0, 3, 5, or 8 feet)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Define costs and benefits </a:t>
                </a:r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b"/>
                          </m:rPr>
                          <m:t>s</m:t>
                        </m:r>
                      </m:e>
                    </m:d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b"/>
                          </m:rPr>
                          <m:t>s</m:t>
                        </m:r>
                      </m:e>
                    </m: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Choose a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Estimate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</m:d>
                  </m:oMath>
                </a14:m>
                <a:r>
                  <a:rPr/>
                  <a:t> — probability distribution over states of the world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Pick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rPr>
                            <m:sty m:val="p"/>
                          </m:rPr>
                          <m:t>*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arg</m:t>
                    </m:r>
                    <m:sSub>
                      <m:e>
                        <m:r>
                          <m:rPr>
                            <m:sty m:val="p"/>
                          </m:rPr>
                          <m:t>max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t> </m:t>
                    </m:r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N</m:t>
                        </m:r>
                        <m:r>
                          <m:t>P</m:t>
                        </m:r>
                        <m:r>
                          <m:t>V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a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rPr>
                                <m:sty m:val="b"/>
                              </m:rPr>
                              <m:t>s</m:t>
                            </m:r>
                          </m:e>
                        </m:d>
                      </m:e>
                    </m:d>
                  </m:oMath>
                </a14:m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Worked Example: House Elevation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Setting Up the Problem</a:t></a:r></a:p><a:p><a:pPr lvl="0" indent="0" marL="0"><a:buNone /></a:pPr><a:r><a:rPr /><a:t>Return to our Meyerland homeowner. Two actions: </a:t></a:r><a:r><a:rPr b="1" /><a:t>do nothing</a:t></a:r><a:r><a:rPr /><a:t> (</a:t></a:r><a14:m><m:oMath xmlns:m="http://schemas.openxmlformats.org/officeDocument/2006/math"><m:sSub><m:e><m:r><m:t>a</m:t></m:r></m:e><m:sub><m:r><m:t>0</m:t></m:r></m:sub></m:sSub></m:oMath></a14:m><a:r><a:rPr /><a:t>) or </a:t></a:r><a:r><a:rPr b="1" /><a:t>elevate 5 ft</a:t></a:r><a:r><a:rPr /><a:t> (</a:t></a:r><a14:m><m:oMath xmlns:m="http://schemas.openxmlformats.org/officeDocument/2006/math"><m:sSub><m:e><m:r><m:t>a</m:t></m:r></m:e><m:sub><m:r><m:t>1</m:t></m:r></m:sub></m:sSub></m:oMath></a14:m><a:r><a:rPr /><a:t>).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701800" /><a:gridCol w="1701800" /><a:gridCol w="1701800" /></a:tblGrid><a:tr h="0"><a:tc><a:txBody><a:bodyPr /><a:lstStyle /><a:p><a:endParaRPr /></a:p></a:txBody><a:tcPr /></a:tc><a:tc><a:txBody><a:bodyPr /><a:lstStyle /><a:p><a:pPr lvl="0" indent="0" marL="0" algn="ctr"><a:buNone /></a:pPr><a:r><a:rPr /><a:t>Do Nothing (</a:t></a:r><a14:m><m:oMath xmlns:m="http://schemas.openxmlformats.org/officeDocument/2006/math"><m:sSub><m:e><m:r><m:t>a</m:t></m:r></m:e><m:sub><m:r><m:t>0</m:t></m:r></m:sub></m:sSub></m:oMath></a14:m><a:r><a:rPr /><a:t>)</a:t></a:r></a:p></a:txBody><a:tcPr /></a:tc><a:tc><a:txBody><a:bodyPr /><a:lstStyle /><a:p><a:pPr lvl="0" indent="0" marL="0" algn="ctr"><a:buNone /></a:pPr><a:r><a:rPr /><a:t>Elevate 5 ft (</a:t></a:r><a14:m><m:oMath xmlns:m="http://schemas.openxmlformats.org/officeDocument/2006/math"><m:sSub><m:e><m:r><m:t>a</m:t></m:r></m:e><m:sub><m:r><m:t>1</m:t></m:r></m:sub></m:sSub></m:oMath></a14:m><a:r><a:rPr /><a:t>)</a:t></a:r></a:p></a:txBody><a:tcPr /></a:tc></a:tr><a:tr h="0"><a:tc><a:txBody><a:bodyPr /><a:lstStyle /><a:p><a:pPr lvl="0" indent="0" marL="0" algn="l"><a:buNone /></a:pPr><a:r><a:rPr /><a:t>Up-front cost</a:t></a:r></a:p></a:txBody></a:tc><a:tc><a:txBody><a:bodyPr /><a:lstStyle /><a:p><a:pPr lvl="0" indent="0" marL="0" algn="ctr"><a:buNone /></a:pPr><a:r><a:rPr /><a:t>$0</a:t></a:r></a:p></a:txBody></a:tc><a:tc><a:txBody><a:bodyPr /><a:lstStyle /><a:p><a:pPr lvl="0" indent="0" marL="0" algn="ctr"><a:buNone /></a:pPr><a:r><a:rPr /><a:t>$80,000</a:t></a:r></a:p></a:txBody></a:tc></a:tr><a:tr h="0"><a:tc><a:txBody><a:bodyPr /><a:lstStyle /><a:p><a:pPr lvl="0" indent="0" marL="0" algn="l"><a:buNone /></a:pPr><a:r><a:rPr /><a:t>Annual flood probability</a:t></a:r></a:p></a:txBody></a:tc><a:tc><a:txBody><a:bodyPr /><a:lstStyle /><a:p><a:pPr lvl="0" indent="0" marL="0" algn="ctr"><a:buNone /></a:pPr><a:r><a:rPr /><a:t>5%</a:t></a:r></a:p></a:txBody></a:tc><a:tc><a:txBody><a:bodyPr /><a:lstStyle /><a:p><a:pPr lvl="0" indent="0" marL="0" algn="ctr"><a:buNone /></a:pPr><a:r><a:rPr /><a:t>0.5%</a:t></a:r></a:p></a:txBody></a:tc></a:tr><a:tr h="0"><a:tc><a:txBody><a:bodyPr /><a:lstStyle /><a:p><a:pPr lvl="0" indent="0" marL="0" algn="l"><a:buNone /></a:pPr><a:r><a:rPr /><a:t>Expected damage per flood</a:t></a:r></a:p></a:txBody></a:tc><a:tc><a:txBody><a:bodyPr /><a:lstStyle /><a:p><a:pPr lvl="0" indent="0" marL="0" algn="ctr"><a:buNone /></a:pPr><a:r><a:rPr /><a:t>$50,000</a:t></a:r></a:p></a:txBody></a:tc><a:tc><a:txBody><a:bodyPr /><a:lstStyle /><a:p><a:pPr lvl="0" indent="0" marL="0" algn="ctr"><a:buNone /></a:pPr><a:r><a:rPr /><a:t>$5,000</a:t></a:r></a:p></a:txBody></a:tc></a:tr><a:tr h="0"><a:tc><a:txBody><a:bodyPr /><a:lstStyle /><a:p><a:pPr lvl="0" indent="0" marL="0" algn="l"><a:buNone /></a:pPr><a:r><a:rPr b="1" /><a:t>Expected annual damage</a:t></a:r></a:p></a:txBody></a:tc><a:tc><a:txBody><a:bodyPr /><a:lstStyle /><a:p><a:pPr lvl="0" indent="0" marL="0" algn="ctr"><a:buNone /></a:pPr><a:r><a:rPr b="1" /><a:t>$2,500</a:t></a:r></a:p></a:txBody></a:tc><a:tc><a:txBody><a:bodyPr /><a:lstStyle /><a:p><a:pPr lvl="0" indent="0" marL="0" algn="ctr"><a:buNone /></a:pPr><a:r><a:rPr b="1" /><a:t>$25</a:t></a:r></a:p></a:txBody></a:tc></a:tr></a:tbl></a:graphicData></a:graphic></p:graphicFrame></p:spTree></p:cSld>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Computing NPV</a:t></a:r></a:p><a:p><a:pPr lvl="0" indent="0" marL="0"><a:buNone /></a:pPr><a:r><a:rPr /><a:t>Annual benefit of elevation: </a:t></a:r><a14:m><m:oMath xmlns:m="http://schemas.openxmlformats.org/officeDocument/2006/math"><m:r><m:rPr><m:sty m:val="p" /></m:rPr><m:t>$</m:t></m:r><m:r><m:t>2</m:t></m:r><m:r><m:rPr><m:sty m:val="p" /></m:rPr><m:t>,</m:t></m:r><m:r><m:t>500</m:t></m:r><m:r><m:rPr><m:sty m:val="p" /></m:rPr><m:t>−</m:t></m:r><m:r><m:rPr><m:sty m:val="p" /></m:rPr><m:t>$</m:t></m:r><m:r><m:t>25</m:t></m:r><m:r><m:rPr><m:sty m:val="p" /></m:rPr><m:t>=</m:t></m:r><m:r><m:rPr><m:sty m:val="p" /></m:rPr><m:t>$</m:t></m:r><m:r><m:t>2</m:t></m:r><m:r><m:rPr><m:sty m:val="p" /></m:rPr><m:t>,</m:t></m:r><m:r><m:t>475</m:t></m:r></m:oMath></a14:m><a:r><a:rPr /><a:t> per year in avoided damages.</a:t></a:r></a:p><a:p><a:pPr lvl="0" indent="0" marL="0"><a:buNone /></a:pPr><a:r><a:rPr /><a:t>Over </a:t></a:r><a14:m><m:oMath xmlns:m="http://schemas.openxmlformats.org/officeDocument/2006/math"><m:r><m:t>T</m:t></m:r><m:r><m:rPr><m:sty m:val="p" /></m:rPr><m:t>=</m:t></m:r><m:r><m:t>30</m:t></m:r></m:oMath></a14:m><a:r><a:rPr /><a:t> years at discount rate </a:t></a:r><a14:m><m:oMath xmlns:m="http://schemas.openxmlformats.org/officeDocument/2006/math"><m:r><m:t>r</m:t></m:r></m:oMath></a14:m><a:r><a:rPr /><a:t>:</a:t></a:r></a:p><a:p><a:pPr lvl="0" indent="0" marL="0"><a:buNone /></a:pPr><a14:m><m:oMathPara xmlns:m="http://schemas.openxmlformats.org/officeDocument/2006/math"><m:oMathParaPr><m:jc m:val="center" /></m:oMathParaPr><m:oMath><m:r><m:t>N</m:t></m:r><m:r><m:t>P</m:t></m:r><m:r><m:t>V</m:t></m:r><m:r><m:rPr><m:sty m:val="p" /></m:rPr><m:t>=</m:t></m:r><m:r><m:rPr><m:sty m:val="p" /></m:rPr><m:t>−</m:t></m:r><m:r><m:rPr><m:sty m:val="p" /></m:rPr><m:t>$</m:t></m:r><m:r><m:t>80</m:t></m:r><m:r><m:rPr><m:sty m:val="p" /></m:rPr><m:t>,</m:t></m:r><m:r><m:t>000</m:t></m:r><m:r><m:rPr><m:sty m:val="p" /></m:rPr><m:t>+</m:t></m:r><m:nary><m:naryPr><m:chr m:val="∑" /><m:limLoc m:val="undOvr" /><m:subHide m:val="off" /><m:supHide m:val="off" /></m:naryPr><m:sub><m:r><m:t>t</m:t></m:r><m:r><m:rPr><m:sty m:val="p" /></m:rPr><m:t>=</m:t></m:r><m:r><m:t>1</m:t></m:r></m:sub><m:sup><m:r><m:t>30</m:t></m:r></m:sup><m:e><m:f><m:fPr><m:type m:val="bar" /></m:fPr><m:num><m:r><m:rPr><m:sty m:val="p" /></m:rPr><m:t>$</m:t></m:r><m:r><m:t>2</m:t></m:r><m:r><m:rPr><m:sty m:val="p" /></m:rPr><m:t>,</m:t></m:r><m:r><m:t>475</m:t></m:r></m:num><m:den><m:sSup><m:e><m:d><m:dPr><m:begChr m:val="(" /><m:sepChr m:val="" /><m:endChr m:val=")" /><m:grow /></m:dPr><m:e><m:r><m:t>1</m:t></m:r><m:r><m:rPr><m:sty m:val="p" /></m:rPr><m:t>+</m:t></m:r><m:r><m:t>r</m:t></m:r></m:e></m:d></m:e><m:sup><m:r><m:t>t</m:t></m:r></m:sup></m:sSup></m:den></m:f></m:e></m:nary></m:oMath></m:oMathPara></a14:m></a:p><a:p><a:pPr lvl="0" indent="0" marL="0"><a:buNone /></a:pPr><a:r><a:rPr /><a:t>At these numbers, elevation doesn’t pass BCA at </a:t></a:r><a:r><a:rPr i="1" /><a:t>any</a:t></a:r><a:r><a:rPr /><a:t> discount rate. What would need to change?</a:t></a:r></a:p><a:p><a:pPr lvl="0" indent="0" marL="0"><a:spcBef><a:spcPts val="3000" /></a:spcBef><a:buNone /></a:pPr><a:r><a:rPr b="1" /><a:t>Sensitivity: What If Flood Risk Is Higher?</a:t></a:r></a:p><a:p><a:pPr lvl="0" indent="0" marL="0"><a:buNone /></a:pPr><a:r><a:rPr /><a:t>Suppose climate change increases annual flood probability to </a:t></a:r><a:r><a:rPr b="1" /><a:t>10%</a:t></a:r><a:r><a:rPr /><a:t> (EAD: $5,000/yr, benefit: $4,975/yr):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:r><a:rPr /><a:t>Discount rate </a:t></a:r><a14:m><m:oMath xmlns:m="http://schemas.openxmlformats.org/officeDocument/2006/math"><m:r><m:t>r</m:t></m:r></m:oMath></a14:m></a:p></a:txBody><a:tcPr /></a:tc><a:tc><a:txBody><a:bodyPr /><a:lstStyle /><a:p><a:pPr lvl="0" indent="0" marL="0" algn="ctr"><a:buNone /></a:pPr><a:r><a:rPr /><a:t>PV of benefits</a:t></a:r></a:p></a:txBody><a:tcPr /></a:tc><a:tc><a:txBody><a:bodyPr /><a:lstStyle /><a:p><a:pPr lvl="0" indent="0" marL="0" algn="ctr"><a:buNone /></a:pPr><a:r><a:rPr /><a:t>NPV</a:t></a:r></a:p></a:txBody><a:tcPr /></a:tc><a:tc><a:txBody><a:bodyPr /><a:lstStyle /><a:p><a:pPr lvl="0" indent="0" marL="0" algn="ctr"><a:buNone /></a:pPr><a:r><a:rPr /><a:t>Pass?</a:t></a:r></a:p></a:txBody><a:tcPr /></a:tc></a:tr><a:tr h="0"><a:tc><a:txBody><a:bodyPr /><a:lstStyle /><a:p><a:pPr lvl="0" indent="0" marL="0" algn="ctr"><a:buNone /></a:pPr><a:r><a:rPr /><a:t>2%</a:t></a:r></a:p></a:txBody></a:tc><a:tc><a:txBody><a:bodyPr /><a:lstStyle /><a:p><a:pPr lvl="0" indent="0" marL="0" algn="ctr"><a:buNone /></a:pPr><a:r><a:rPr /><a:t>$111,500</a:t></a:r></a:p></a:txBody></a:tc><a:tc><a:txBody><a:bodyPr /><a:lstStyle /><a:p><a:pPr lvl="0" indent="0" marL="0" algn="ctr"><a:buNone /></a:pPr><a:r><a:rPr b="1" /><a:t>+$31,500</a:t></a:r></a:p></a:txBody></a:tc><a:tc><a:txBody><a:bodyPr /><a:lstStyle /><a:p><a:pPr lvl="0" indent="0" marL="0" algn="ctr"><a:buNone /></a:pPr><a:r><a:rPr /><a:t>Yes</a:t></a:r></a:p></a:txBody></a:tc></a:tr><a:tr h="0"><a:tc><a:txBody><a:bodyPr /><a:lstStyle /><a:p><a:pPr lvl="0" indent="0" marL="0" algn="ctr"><a:buNone /></a:pPr><a:r><a:rPr /><a:t>5%</a:t></a:r></a:p></a:txBody></a:tc><a:tc><a:txBody><a:bodyPr /><a:lstStyle /><a:p><a:pPr lvl="0" indent="0" marL="0" algn="ctr"><a:buNone /></a:pPr><a:r><a:rPr /><a:t>$76,500</a:t></a:r></a:p></a:txBody></a:tc><a:tc><a:txBody><a:bodyPr /><a:lstStyle /><a:p><a:pPr lvl="0" indent="0" marL="0" algn="ctr"><a:buNone /></a:pPr><a:r><a:rPr b="1" /><a:t>-$3,500</a:t></a:r></a:p></a:txBody></a:tc><a:tc><a:txBody><a:bodyPr /><a:lstStyle /><a:p><a:pPr lvl="0" indent="0" marL="0" algn="ctr"><a:buNone /></a:pPr><a:r><a:rPr /><a:t>Barely no</a:t></a:r></a:p></a:txBody></a:tc></a:tr><a:tr h="0"><a:tc><a:txBody><a:bodyPr /><a:lstStyle /><a:p><a:pPr lvl="0" indent="0" marL="0" algn="ctr"><a:buNone /></a:pPr><a:r><a:rPr /><a:t>7%</a:t></a:r></a:p></a:txBody></a:tc><a:tc><a:txBody><a:bodyPr /><a:lstStyle /><a:p><a:pPr lvl="0" indent="0" marL="0" algn="ctr"><a:buNone /></a:pPr><a:r><a:rPr /><a:t>$61,700</a:t></a:r></a:p></a:txBody></a:tc><a:tc><a:txBody><a:bodyPr /><a:lstStyle /><a:p><a:pPr lvl="0" indent="0" marL="0" algn="ctr"><a:buNone /></a:pPr><a:r><a:rPr b="1" /><a:t>-$18,300</a:t></a:r></a:p></a:txBody></a:tc><a:tc><a:txBody><a:bodyPr /><a:lstStyle /><a:p><a:pPr lvl="0" indent="0" marL="0" algn="ctr"><a:buNone /></a:pPr><a:r><a:rPr /><a:t>No</a:t></a:r></a:p></a:txBody></a:tc></a:tr></a:tbl></a:graphicData></a:graphic></p:graphicFrame></p:spTree></p:cSld>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same project</a:t>
            </a:r>
            <a:r>
              <a:rPr/>
              <a:t> passes or fails depending on two assumptions: flood probability and discount rate.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Critiques &amp; Defense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White House Circular A-94</a:t>
                </a:r>
              </a:p>
              <a:p>
                <a:pPr lvl="0" indent="0" marL="0">
                  <a:buNone/>
                </a:pPr>
                <a:r>
                  <a:rPr/>
                  <a:t>The 2023 revision of federal BCA guidance (U.S. Office of Management and Budget 2023):</a:t>
                </a:r>
              </a:p>
              <a:p>
                <a:pPr lvl="0"/>
                <a:r>
                  <a:rPr/>
                  <a:t>Intended to govern how federal agencies conduct BCA</a:t>
                </a:r>
              </a:p>
              <a:p>
                <a:pPr lvl="0"/>
                <a:r>
                  <a:rPr/>
                  <a:t>Lowered the default discount rate from 7% to ~2%</a:t>
                </a:r>
              </a:p>
              <a:p>
                <a:pPr lvl="0"/>
                <a:r>
                  <a:rPr/>
                  <a:t>Expanded guidance on equity and distributional effects</a:t>
                </a:r>
              </a:p>
              <a:p>
                <a:pPr lvl="0"/>
                <a:r>
                  <a:rPr/>
                  <a:t>Its current status is uncertain under the new administration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Discount Rate Problem</a:t>
                </a:r>
              </a:p>
              <a:p>
                <a:pPr lvl="0" indent="0" marL="0">
                  <a:buNone/>
                </a:pPr>
                <a:r>
                  <a:rPr/>
                  <a:t>Two rationales for discounting (Arrow et al. 2013):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Consumption-based</a:t>
                </a:r>
                <a:r>
                  <a:rPr/>
                  <a:t> (~3%): Future generations will be richer, so an extra dollar matters less to them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Investment-based</a:t>
                </a:r>
                <a:r>
                  <a:rPr/>
                  <a:t> (~7%): A dollar invested today yields more than a dollar in the future</a:t>
                </a:r>
              </a:p>
              <a:p>
                <a:pPr lvl="0" indent="0" marL="0">
                  <a:buNone/>
                </a:pPr>
                <a:r>
                  <a:rPr/>
                  <a:t>Both assume future generations are better off — what if climate change makes them </a:t>
                </a:r>
                <a:r>
                  <a:rPr i="1"/>
                  <a:t>worse</a:t>
                </a:r>
                <a:r>
                  <a:rPr/>
                  <a:t> off?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High Discount Rates Favor Inaction</a:t>
                </a:r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, damages 50 years out are worth </a:t>
                </a:r>
                <a:r>
                  <a:rPr b="1"/>
                  <a:t>$0.03</a:t>
                </a:r>
                <a:r>
                  <a:rPr/>
                  <a:t> today.</a:t>
                </a:r>
              </a:p>
              <a:p>
                <a:pPr lvl="0"/>
                <a:r>
                  <a:rPr/>
                  <a:t>Infrastructure with 50-100 year lifetimes</a:t>
                </a:r>
              </a:p>
              <a:p>
                <a:pPr lvl="0"/>
                <a:r>
                  <a:rPr/>
                  <a:t>Sea-level rise over centuries</a:t>
                </a:r>
              </a:p>
              <a:p>
                <a:pPr lvl="0"/>
                <a:r>
                  <a:rPr/>
                  <a:t>Species extinction is permanent</a:t>
                </a:r>
              </a:p>
              <a:p>
                <a:pPr lvl="0" indent="0" marL="0">
                  <a:buNone/>
                </a:pPr>
                <a:r>
                  <a:rPr/>
                  <a:t>The discount rate can determine whether a project “passes” BCA — more than any other single parameter.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Decision-Support, Not Decision-Making</a:t>
                </a:r>
              </a:p>
              <a:p>
                <a:pPr lvl="0" indent="0" marL="1270000">
                  <a:buNone/>
                </a:pPr>
                <a:r>
                  <a:rPr sz="2000" b="1"/>
                  <a:t>Important</a:t>
                </a:r>
              </a:p>
              <a:p>
                <a:pPr lvl="0" indent="0" marL="1270000">
                  <a:buNone/>
                </a:pPr>
                <a:r>
                  <a:rPr sz="2000"/>
                  <a:t>BCA is a tool for </a:t>
                </a:r>
                <a:r>
                  <a:rPr sz="2000" b="1"/>
                  <a:t>informing</a:t>
                </a:r>
                <a:r>
                  <a:rPr sz="2000"/>
                  <a:t> decisions, not </a:t>
                </a:r>
                <a:r>
                  <a:rPr sz="2000" b="1"/>
                  <a:t>making</a:t>
                </a:r>
                <a:r>
                  <a:rPr sz="2000"/>
                  <a:t> them.</a:t>
                </a:r>
              </a:p>
              <a:p>
                <a:pPr lvl="0"/>
                <a:r>
                  <a:rPr/>
                  <a:t>It forces us to be explicit about our assumptions</a:t>
                </a:r>
              </a:p>
              <a:p>
                <a:pPr lvl="0"/>
                <a:r>
                  <a:rPr/>
                  <a:t>Applied well, it’s iterative refinement of understanding; applied poorly, it’s a black box that justifies a decision already made</a:t>
                </a:r>
              </a:p>
              <a:p>
                <a:pPr lvl="0"/>
                <a:r>
                  <a:rPr/>
                  <a:t>The number matters less than what you learn by computing it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-342900" marL="342900">
              <a:buAutoNum type="arabicPeriod"/>
            </a:pPr>
            <a:r>
              <a:rPr/>
              <a:t>BCA provides a systematic framework for comparing decisions — but every analysis embeds value judgments</a:t>
            </a:r>
          </a:p>
          <a:p>
            <a:pPr lvl="0" indent="-342900" marL="342900">
              <a:buAutoNum type="arabicPeriod"/>
            </a:pPr>
            <a:r>
              <a:rPr/>
              <a:t>Utility theory gives us the math; opportunity costs, discounting, and expected value give us the tools</a:t>
            </a:r>
          </a:p>
          <a:p>
            <a:pPr lvl="0" indent="-342900" marL="342900">
              <a:buAutoNum type="arabicPeriod"/>
            </a:pPr>
            <a:r>
              <a:rPr/>
              <a:t>The discount rate is a choice, not a fact — and it can flip a project from “fails” to “passes”</a:t>
            </a:r>
          </a:p>
          <a:p>
            <a:pPr lvl="0" indent="-342900" marL="342900">
              <a:buAutoNum type="arabicPeriod"/>
            </a:pPr>
            <a:r>
              <a:rPr/>
              <a:t>BCA is decision-</a:t>
            </a:r>
            <a:r>
              <a:rPr i="1"/>
              <a:t>support</a:t>
            </a:r>
            <a:r>
              <a:rPr/>
              <a:t>: the assumptions matter more than the final number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Wednesday Preview</a:t>
            </a:r>
          </a:p>
          <a:p>
            <a:pPr lvl="0" indent="0" marL="0">
              <a:buNone/>
            </a:pPr>
            <a:r>
              <a:rPr b="1"/>
              <a:t>Paper Discussion:</a:t>
            </a:r>
            <a:r>
              <a:rPr/>
              <a:t> Discounting &amp; BCA</a:t>
            </a:r>
          </a:p>
          <a:p>
            <a:pPr lvl="0"/>
            <a:r>
              <a:rPr/>
              <a:t>Read Arrow et al. (2013)</a:t>
            </a:r>
          </a:p>
          <a:p>
            <a:pPr lvl="0"/>
            <a:r>
              <a:rPr/>
              <a:t>Optional: skim U.S. Office of Management and Budget (2023)</a:t>
            </a:r>
          </a:p>
          <a:p>
            <a:pPr lvl="0"/>
            <a:r>
              <a:rPr/>
              <a:t>Before class: look up how </a:t>
            </a:r>
            <a:r>
              <a:rPr b="1"/>
              <a:t>one federal agency</a:t>
            </a:r>
            <a:r>
              <a:rPr/>
              <a:t> (USACE, EPA, FEMA, or TWDB) conducts BCA — what discount rate do they use? What counts as a benefit?</a:t>
            </a:r>
          </a:p>
          <a:p>
            <a:pPr lvl="0"/>
            <a:r>
              <a:rPr/>
              <a:t>Come ready to discuss: which rationale for discounting do you find most convincing?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Arrow, K., M. Cropper, C. Gollier, B. Groom, G. Heal, R. Newell, W. Nordhaus, et al. 2013. “Determining Benefits and Costs for Future Generations.” </a:t>
            </a:r>
            <a:r>
              <a:rPr i="1"/>
              <a:t>Science</a:t>
            </a:r>
            <a:r>
              <a:rPr/>
              <a:t> 341 (6144): 349–50. </a:t>
            </a:r>
            <a:r>
              <a:rPr>
                <a:hlinkClick r:id="rId3"/>
              </a:rPr>
              <a:t>https://doi.org/10.1126/science.1235665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U.S. Office of Management and Budget. 2023. “Circular No. A-94: Guidelines and Discount Rates for Benefit-Cost Analysis of Federal Programs.” Circular. Executive Office of the President. </a:t>
            </a:r>
            <a:r>
              <a:rPr>
                <a:hlinkClick r:id="rId4"/>
              </a:rPr>
              <a:t>https://www.whitehouse.gov/wp-content/uploads/2023/11/CircularA-94.pdf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Valuation &amp; Benefit-Cost Analysis</dc:title>
  <dc:creator>Dr. James Doss-Gollin</dc:creator>
  <cp:keywords/>
  <dcterms:created xsi:type="dcterms:W3CDTF">2026-03-06T07:42:13Z</dcterms:created>
  <dcterms:modified xsi:type="dcterms:W3CDTF">2026-03-06T07:42:13Z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2026-02-09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5</vt:lpwstr>
  </property>
</Properties>
</file>
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just covered VOI. Now I want to introduce a complementary tool.” Write both questions in different colors. “A parameter can dominate the output variance but have zero EVPI — if it doesn’t change which action is best.”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have a model — could be your dike model, a climate model, an economic model. It takes uncertain inputs and produces an output. SA asks: which inputs matter?”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“Start cheap — screening tells you which inputs to throw out. Then rank the rest. Mapping is the most expensive but most useful for decision-making.” “For your final project, you’ll want to do at least ranking.”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“You’ve already done this — in Lab 5 you ran RCP 8.5, then RCP 2.6. That’s OAT.” “It’s cheap and gives you a quick first look. But it has problems.”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 “What’s the problem with changing one thing at a time?” Sketch 2D input space: SLR on one axis, discount rate on the other. OAT only explores the cross through the center. Global SA fills the whole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“Global doesn’t mean you can’t do OAT. Morris does OAT from many random starting points. The key is covering the full input space, not just one baseline.”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“Morris is just the local calculation repeated from many different starting points. Then you look at how the sensitivity changes across the input space.”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“This one plot tells you everything. Near the origin — doesn’t matter, throw it out. Far right — it matters. If the SD is also high, it’s interacting with other inputs.”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total variance of the output splits into pieces: how much comes from each input alone, how much from pairs interacting, and so on. In practice, first-order and second-order terms capture nearly everything. You’ll rarely see higher-order interactions reported in the literature.”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</a:t>
            </a:r>
            <a:r>
              <a:rPr/>
              <a:t>S_i</a:t>
            </a:r>
            <a:r>
              <a:rPr/>
              <a:t>: if you could pin down this one input, how much would your uncertainty in the output shrink? That’s the main effect. </a:t>
            </a:r>
            <a:r>
              <a:rPr/>
              <a:t>S_{T_i}</a:t>
            </a:r>
            <a:r>
              <a:rPr/>
              <a:t>: if you pinned down everything else, how much uncertainty would be left? That captures the input’s main effect plus all its interactions. If </a:t>
            </a:r>
            <a:r>
              <a:rPr/>
              <a:t>S_i \approx S_{T_i}</a:t>
            </a:r>
            <a:r>
              <a:rPr/>
              <a:t> for every input, the model is approximately additive — no interactions.” Go slowly — this is the most notation-heavy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“This table is your cheat sheet for reading Sobol indices.” Walk through each row with a concrete example from the dike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“If someone hands you a sensitivity analysis — or you’re doing one yourself — this is your checklist.”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“This is the punchline, and it connects back to VOI. Both VOI and GSA require probability distributions over the inputs. When you can’t specify those distributions confidently — that’s deep uncertainty. That’s Week 8.”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“Two complementary tools, same requirement. Next week we break that requirement.” “Friday’s lab puts VOI to work on a house elevation problem under sea-level rise uncertainty.”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c-ebook.org/docs/html/3_sensitivity_analysis_the_basics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/f8n6zw" TargetMode="External" /><Relationship Id="rId3" Type="http://schemas.openxmlformats.org/officeDocument/2006/relationships/hyperlink" Target="https://doi.org/10.5281/zenodo.6110623" TargetMode="External" /><Relationship Id="rId4" Type="http://schemas.openxmlformats.org/officeDocument/2006/relationships/hyperlink" Target="http://onlinelibrary.wiley.com/doi/abs/10.1002/9780470725184.ch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Sensitivity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Sensitivity Analysis: The Basics</a:t>
            </a:r>
            <a:r>
              <a:rPr/>
              <a:t> from Reed et al. (2022)</a:t>
            </a:r>
          </a:p>
          <a:p>
            <a:pPr lvl="0"/>
            <a:r>
              <a:rPr/>
              <a:t>Pianosi et al. (2016)</a:t>
            </a:r>
          </a:p>
          <a:p>
            <a:pPr lvl="0"/>
            <a:r>
              <a:rPr/>
              <a:t>Saltelli et al. (2008)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Questions About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VOI</a:t>
            </a:r>
            <a:r>
              <a:rPr/>
              <a:t>: Which uncertainty, if resolved, would most change my </a:t>
            </a:r>
            <a:r>
              <a:rPr b="1"/>
              <a:t>decision</a:t>
            </a:r>
            <a:r>
              <a:rPr/>
              <a:t>?</a:t>
            </a:r>
          </a:p>
          <a:p>
            <a:pPr lvl="0"/>
            <a:r>
              <a:rPr b="1"/>
              <a:t>GSA</a:t>
            </a:r>
            <a:r>
              <a:rPr/>
              <a:t>: Which uncertainty contributes most to the variability in my </a:t>
            </a:r>
            <a:r>
              <a:rPr b="1"/>
              <a:t>output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These are </a:t>
            </a:r>
            <a:r>
              <a:rPr b="1"/>
              <a:t>not the same question</a:t>
            </a:r>
            <a:r>
              <a:rPr/>
              <a:t>, and the answers can disagree.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Sensitivity Analysis?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 investigates how variation in a model’s output is attributed to variation in its inputs (Pianosi et al. 2016).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sty m:val="p"/>
                            </m:rPr>
                            <m:t>…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Which inputs cause the largest variation in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?</a:t>
                </a:r>
              </a:p>
              <a:p>
                <a:pPr lvl="0"/>
                <a:r>
                  <a:rPr/>
                  <a:t>Are there inputs whose variability has negligible effect?</a:t>
                </a:r>
              </a:p>
              <a:p>
                <a:pPr lvl="0"/>
                <a:r>
                  <a:rPr/>
                  <a:t>Are there </a:t>
                </a:r>
                <a:r>
                  <a:rPr b="1"/>
                  <a:t>interactions</a:t>
                </a:r>
                <a:r>
                  <a:rPr/>
                  <a:t> between inputs?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Purposes of 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Screening</a:t>
            </a:r>
            <a:r>
              <a:rPr/>
              <a:t> (factor fixing): which inputs can I safely ignore?</a:t>
            </a:r>
          </a:p>
          <a:p>
            <a:pPr lvl="0" indent="-342900" marL="342900">
              <a:buAutoNum type="arabicPeriod"/>
            </a:pPr>
            <a:r>
              <a:rPr b="1"/>
              <a:t>Ranking</a:t>
            </a:r>
            <a:r>
              <a:rPr/>
              <a:t> (factor prioritization): which input matters most?</a:t>
            </a:r>
          </a:p>
          <a:p>
            <a:pPr lvl="0" indent="-342900" marL="342900">
              <a:buAutoNum type="arabicPeriod"/>
            </a:pPr>
            <a:r>
              <a:rPr b="1"/>
              <a:t>Mapping</a:t>
            </a:r>
            <a:r>
              <a:rPr/>
              <a:t>: what input combinations produce extreme outputs?</a:t>
            </a:r>
          </a:p>
          <a:p>
            <a:pPr lvl="0" indent="0" marL="0">
              <a:buNone/>
            </a:pPr>
            <a:r>
              <a:rPr/>
              <a:t>Typical workflow: screen → rank → map.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Sensitivity: One-at-a-Time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Vary one input at a baseline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x</m:t>
                        </m:r>
                      </m:e>
                    </m:acc>
                  </m:oMath>
                </a14:m>
                <a:r>
                  <a:rPr/>
                  <a:t>, hold all others fixed: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local</m:t>
                          </m:r>
                        </m:sup>
                      </m:sSubSup>
                      <m:r>
                        <m:rPr>
                          <m:sty m:val="p"/>
                        </m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sSub>
                        <m:e>
                          <m:r>
                            <m:rPr>
                              <m:sty m:val="p"/>
                            </m:rPr>
                            <m:t>|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x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Approximate with a finite difference (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evaluations):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Δ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rPr>
                                      <m:sty m:val="b"/>
                                    </m:rPr>
                                    <m:t>x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OAT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Measures sensitivity at </a:t>
            </a:r>
            <a:r>
              <a:rPr b="1"/>
              <a:t>one point</a:t>
            </a:r>
            <a:r>
              <a:rPr/>
              <a:t> — may differ elsewhere</a:t>
            </a:r>
          </a:p>
          <a:p>
            <a:pPr lvl="0"/>
            <a:r>
              <a:rPr/>
              <a:t>Misses </a:t>
            </a:r>
            <a:r>
              <a:rPr b="1"/>
              <a:t>interactions</a:t>
            </a:r>
            <a:r>
              <a:rPr/>
              <a:t> between parameters</a:t>
            </a:r>
          </a:p>
          <a:p>
            <a:pPr lvl="0"/>
            <a:r>
              <a:rPr/>
              <a:t>Baseline choice is arbitrary</a:t>
            </a:r>
          </a:p>
          <a:p>
            <a:pPr lvl="0"/>
            <a:r>
              <a:rPr/>
              <a:t>Does not explore the full input range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Global SA</a:t>
            </a:r>
            <a:r>
              <a:rPr/>
              <a:t> varies all inputs simultaneously across their full ranges.</a:t>
            </a:r>
          </a:p>
          <a:p>
            <a:pPr lvl="0"/>
            <a:r>
              <a:rPr/>
              <a:t>Captures the full range of each input</a:t>
            </a:r>
          </a:p>
          <a:p>
            <a:pPr lvl="0"/>
            <a:r>
              <a:rPr/>
              <a:t>Detects nonlinear effects</a:t>
            </a:r>
          </a:p>
          <a:p>
            <a:pPr lvl="0"/>
            <a:r>
              <a:rPr/>
              <a:t>Captures interactions between inputs</a:t>
            </a:r>
          </a:p>
          <a:p>
            <a:pPr lvl="0" indent="0" marL="0">
              <a:buNone/>
            </a:pPr>
            <a:r>
              <a:rPr/>
              <a:t>Two representative methods: </a:t>
            </a:r>
            <a:r>
              <a:rPr b="1"/>
              <a:t>Morris</a:t>
            </a:r>
            <a:r>
              <a:rPr/>
              <a:t> (OAT from many starting points) and </a:t>
            </a:r>
            <a:r>
              <a:rPr b="1"/>
              <a:t>Sobol indices</a:t>
            </a:r>
            <a:r>
              <a:rPr/>
              <a:t> (variance decomposition).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Morris Method (Elementary Effects)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Repeat the local finite difference from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random starting points. For each input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and trajectory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t>j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sSubSup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j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Δ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sSubSup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j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m:t>…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Summarize across trajectories:</a:t>
                </a:r>
              </a:p>
              <a:p>
                <a:pPr lvl="0"/>
                <a:r>
                  <a:rPr b="1"/>
                  <a:t>Mean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E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: overall influence (ranking)</a:t>
                </a:r>
              </a:p>
              <a:p>
                <a:pPr lvl="0"/>
                <a:r>
                  <a:rPr b="1"/>
                  <a:t>Std. dev. of </a:t>
                </a:r>
                <a14:m>
                  <m:oMath xmlns:m="http://schemas.openxmlformats.org/officeDocument/2006/math">
                    <m:r>
                      <m:t>E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: interactions or nonlinearity</a:t>
                </a:r>
              </a:p>
              <a:p>
                <a:pPr lvl="0" indent="0" marL="0">
                  <a:buNone/>
                </a:pPr>
                <a:r>
                  <a:rPr/>
                  <a:t>Cost: </a:t>
                </a:r>
                <a14:m>
                  <m:oMath xmlns:m="http://schemas.openxmlformats.org/officeDocument/2006/math">
                    <m: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evaluations (e.g., </a:t>
                </a:r>
                <a14:m>
                  <m:oMath xmlns:m="http://schemas.openxmlformats.org/officeDocument/2006/math">
                    <m:r>
                      <m:t>10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6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a Morris Plot</a:t>
            </a:r>
          </a:p>
        </p:txBody>
      </p:sp>
      <p:pic>
        <p:nvPicPr>
          <p:cNvPr descr="pianosi_fig_appendix_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5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Source: Pianosi et al. (2016), Appendix 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Near origin: </a:t>
            </a:r>
            <a:r>
              <a:rPr b="1"/>
              <a:t>unimportant</a:t>
            </a:r>
            <a:r>
              <a:rPr/>
              <a:t> — screen out</a:t>
            </a:r>
          </a:p>
          <a:p>
            <a:pPr lvl="0"/>
            <a:r>
              <a:rPr/>
              <a:t>Far right, low SD: strong </a:t>
            </a:r>
            <a:r>
              <a:rPr b="1"/>
              <a:t>main effect</a:t>
            </a:r>
          </a:p>
          <a:p>
            <a:pPr lvl="0"/>
            <a:r>
              <a:rPr/>
              <a:t>Far right, high SD: important and </a:t>
            </a:r>
            <a:r>
              <a:rPr b="1"/>
              <a:t>interactive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Variance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independent inputs, the total variance decomposes: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12</m:t>
                          </m:r>
                          <m:r>
                            <m:rPr>
                              <m:sty m:val="p"/>
                            </m:rPr>
                            <m:t>…</m:t>
                          </m:r>
                          <m:r>
                            <m:t>M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Var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  <m:scr m:val="double-struck"/>
                          </m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</m:dPr>
                          <m:e>
                            <m:r>
                              <m:t>Y</m:t>
                            </m:r>
                            <m:r>
                              <m:rPr>
                                <m:sty m:val="p"/>
                              </m:rPr>
                              <m:t>∣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/>
                  <a:t>: main effect of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interaction between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Higher-order terms exist but are rarely important in practice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Sobol Indices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First-order</a:t>
                </a:r>
                <a:r>
                  <a:rPr/>
                  <a:t> — if you knew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, what fraction of the variance in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would go away?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∣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Total-order</a:t>
                </a:r>
                <a:r>
                  <a:rPr/>
                  <a:t> — if you knew everything </a:t>
                </a:r>
                <a:r>
                  <a:rPr i="1"/>
                  <a:t>except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, what fraction of the variance would remain?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∣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m:t>∼</m:t>
                                      </m:r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m:t>∼</m:t>
                        </m:r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denotes all inputs </a:t>
                </a:r>
                <a:r>
                  <a:rPr i="1"/>
                  <a:t>except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Interpreting Sobol Indices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 algn="l"><a:buNone /></a:pPr><a:r><a:rPr /><a:t>Pattern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large, </a:t></a:r><a14:m><m:oMath xmlns:m="http://schemas.openxmlformats.org/officeDocument/2006/math"><m:sSub><m:e><m:r><m:t>S</m:t></m:r></m:e><m:sub><m:sSub><m:e><m:r><m:t>T</m:t></m:r></m:e><m:sub><m:r><m:t>i</m:t></m:r></m:sub></m:sSub></m:sub></m:sSub><m:r><m:rPr><m:sty m:val="p" /></m:rPr><m:t>≈</m:t></m:r><m:sSub><m:e><m:r><m:t>S</m:t></m:r></m:e><m:sub><m:r><m:t>i</m:t></m:r></m:sub></m:sSub></m:oMath></a14:m></a:p></a:txBody></a:tc><a:tc><a:txBody><a:bodyPr /><a:lstStyle /><a:p><a:pPr lvl="0" indent="0" marL="0" algn="l"><a:buNone /></a:pPr><a:r><a:rPr /><a:t>Strong main effect, few interactions</a:t></a:r></a:p></a:txBody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small, </a:t></a:r><a14:m><m:oMath xmlns:m="http://schemas.openxmlformats.org/officeDocument/2006/math"><m:sSub><m:e><m:r><m:t>S</m:t></m:r></m:e><m:sub><m:sSub><m:e><m:r><m:t>T</m:t></m:r></m:e><m:sub><m:r><m:t>i</m:t></m:r></m:sub></m:sSub></m:sub></m:sSub></m:oMath></a14:m><a:r><a:rPr /><a:t> large</a:t></a:r></a:p></a:txBody></a:tc><a:tc><a:txBody><a:bodyPr /><a:lstStyle /><a:p><a:pPr lvl="0" indent="0" marL="0" algn="l"><a:buNone /></a:pPr><a:r><a:rPr /><a:t>Matters mainly through interactions</a:t></a:r></a:p></a:txBody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small, </a:t></a:r><a14:m><m:oMath xmlns:m="http://schemas.openxmlformats.org/officeDocument/2006/math"><m:sSub><m:e><m:r><m:t>S</m:t></m:r></m:e><m:sub><m:sSub><m:e><m:r><m:t>T</m:t></m:r></m:e><m:sub><m:r><m:t>i</m:t></m:r></m:sub></m:sSub></m:sub></m:sSub></m:oMath></a14:m><a:r><a:rPr /><a:t> small</a:t></a:r></a:p></a:txBody></a:tc><a:tc><a:txBody><a:bodyPr /><a:lstStyle /><a:p><a:pPr lvl="0" indent="0" marL="0" algn="l"><a:buNone /></a:pPr><a:r><a:rPr /><a:t>Doesn’t matter much</a:t></a:r></a:p></a:txBody></a:tc></a:tr><a:tr h="0"><a:tc><a:txBody><a:bodyPr /><a:lstStyle /><a:p><a:pPr lvl="0" indent="0" marL="0" algn="l"><a:buNone /></a:pPr><a14:m><m:oMath xmlns:m="http://schemas.openxmlformats.org/officeDocument/2006/math"><m:r><m:rPr><m:sty m:val="p" /></m:rPr><m:t>∑</m:t></m:r><m:sSub><m:e><m:r><m:t>S</m:t></m:r></m:e><m:sub><m:r><m:t>i</m:t></m:r></m:sub></m:sSub><m:r><m:rPr><m:sty m:val="p" /></m:rPr><m:t>≈</m:t></m:r><m:r><m:t>1</m:t></m:r></m:oMath></a14:m></a:p></a:txBody></a:tc><a:tc><a:txBody><a:bodyPr /><a:lstStyle /><a:p><a:pPr lvl="0" indent="0" marL="0" algn="l"><a:buNone /></a:pPr><a:r><a:rPr /><a:t>Model is mostly additive</a:t></a:r></a:p></a:txBody></a:tc></a:tr></a:tbl></a:graphicData></a:graphic></p:graphicFrame></p:spTree></p:cSld>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Screening rule: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is necessary and sufficient for unimportance (Pianosi et al. 2016).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a 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 to always ask:</a:t>
            </a:r>
          </a:p>
          <a:p>
            <a:pPr lvl="0" indent="-342900" marL="342900">
              <a:buAutoNum type="arabicPeriod"/>
            </a:pPr>
            <a:r>
              <a:rPr b="1"/>
              <a:t>What inputs were varied?</a:t>
            </a:r>
            <a:r>
              <a:rPr/>
              <a:t> Different scope → different results</a:t>
            </a:r>
          </a:p>
          <a:p>
            <a:pPr lvl="0" indent="-342900" marL="342900">
              <a:buAutoNum type="arabicPeriod"/>
            </a:pPr>
            <a:r>
              <a:rPr b="1"/>
              <a:t>What distributions were assumed?</a:t>
            </a:r>
            <a:r>
              <a:rPr/>
              <a:t> Change the distribution, change the indices</a:t>
            </a:r>
          </a:p>
          <a:p>
            <a:pPr lvl="0" indent="-342900" marL="342900">
              <a:buAutoNum type="arabicPeriod"/>
            </a:pPr>
            <a:r>
              <a:rPr b="1"/>
              <a:t>Are the results converged?</a:t>
            </a:r>
            <a:r>
              <a:rPr/>
              <a:t> Finite samples give estimates, not exact values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Distribution Assumption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Every GSA calculation requires a probability distribution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Uniform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π</m:t>
                        </m:r>
                      </m:e>
                    </m:d>
                  </m:oMath>
                </a14:m>
                <a:r>
                  <a:rPr/>
                  <a:t> gives different Sobol indices than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Normal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0.1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1270000">
                  <a:buNone/>
                </a:pPr>
                <a:r>
                  <a:rPr sz="2000"/>
                  <a:t>“The definition of the input variability space is one of the most delicate steps in the application of GSA.” — Pianosi et al. (2016)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VOI</a:t>
            </a:r>
            <a:r>
              <a:rPr/>
              <a:t>: which uncertainty affects the </a:t>
            </a:r>
            <a:r>
              <a:rPr b="1"/>
              <a:t>decision</a:t>
            </a:r>
            <a:r>
              <a:rPr/>
              <a:t>?</a:t>
            </a:r>
          </a:p>
          <a:p>
            <a:pPr lvl="0"/>
            <a:r>
              <a:rPr b="1"/>
              <a:t>GSA</a:t>
            </a:r>
            <a:r>
              <a:rPr/>
              <a:t>: which uncertainty affects the </a:t>
            </a:r>
            <a:r>
              <a:rPr b="1"/>
              <a:t>output</a:t>
            </a:r>
            <a:r>
              <a:rPr/>
              <a:t>?</a:t>
            </a:r>
          </a:p>
          <a:p>
            <a:pPr lvl="0"/>
            <a:r>
              <a:rPr/>
              <a:t>These are </a:t>
            </a:r>
            <a:r>
              <a:rPr b="1"/>
              <a:t>not the same</a:t>
            </a:r>
            <a:r>
              <a:rPr/>
              <a:t> — answers can disagree</a:t>
            </a:r>
          </a:p>
          <a:p>
            <a:pPr lvl="0"/>
            <a:r>
              <a:rPr/>
              <a:t>Both require </a:t>
            </a:r>
            <a:r>
              <a:rPr b="1"/>
              <a:t>probability distributions</a:t>
            </a:r>
            <a:r>
              <a:rPr/>
              <a:t> over inputs</a:t>
            </a:r>
          </a:p>
          <a:p>
            <a:pPr lvl="0"/>
            <a:r>
              <a:rPr/>
              <a:t>When you can’t specify distributions → </a:t>
            </a:r>
            <a:r>
              <a:rPr b="1"/>
              <a:t>deep uncertainty</a:t>
            </a:r>
            <a:r>
              <a:rPr/>
              <a:t> (Week 8)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Pianosi, Francesca, Keith Beven, Jim Freer, Jim W. Hall, Jonathan Rougier, David B. Stephenson, and Thorsten Wagener. 2016. “Sensitivity Analysis of Environmental Models: A Systematic Review with Practical Workflow.” </a:t>
            </a:r>
            <a:r>
              <a:rPr i="1"/>
              <a:t>Environmental Modelling &amp; Software</a:t>
            </a:r>
            <a:r>
              <a:rPr/>
              <a:t> 79 (May): 214–32. </a:t>
            </a:r>
            <a:r>
              <a:rPr>
                <a:hlinkClick r:id="rId2"/>
              </a:rPr>
              <a:t>https://doi.org/10/f8n6zw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Reed, Patrick M., Antonia Hadjimichael, Keyvan Malek, Tina Karimi, Chris R. Vernon, Vivek Srikrishnan, Rohini S. Gupta, et al. 2022. </a:t>
            </a:r>
            <a:r>
              <a:rPr i="1"/>
              <a:t>Addressing Uncertainty in Multisector Dynamics Research</a:t>
            </a:r>
            <a:r>
              <a:rPr/>
              <a:t>. Zenodo. </a:t>
            </a:r>
            <a:r>
              <a:rPr>
                <a:hlinkClick r:id="rId3"/>
              </a:rPr>
              <a:t>https://doi.org/10.5281/zenodo.6110623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Saltelli, Andrea, Marco Ratto, Terry Andres, Francesca Campolongo, Jessica Cariboni, Debora Gatelli, Michaela Saisana, and Stefano Tarantola. 2008. </a:t>
            </a:r>
            <a:r>
              <a:rPr i="1"/>
              <a:t>Global Sensitivity Analysis: The Primer</a:t>
            </a:r>
            <a:r>
              <a:rPr/>
              <a:t>. John Wiley &amp; Sons, Ltd. </a:t>
            </a:r>
            <a:r>
              <a:rPr>
                <a:hlinkClick r:id="rId4"/>
              </a:rPr>
              <a:t>http://onlinelibrary.wiley.com/doi/abs/10.1002/9780470725184.ch1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Sensitivity Analysis</dc:title>
  <dc:creator>Dr. James Doss-Gollin</dc:creator>
  <cp:keywords/>
  <dcterms:created xsi:type="dcterms:W3CDTF">2026-02-26T05:54:10Z</dcterms:created>
  <dcterms:modified xsi:type="dcterms:W3CDTF">2026-02-26T05:54:10Z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2026-02-25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published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7</vt:lpwstr>
  </property>
</Properties>
</file>
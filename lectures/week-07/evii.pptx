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1:00. “Let’s make sure everyone has the key result from Monday.” Have the payoff table visible. Give 15 seconds for students to recall the EVPI formula.</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1:03. “A decision tree is just a picture of the formula. Let me show you what I mean.”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1:06. “Decision first, then nature. You have to commit before you know.” “The formula says the same thing: </a:t>
            </a:r>
            <a:r>
              <a:rPr/>
              <a:t>\max</a:t>
            </a:r>
            <a:r>
              <a:rPr/>
              <a:t> is on the outside, </a:t>
            </a:r>
            <a:r>
              <a:rPr/>
              <a:t>\sum</a:t>
            </a:r>
            <a:r>
              <a:rPr/>
              <a:t> is on the inside.”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1:08. Walk through each branch on the board, pointing back to the tree. “The decision node picks the branch with the lower expected cost.”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1:10. “Now nature goes first. If you know it’s raining, bring the umbrella. If you know it’s dry, leave it.”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1:12. “With perfect information, you never pay the loss AND you skip the umbrella hassle on dry days.”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1:15. Key point: “The only difference between these two trees is the order of the square and the circle. The tree is just a picture of the math.”</a:t>
            </a:r>
          </a:p>
          <a:p>
            <a:pPr lvl="0" indent="0" marL="0">
              <a:buNone/>
            </a:pPr>
          </a:p>
          <a:p>
            <a:pPr lvl="0" indent="0" marL="0">
              <a:buNone/>
            </a:pPr>
            <a:r>
              <a:rPr/>
              <a:t>Scaling: “For the umbrella, the tree and the formula say the same thing. For hard problems, you need the formula.”</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1:18. “On Monday the oracle was always right. Now the oracle is your weather app — and sometimes it’s wrong.”</a:t>
            </a:r>
          </a:p>
          <a:p>
            <a:pPr lvl="0" indent="0" marL="0">
              <a:buNone/>
            </a:pPr>
          </a:p>
          <a:p>
            <a:pPr lvl="0" indent="0" marL="0">
              <a:buNone/>
            </a:pPr>
            <a:r>
              <a:rPr/>
              <a:t>“We know the hit rate and the correct rejection rate. But to build the tree, we need different numbers. Bayes’ rule bridges the gap.”</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1:22. Walk through each step on the board. “We start with two numbers (hit rate, correct rejection) and the base rate. Total probability gives us how often the forecast says rain vs. dry.”</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1:24. “We know the signal probabilities and the payoffs. But to fill in the nature nodes, we need the posterior probabilities: what’s the chance of rain </a:t>
            </a:r>
            <a:r>
              <a:rPr i="1"/>
              <a:t>given</a:t>
            </a:r>
            <a:r>
              <a:rPr/>
              <a:t> the forecast? That’s Bayes’ rule.”</a:t>
            </a:r>
          </a:p>
          <a:p>
            <a:pPr lvl="0" indent="0" marL="0">
              <a:buNone/>
            </a:pPr>
          </a:p>
          <a:p>
            <a:pPr lvl="0" indent="0" marL="0">
              <a:buNone/>
            </a:pPr>
            <a:r>
              <a:rPr/>
              <a:t>Point to the red-highlighted nature nodes.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1:28. “Bayes’ rule does the rest. 0.27 / 0.41 = 0.66.” “If the forecast says rain, the chance of rain jumps from 30% to 66%. If it says dry, the chance drops to 5%.”</a:t>
            </a:r>
          </a:p>
          <a:p>
            <a:pPr lvl="0" indent="0" marL="0">
              <a:buNone/>
            </a:pPr>
          </a:p>
          <a:p>
            <a:pPr lvl="0" indent="0" marL="0">
              <a:buNone/>
            </a:pPr>
            <a:r>
              <a:rPr/>
              <a:t>Key normalization: the denominator P(f. rain) = 0.41 ensures the posteriors are proper probabilities.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1:30. “Compare the three trees. Without info: Decision → Nature. Perfect info: Nature → Decision. Imperfect info: Signal → Decision → Nature.”</a:t>
            </a:r>
          </a:p>
          <a:p>
            <a:pPr lvl="0" indent="0" marL="0">
              <a:buNone/>
            </a:pPr>
          </a:p>
          <a:p>
            <a:pPr lvl="0" indent="0" marL="0">
              <a:buNone/>
            </a:pPr>
            <a:r>
              <a:rPr/>
              <a:t>“The signal doesn’t tell you the state directly — it shifts your probability via Bayes’ rule. That’s the whole story of EVII in one picture.”</a:t>
            </a:r>
          </a:p>
          <a:p>
            <a:pPr lvl="0" indent="0" marL="0">
              <a:buNone/>
            </a:pPr>
          </a:p>
          <a:p>
            <a:pPr lvl="0" indent="0" marL="0">
              <a:buNone/>
            </a:pPr>
            <a:r>
              <a:rPr/>
              <a:t>Note: the bold/dashed branches already show the optimal actions — we’ll verify that next.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1:33. “The cost-loss rule from Monday works at every decision node — just use the posterior probability instead of the prior.”</a:t>
            </a:r>
          </a:p>
          <a:p>
            <a:pPr lvl="0" indent="0" marL="0">
              <a:buNone/>
            </a:pPr>
          </a:p>
          <a:p>
            <a:pPr lvl="0" indent="0" marL="0">
              <a:buNone/>
            </a:pPr>
            <a:r>
              <a:rPr/>
              <a:t>“When the forecast says rain, expected loss without protection is $33 — much more than $5, so bring it. When the forecast says dry, expected loss is only $2.50 — not worth the $5 hassle.”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1:36. “For each signal, we’ve already solved the optimal action. Now we average across the two signals, weighting by how often each signal occurs.”</a:t>
            </a:r>
          </a:p>
          <a:p>
            <a:pPr lvl="0" indent="0" marL="0">
              <a:buNone/>
            </a:pPr>
          </a:p>
          <a:p>
            <a:pPr lvl="0" indent="0" marL="0">
              <a:buNone/>
            </a:pPr>
            <a:r>
              <a:rPr/>
              <a:t>Note for precision: with exact (unrounded) posteriors, this equals exactly $3.55 because </a:t>
            </a:r>
            <a:r>
              <a:rPr/>
              <a:t>0.41 \times 5 + 0.03 \times 50 = 2.05 + 1.50 = 3.55</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1:39. “The forecast isn’t perfect, but it’s still worth $1.45 — about 41% of what a perfect oracle would give.”</a:t>
            </a:r>
          </a:p>
          <a:p>
            <a:pPr lvl="0" indent="0" marL="0">
              <a:buNone/>
            </a:pPr>
          </a:p>
          <a:p>
            <a:pPr lvl="0" indent="0" marL="0">
              <a:buNone/>
            </a:pPr>
            <a:r>
              <a:rPr/>
              <a:t>“The dangerous branch is forecast dry + actually rains: you get soaked. But that only happens about 3% of the time (0.10 × 0.30).”</a:t>
            </a:r>
          </a:p>
          <a:p>
            <a:pPr lvl="0" indent="0" marL="0">
              <a:buNone/>
            </a:pPr>
          </a:p>
          <a:p>
            <a:pPr lvl="0" indent="0" marL="0">
              <a:buNone/>
            </a:pPr>
            <a:r>
              <a:rPr/>
              <a:t>Ask: “What would make the forecast more or less valuable?” Key answers: better hit/rejection rates increase EVII; if the base rate is far from </a:t>
            </a:r>
            <a:r>
              <a:rPr/>
              <a:t>C/L</a:t>
            </a:r>
            <a:r>
              <a:rPr/>
              <a:t>, the decision is already obvious and the forecast adds little.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1:42. Walk through the three steps verbally before showing the formula. “EVPI is the ceiling — you proved that with the umbrella numbers.”</a:t>
            </a:r>
          </a:p>
          <a:p>
            <a:pPr lvl="0" indent="0" marL="0">
              <a:buNone/>
            </a:pPr>
          </a:p>
          <a:p>
            <a:pPr lvl="0" indent="0" marL="0">
              <a:buNone/>
            </a:pPr>
            <a:r>
              <a:rPr/>
              <a:t>On scaling: “The decision tree for EVII has three layers: signal, decision, nature. For the umbrella, that’s manageable — 2 signals × 2 actions × 2 states = 8 leaves. For the dike problem with a continuous forecast, you’d need to integrate over all possible signals. The formula handles this naturally. The tree would be infinite.”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1:45. “Forecasts are most valuable to decision-makers who are on the fence.” Draw a number line with </a:t>
            </a:r>
            <a:r>
              <a:rPr/>
              <a:t>C/L</a:t>
            </a:r>
            <a:r>
              <a:rPr/>
              <a:t> and </a:t>
            </a:r>
            <a:r>
              <a:rPr/>
              <a:t>p</a:t>
            </a:r>
            <a:r>
              <a:rPr/>
              <a:t> marked. When they’re close, a nudge from the forecast flips the decision. When they’re far apart, no forecast can change the outcome. “Spending money to improve a forecast is only worthwhile if the forecast actually changes decisions.”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Target: 1:48. “Three things to remember: trees picture the formula, EVII adds a signal layer, and integrals replace trees when the problem gets big.”</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1.sv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3" Type="http://schemas.openxmlformats.org/officeDocument/2006/relationships/image" Target="../media/image2.sv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3.sv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image" Target="../media/image4.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Value of Imperfect Information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Lecture</a:t>
            </a:r>
            <a:br/>
            <a:br/>
            <a:r>
              <a:rPr/>
              <a:t>James Doss-Gollin</a:t>
            </a:r>
          </a:p>
        </p:txBody>
      </p:sp>
      <p:sp>
        <p:nvSpPr>
          <p:cNvPr id="4" name="Date Placeholder 3"/>
          <p:cNvSpPr>
            <a:spLocks noGrp="1"/>
          </p:cNvSpPr>
          <p:nvPr>
            <p:ph idx="10" sz="half" type="dt"/>
          </p:nvPr>
        </p:nvSpPr>
        <p:spPr/>
        <p:txBody>
          <a:bodyPr/>
          <a:lstStyle/>
          <a:p>
            <a:pPr lvl="0" indent="0" marL="0">
              <a:buNone/>
            </a:pPr>
            <a:r>
              <a:rPr/>
              <a:t>2026-02-25</a:t>
            </a:r>
          </a:p>
        </p:txBody>
      </p:sp>
    </p:spTree>
  </p:cSld>
</p:sld>
</file>

<file path=ppt/slides/slide2.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 /><p:txBody><a:bodyPr /><a:lstStyle /><a:p><a:pPr lvl="0" indent="0" marL="0"><a:buNone /></a:pPr><a:r><a:rPr /><a:t>Recap: Monday’s Umbrella Problem</a:t></a:r></a:p></p:txBody></p:sp><p:graphicFrame><p:nvGraphicFramePr><p:cNvPr id="6" name="Content Placeholder 5" /><p:cNvGraphicFramePr><a:graphicFrameLocks noGrp="1" /></p:cNvGraphicFramePr><p:nvPr><p:ph idx="1" /></p:nvPr></p:nvGraphicFramePr><p:xfrm><a:off x="457200" y="1193800" /><a:ext cx="8229600" cy="3390900" /></p:xfrm><a:graphic><a:graphicData uri="http://schemas.openxmlformats.org/drawingml/2006/table"><a:tbl><a:tblPr firstRow="1" bandRow="1"><a:tableStyleId>{5C22544A-7EE6-4342-B048-85BDC9FD1C3A}</a:tableStyleId></a:tblPr><a:tblGrid><a:gridCol w="2743200" /><a:gridCol w="2743200" /><a:gridCol w="2743200" /></a:tblGrid><a:tr h="0"><a:tc><a:txBody><a:bodyPr /><a:lstStyle /><a:p><a:endParaRPr /></a:p></a:txBody><a:tcPr /></a:tc><a:tc><a:txBody><a:bodyPr /><a:lstStyle /><a:p><a:pPr lvl="0" indent="0" marL="0" algn="ctr"><a:buNone /></a:pPr><a:r><a:rPr /><a:t>Bring umbrella</a:t></a:r></a:p></a:txBody><a:tcPr /></a:tc><a:tc><a:txBody><a:bodyPr /><a:lstStyle /><a:p><a:pPr lvl="0" indent="0" marL="0" algn="ctr"><a:buNone /></a:pPr><a:r><a:rPr /><a:t>Don’t bring</a:t></a:r></a:p></a:txBody><a:tcPr /></a:tc></a:tr><a:tr h="0"><a:tc><a:txBody><a:bodyPr /><a:lstStyle /><a:p><a:pPr lvl="0" indent="0" marL="0" algn="l"><a:buNone /></a:pPr><a:r><a:rPr /><a:t>Rain (</a:t></a:r><a14:m><m:oMath xmlns:m="http://schemas.openxmlformats.org/officeDocument/2006/math"><m:r><m:t>p</m:t></m:r><m:r><m:rPr><m:sty m:val="p" /></m:rPr><m:t>=</m:t></m:r><m:r><m:t>0.3</m:t></m:r></m:oMath></a14:m><a:r><a:rPr /><a:t>)</a:t></a:r></a:p></a:txBody></a:tc><a:tc><a:txBody><a:bodyPr /><a:lstStyle /><a:p><a:pPr lvl="0" indent="0" marL="0" algn="ctr"><a:buNone /></a:pPr><a14:m><m:oMath xmlns:m="http://schemas.openxmlformats.org/officeDocument/2006/math"><m:r><m:rPr><m:sty m:val="p" /></m:rPr><m:t>−</m:t></m:r><m:r><m:t>5</m:t></m:r></m:oMath></a14:m></a:p></a:txBody></a:tc><a:tc><a:txBody><a:bodyPr /><a:lstStyle /><a:p><a:pPr lvl="0" indent="0" marL="0" algn="ctr"><a:buNone /></a:pPr><a14:m><m:oMath xmlns:m="http://schemas.openxmlformats.org/officeDocument/2006/math"><m:r><m:rPr><m:sty m:val="p" /></m:rPr><m:t>−</m:t></m:r><m:r><m:t>50</m:t></m:r></m:oMath></a14:m></a:p></a:txBody></a:tc></a:tr><a:tr h="0"><a:tc><a:txBody><a:bodyPr /><a:lstStyle /><a:p><a:pPr lvl="0" indent="0" marL="0" algn="l"><a:buNone /></a:pPr><a:r><a:rPr /><a:t>No rain (</a:t></a:r><a14:m><m:oMath xmlns:m="http://schemas.openxmlformats.org/officeDocument/2006/math"><m:r><m:t>1</m:t></m:r><m:r><m:rPr><m:sty m:val="p" /></m:rPr><m:t>−</m:t></m:r><m:r><m:t>p</m:t></m:r><m:r><m:rPr><m:sty m:val="p" /></m:rPr><m:t>=</m:t></m:r><m:r><m:t>0.7</m:t></m:r></m:oMath></a14:m><a:r><a:rPr /><a:t>)</a:t></a:r></a:p></a:txBody></a:tc><a:tc><a:txBody><a:bodyPr /><a:lstStyle /><a:p><a:pPr lvl="0" indent="0" marL="0" algn="ctr"><a:buNone /></a:pPr><a14:m><m:oMath xmlns:m="http://schemas.openxmlformats.org/officeDocument/2006/math"><m:r><m:rPr><m:sty m:val="p" /></m:rPr><m:t>−</m:t></m:r><m:r><m:t>5</m:t></m:r></m:oMath></a14:m></a:p></a:txBody></a:tc><a:tc><a:txBody><a:bodyPr /><a:lstStyle /><a:p><a:pPr lvl="0" indent="0" marL="0" algn="ctr"><a:buNone /></a:pPr><a14:m><m:oMath xmlns:m="http://schemas.openxmlformats.org/officeDocument/2006/math"><m:r><m:t>0</m:t></m:r></m:oMath></a14:m></a:p></a:txBody></a:tc></a:tr></a:tbl></a:graphicData></a:graphic></p:graphicFrame></p:spTree></p:cSld></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b="1"/>
                  <a:t>Without information:</a:t>
                </a:r>
                <a:r>
                  <a:rPr/>
                  <a:t> bring the umbrella, expected cost </a:t>
                </a:r>
                <a14:m>
                  <m:oMath xmlns:m="http://schemas.openxmlformats.org/officeDocument/2006/math">
                    <m:r>
                      <m:rPr>
                        <m:sty m:val="p"/>
                      </m:rPr>
                      <m:t>=</m:t>
                    </m:r>
                    <m:r>
                      <m:rPr>
                        <m:sty m:val="p"/>
                      </m:rPr>
                      <m:t>$</m:t>
                    </m:r>
                    <m:r>
                      <m:t>5.00</m:t>
                    </m:r>
                  </m:oMath>
                </a14:m>
              </a:p>
              <a:p>
                <a:pPr lvl="0"/>
                <a:r>
                  <a:rPr b="1"/>
                  <a:t>With perfect information:</a:t>
                </a:r>
                <a:r>
                  <a:rPr/>
                  <a:t> expected cost </a:t>
                </a:r>
                <a14:m>
                  <m:oMath xmlns:m="http://schemas.openxmlformats.org/officeDocument/2006/math">
                    <m:r>
                      <m:rPr>
                        <m:sty m:val="p"/>
                      </m:rPr>
                      <m:t>=</m:t>
                    </m:r>
                    <m:r>
                      <m:t>0.3</m:t>
                    </m:r>
                    <m:r>
                      <m:rPr>
                        <m:sty m:val="p"/>
                      </m:rPr>
                      <m:t>×</m:t>
                    </m:r>
                    <m:r>
                      <m:t>5</m:t>
                    </m:r>
                    <m:r>
                      <m:rPr>
                        <m:sty m:val="p"/>
                      </m:rPr>
                      <m:t>+</m:t>
                    </m:r>
                    <m:r>
                      <m:t>0.7</m:t>
                    </m:r>
                    <m:r>
                      <m:rPr>
                        <m:sty m:val="p"/>
                      </m:rPr>
                      <m:t>×</m:t>
                    </m:r>
                    <m:r>
                      <m:t>0</m:t>
                    </m:r>
                    <m:r>
                      <m:rPr>
                        <m:sty m:val="p"/>
                      </m:rPr>
                      <m:t>=</m:t>
                    </m:r>
                    <m:r>
                      <m:rPr>
                        <m:sty m:val="p"/>
                      </m:rPr>
                      <m:t>$</m:t>
                    </m:r>
                    <m:r>
                      <m:t>1.50</m:t>
                    </m:r>
                  </m:oMath>
                </a14:m>
              </a:p>
              <a:p>
                <a:pPr lvl="0"/>
                <a:r>
                  <a:rPr b="1"/>
                  <a:t>EVPI</a:t>
                </a:r>
                <a:r>
                  <a:rPr/>
                  <a:t> </a:t>
                </a:r>
                <a14:m>
                  <m:oMath xmlns:m="http://schemas.openxmlformats.org/officeDocument/2006/math">
                    <m:r>
                      <m:rPr>
                        <m:sty m:val="p"/>
                      </m:rPr>
                      <m:t>=</m:t>
                    </m:r>
                    <m:r>
                      <m:t>5.00</m:t>
                    </m:r>
                    <m:r>
                      <m:rPr>
                        <m:sty m:val="p"/>
                      </m:rPr>
                      <m:t>−</m:t>
                    </m:r>
                    <m:r>
                      <m:t>1.50</m:t>
                    </m:r>
                    <m:r>
                      <m:rPr>
                        <m:sty m:val="p"/>
                      </m:rPr>
                      <m:t>=</m:t>
                    </m:r>
                    <m:r>
                      <m:rPr>
                        <m:sty m:val="p"/>
                      </m:rPr>
                      <m:t>$</m:t>
                    </m:r>
                    <m:r>
                      <m:t>3.50</m:t>
                    </m:r>
                  </m:oMath>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Decision Trees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 decision tree represents a decision problem as a sequence of nodes.</a:t>
                </a:r>
              </a:p>
              <a:p>
                <a:pPr lvl="0"/>
                <a:r>
                  <a:rPr b="1"/>
                  <a:t>Squares</a:t>
                </a:r>
                <a:r>
                  <a:rPr/>
                  <a:t> are decisions (you choose)</a:t>
                </a:r>
              </a:p>
              <a:p>
                <a:pPr lvl="0"/>
                <a:r>
                  <a:rPr b="1"/>
                  <a:t>Circles</a:t>
                </a:r>
                <a:r>
                  <a:rPr/>
                  <a:t> are chance events (nature chooses)</a:t>
                </a:r>
              </a:p>
              <a:p>
                <a:pPr lvl="0"/>
                <a:r>
                  <a:rPr/>
                  <a:t>The order of nodes matches the order of </a:t>
                </a:r>
                <a14:m>
                  <m:oMath xmlns:m="http://schemas.openxmlformats.org/officeDocument/2006/math">
                    <m:r>
                      <m:rPr>
                        <m:sty m:val="p"/>
                      </m:rPr>
                      <m:t>max</m:t>
                    </m:r>
                  </m:oMath>
                </a14:m>
                <a:r>
                  <a:rPr/>
                  <a:t> and </a:t>
                </a:r>
                <a14:m>
                  <m:oMath xmlns:m="http://schemas.openxmlformats.org/officeDocument/2006/math">
                    <m:r>
                      <m:rPr>
                        <m:sty m:val="p"/>
                      </m:rPr>
                      <m:t>∑</m:t>
                    </m:r>
                  </m:oMath>
                </a14:m>
                <a:r>
                  <a:rPr/>
                  <a:t> in the formula</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Tree: No Information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You choose </a:t>
                </a:r>
                <a:r>
                  <a:rPr i="1"/>
                  <a:t>before</a:t>
                </a:r>
                <a:r>
                  <a:rPr/>
                  <a:t> nature reveals the state. The decision node comes first — this computes </a:t>
                </a:r>
                <a14:m>
                  <m:oMath xmlns:m="http://schemas.openxmlformats.org/officeDocument/2006/math">
                    <m:sSub>
                      <m:e>
                        <m:r>
                          <m:rPr>
                            <m:sty m:val="p"/>
                          </m:rPr>
                          <m:t>max</m:t>
                        </m:r>
                      </m:e>
                      <m:sub>
                        <m:r>
                          <m:t>a</m:t>
                        </m:r>
                      </m:sub>
                    </m:sSub>
                    <m:nary>
                      <m:naryPr>
                        <m:chr m:val="∑"/>
                        <m:limLoc m:val="undOvr"/>
                        <m:subHide m:val="off"/>
                        <m:supHide m:val="on"/>
                      </m:naryPr>
                      <m:sub>
                        <m:r>
                          <m:t>s</m:t>
                        </m:r>
                      </m:sub>
                      <m:sup>
                        <m:r>
                          <m:t>​</m:t>
                        </m:r>
                      </m:sup>
                      <m:e>
                        <m:r>
                          <m:t>U</m:t>
                        </m:r>
                      </m:e>
                    </m:nary>
                    <m:r>
                      <m:rPr>
                        <m:sty m:val="p"/>
                      </m:rPr>
                      <m:t>(</m:t>
                    </m:r>
                    <m:r>
                      <m:t>a</m:t>
                    </m:r>
                    <m:r>
                      <m:rPr>
                        <m:sty m:val="p"/>
                      </m:rPr>
                      <m:t>,</m:t>
                    </m:r>
                    <m:r>
                      <m:t>s</m:t>
                    </m:r>
                    <m:r>
                      <m:rPr>
                        <m:sty m:val="p"/>
                      </m:rPr>
                      <m:t>)</m:t>
                    </m:r>
                    <m:r>
                      <m:t> </m:t>
                    </m:r>
                    <m:r>
                      <m:t>p</m:t>
                    </m:r>
                    <m:r>
                      <m:rPr>
                        <m:sty m:val="p"/>
                      </m:rPr>
                      <m:t>(</m:t>
                    </m:r>
                    <m:r>
                      <m:t>s</m:t>
                    </m:r>
                    <m:r>
                      <m:rPr>
                        <m:sty m:val="p"/>
                      </m:rPr>
                      <m:t>)</m:t>
                    </m:r>
                  </m:oMath>
                </a14:m>
                <a:r>
                  <a:rPr/>
                  <a:t>.</a:t>
                </a:r>
              </a:p>
            </p:txBody>
          </p:sp>
        </mc:Choice>
      </mc:AlternateContent>
      <p:pic>
        <p:nvPicPr>
          <p:cNvPr descr="tree-no-info.svg" id="0" name="Picture 1"/>
          <p:cNvPicPr>
            <a:picLocks noGrp="1" noChangeAspect="1"/>
          </p:cNvPicPr>
          <p:nvPr/>
        </p:nvPicPr>
        <p:blipFill>
          <a:blip r:embed="rId3"/>
          <a:stretch>
            <a:fillRect/>
          </a:stretch>
        </p:blipFill>
        <p:spPr bwMode="auto">
          <a:xfrm>
            <a:off x="3568700" y="431800"/>
            <a:ext cx="5105400" cy="34036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Figure 1: Decision tree without information. You choose first, then nature reveals the state.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Solving the No-Information Tree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Work from the leaves back to the root:</a:t>
                </a:r>
              </a:p>
              <a:p>
                <a:pPr lvl="0" indent="0" marL="0">
                  <a:buNone/>
                </a:pPr>
                <a:r>
                  <a:rPr b="1"/>
                  <a:t>“Bring” branch:</a:t>
                </a:r>
              </a:p>
              <a:p>
                <a:pPr lvl="0" indent="0" marL="0">
                  <a:buNone/>
                </a:pPr>
                <a14:m>
                  <m:oMathPara xmlns:m="http://schemas.openxmlformats.org/officeDocument/2006/math">
                    <m:oMathParaPr>
                      <m:jc m:val="center"/>
                    </m:oMathParaPr>
                    <m:oMath>
                      <m:r>
                        <m:t>E</m:t>
                      </m:r>
                      <m:r>
                        <m:rPr>
                          <m:sty m:val="p"/>
                        </m:rPr>
                        <m:t>[</m:t>
                      </m:r>
                      <m:r>
                        <m:rPr>
                          <m:nor/>
                          <m:sty m:val="p"/>
                        </m:rPr>
                        <m:t>cost</m:t>
                      </m:r>
                      <m:r>
                        <m:rPr>
                          <m:sty m:val="p"/>
                        </m:rPr>
                        <m:t>]</m:t>
                      </m:r>
                      <m:r>
                        <m:rPr>
                          <m:sty m:val="p"/>
                        </m:rPr>
                        <m:t>=</m:t>
                      </m:r>
                      <m:r>
                        <m:t>0.3</m:t>
                      </m:r>
                      <m:r>
                        <m:rPr>
                          <m:sty m:val="p"/>
                        </m:rPr>
                        <m:t>×</m:t>
                      </m:r>
                      <m:r>
                        <m:t>5</m:t>
                      </m:r>
                      <m:r>
                        <m:rPr>
                          <m:sty m:val="p"/>
                        </m:rPr>
                        <m:t>+</m:t>
                      </m:r>
                      <m:r>
                        <m:t>0.7</m:t>
                      </m:r>
                      <m:r>
                        <m:rPr>
                          <m:sty m:val="p"/>
                        </m:rPr>
                        <m:t>×</m:t>
                      </m:r>
                      <m:r>
                        <m:t>5</m:t>
                      </m:r>
                      <m:r>
                        <m:rPr>
                          <m:sty m:val="p"/>
                        </m:rPr>
                        <m:t>=</m:t>
                      </m:r>
                      <m:r>
                        <m:t>5</m:t>
                      </m:r>
                    </m:oMath>
                  </m:oMathPara>
                </a14:m>
              </a:p>
              <a:p>
                <a:pPr lvl="0" indent="0" marL="0">
                  <a:buNone/>
                </a:pPr>
                <a:r>
                  <a:rPr b="1"/>
                  <a:t>“Don’t bring” branch:</a:t>
                </a:r>
              </a:p>
              <a:p>
                <a:pPr lvl="0" indent="0" marL="0">
                  <a:buNone/>
                </a:pPr>
                <a14:m>
                  <m:oMathPara xmlns:m="http://schemas.openxmlformats.org/officeDocument/2006/math">
                    <m:oMathParaPr>
                      <m:jc m:val="center"/>
                    </m:oMathParaPr>
                    <m:oMath>
                      <m:r>
                        <m:t>E</m:t>
                      </m:r>
                      <m:r>
                        <m:rPr>
                          <m:sty m:val="p"/>
                        </m:rPr>
                        <m:t>[</m:t>
                      </m:r>
                      <m:r>
                        <m:rPr>
                          <m:nor/>
                          <m:sty m:val="p"/>
                        </m:rPr>
                        <m:t>cost</m:t>
                      </m:r>
                      <m:r>
                        <m:rPr>
                          <m:sty m:val="p"/>
                        </m:rPr>
                        <m:t>]</m:t>
                      </m:r>
                      <m:r>
                        <m:rPr>
                          <m:sty m:val="p"/>
                        </m:rPr>
                        <m:t>=</m:t>
                      </m:r>
                      <m:r>
                        <m:t>0.3</m:t>
                      </m:r>
                      <m:r>
                        <m:rPr>
                          <m:sty m:val="p"/>
                        </m:rPr>
                        <m:t>×</m:t>
                      </m:r>
                      <m:r>
                        <m:t>50</m:t>
                      </m:r>
                      <m:r>
                        <m:rPr>
                          <m:sty m:val="p"/>
                        </m:rPr>
                        <m:t>+</m:t>
                      </m:r>
                      <m:r>
                        <m:t>0.7</m:t>
                      </m:r>
                      <m:r>
                        <m:rPr>
                          <m:sty m:val="p"/>
                        </m:rPr>
                        <m:t>×</m:t>
                      </m:r>
                      <m:r>
                        <m:t>0</m:t>
                      </m:r>
                      <m:r>
                        <m:rPr>
                          <m:sty m:val="p"/>
                        </m:rPr>
                        <m:t>=</m:t>
                      </m:r>
                      <m:r>
                        <m:t>15</m:t>
                      </m:r>
                    </m:oMath>
                  </m:oMathPara>
                </a14:m>
              </a:p>
              <a:p>
                <a:pPr lvl="0" indent="0" marL="0">
                  <a:buNone/>
                </a:pPr>
                <a:r>
                  <a:rPr/>
                  <a:t>Best action: </a:t>
                </a:r>
                <a:r>
                  <a:rPr b="1"/>
                  <a:t>bring the umbrella</a:t>
                </a:r>
                <a:r>
                  <a:rPr/>
                  <a:t>. Expected cost </a:t>
                </a:r>
                <a14:m>
                  <m:oMath xmlns:m="http://schemas.openxmlformats.org/officeDocument/2006/math">
                    <m:r>
                      <m:rPr>
                        <m:sty m:val="p"/>
                      </m:rPr>
                      <m:t>=</m:t>
                    </m:r>
                    <m:r>
                      <m:rPr>
                        <m:sty m:val="p"/>
                      </m:rPr>
                      <m:t>$</m:t>
                    </m:r>
                    <m:r>
                      <m:t>5.00</m:t>
                    </m:r>
                  </m:oMath>
                </a14:m>
                <a:r>
                  <a:rPr/>
                  <a:t>.</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Tree: Perfect Information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Nature reveals the state </a:t>
                </a:r>
                <a:r>
                  <a:rPr i="1"/>
                  <a:t>before</a:t>
                </a:r>
                <a:r>
                  <a:rPr/>
                  <a:t> you decide. The chance node comes first — this computes </a:t>
                </a:r>
                <a14:m>
                  <m:oMath xmlns:m="http://schemas.openxmlformats.org/officeDocument/2006/math">
                    <m:nary>
                      <m:naryPr>
                        <m:chr m:val="∑"/>
                        <m:limLoc m:val="undOvr"/>
                        <m:subHide m:val="off"/>
                        <m:supHide m:val="on"/>
                      </m:naryPr>
                      <m:sub>
                        <m:r>
                          <m:t>s</m:t>
                        </m:r>
                      </m:sub>
                      <m:sup>
                        <m:r>
                          <m:t>​</m:t>
                        </m:r>
                      </m:sup>
                      <m:e>
                        <m:sSub>
                          <m:e>
                            <m:r>
                              <m:rPr>
                                <m:sty m:val="p"/>
                              </m:rPr>
                              <m:t>max</m:t>
                            </m:r>
                          </m:e>
                          <m:sub>
                            <m:r>
                              <m:t>a</m:t>
                            </m:r>
                          </m:sub>
                        </m:sSub>
                      </m:e>
                    </m:nary>
                    <m:r>
                      <m:t>U</m:t>
                    </m:r>
                    <m:r>
                      <m:rPr>
                        <m:sty m:val="p"/>
                      </m:rPr>
                      <m:t>(</m:t>
                    </m:r>
                    <m:r>
                      <m:t>a</m:t>
                    </m:r>
                    <m:r>
                      <m:rPr>
                        <m:sty m:val="p"/>
                      </m:rPr>
                      <m:t>,</m:t>
                    </m:r>
                    <m:r>
                      <m:t>s</m:t>
                    </m:r>
                    <m:r>
                      <m:rPr>
                        <m:sty m:val="p"/>
                      </m:rPr>
                      <m:t>)</m:t>
                    </m:r>
                    <m:r>
                      <m:t> </m:t>
                    </m:r>
                    <m:r>
                      <m:t>p</m:t>
                    </m:r>
                    <m:r>
                      <m:rPr>
                        <m:sty m:val="p"/>
                      </m:rPr>
                      <m:t>(</m:t>
                    </m:r>
                    <m:r>
                      <m:t>s</m:t>
                    </m:r>
                    <m:r>
                      <m:rPr>
                        <m:sty m:val="p"/>
                      </m:rPr>
                      <m:t>)</m:t>
                    </m:r>
                  </m:oMath>
                </a14:m>
                <a:r>
                  <a:rPr/>
                  <a:t>.</a:t>
                </a:r>
              </a:p>
            </p:txBody>
          </p:sp>
        </mc:Choice>
      </mc:AlternateContent>
      <p:pic>
        <p:nvPicPr>
          <p:cNvPr descr="tree-perfect-info.svg" id="0" name="Picture 1"/>
          <p:cNvPicPr>
            <a:picLocks noGrp="1" noChangeAspect="1"/>
          </p:cNvPicPr>
          <p:nvPr/>
        </p:nvPicPr>
        <p:blipFill>
          <a:blip r:embed="rId3"/>
          <a:stretch>
            <a:fillRect/>
          </a:stretch>
        </p:blipFill>
        <p:spPr bwMode="auto">
          <a:xfrm>
            <a:off x="3568700" y="431800"/>
            <a:ext cx="5105400" cy="34036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Figure 2: Decision tree with perfect information. Nature reveals the state, then you choose.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Solving the Perfect-Information Tree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At each decision node, pick the cheapest action:</a:t>
                </a:r>
              </a:p>
              <a:p>
                <a:pPr lvl="0"/>
                <a:r>
                  <a:rPr b="1"/>
                  <a:t>Rain</a:t>
                </a:r>
                <a:r>
                  <a:rPr/>
                  <a:t> (prob 0.3): bring umbrella, cost </a:t>
                </a:r>
                <a14:m>
                  <m:oMath xmlns:m="http://schemas.openxmlformats.org/officeDocument/2006/math">
                    <m:r>
                      <m:rPr>
                        <m:sty m:val="p"/>
                      </m:rPr>
                      <m:t>=</m:t>
                    </m:r>
                    <m:r>
                      <m:t>5</m:t>
                    </m:r>
                  </m:oMath>
                </a14:m>
                <a:r>
                  <a:rPr/>
                  <a:t> (vs. 50 without)</a:t>
                </a:r>
              </a:p>
              <a:p>
                <a:pPr lvl="0"/>
                <a:r>
                  <a:rPr b="1"/>
                  <a:t>No rain</a:t>
                </a:r>
                <a:r>
                  <a:rPr/>
                  <a:t> (prob 0.7): leave umbrella, cost </a:t>
                </a:r>
                <a14:m>
                  <m:oMath xmlns:m="http://schemas.openxmlformats.org/officeDocument/2006/math">
                    <m:r>
                      <m:rPr>
                        <m:sty m:val="p"/>
                      </m:rPr>
                      <m:t>=</m:t>
                    </m:r>
                    <m:r>
                      <m:t>0</m:t>
                    </m:r>
                  </m:oMath>
                </a14:m>
                <a:r>
                  <a:rPr/>
                  <a:t> (vs. 5 with)</a:t>
                </a:r>
              </a:p>
              <a:p>
                <a:pPr lvl="0" indent="0" marL="0">
                  <a:buNone/>
                </a:pPr>
                <a:r>
                  <a:rPr/>
                  <a:t>Average over nature:</a:t>
                </a:r>
              </a:p>
              <a:p>
                <a:pPr lvl="0" indent="0" marL="0">
                  <a:buNone/>
                </a:pPr>
                <a14:m>
                  <m:oMathPara xmlns:m="http://schemas.openxmlformats.org/officeDocument/2006/math">
                    <m:oMathParaPr>
                      <m:jc m:val="center"/>
                    </m:oMathParaPr>
                    <m:oMath>
                      <m:r>
                        <m:t>E</m:t>
                      </m:r>
                      <m:r>
                        <m:rPr>
                          <m:sty m:val="p"/>
                        </m:rPr>
                        <m:t>[</m:t>
                      </m:r>
                      <m:r>
                        <m:rPr>
                          <m:nor/>
                          <m:sty m:val="p"/>
                        </m:rPr>
                        <m:t>cost</m:t>
                      </m:r>
                      <m:r>
                        <m:rPr>
                          <m:sty m:val="p"/>
                        </m:rPr>
                        <m:t>]</m:t>
                      </m:r>
                      <m:r>
                        <m:rPr>
                          <m:sty m:val="p"/>
                        </m:rPr>
                        <m:t>=</m:t>
                      </m:r>
                      <m:r>
                        <m:t>0.3</m:t>
                      </m:r>
                      <m:r>
                        <m:rPr>
                          <m:sty m:val="p"/>
                        </m:rPr>
                        <m:t>×</m:t>
                      </m:r>
                      <m:r>
                        <m:t>5</m:t>
                      </m:r>
                      <m:r>
                        <m:rPr>
                          <m:sty m:val="p"/>
                        </m:rPr>
                        <m:t>+</m:t>
                      </m:r>
                      <m:r>
                        <m:t>0.7</m:t>
                      </m:r>
                      <m:r>
                        <m:rPr>
                          <m:sty m:val="p"/>
                        </m:rPr>
                        <m:t>×</m:t>
                      </m:r>
                      <m:r>
                        <m:t>0</m:t>
                      </m:r>
                      <m:r>
                        <m:rPr>
                          <m:sty m:val="p"/>
                        </m:rPr>
                        <m:t>=</m:t>
                      </m:r>
                      <m:r>
                        <m:rPr>
                          <m:sty m:val="p"/>
                        </m:rPr>
                        <m:t>$</m:t>
                      </m:r>
                      <m:r>
                        <m:t>1.50</m:t>
                      </m:r>
                    </m:oMath>
                  </m:oMathPara>
                </a14:m>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EVPI From the Trees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EVPI is the gap between the two trees:</a:t>
                </a:r>
              </a:p>
              <a:p>
                <a:pPr lvl="0" indent="0" marL="0">
                  <a:buNone/>
                </a:pPr>
                <a14:m>
                  <m:oMathPara xmlns:m="http://schemas.openxmlformats.org/officeDocument/2006/math">
                    <m:oMathParaPr>
                      <m:jc m:val="center"/>
                    </m:oMathParaPr>
                    <m:oMath>
                      <m:r>
                        <m:rPr>
                          <m:nor/>
                          <m:sty m:val="p"/>
                        </m:rPr>
                        <m:t>EVPI</m:t>
                      </m:r>
                      <m:r>
                        <m:rPr>
                          <m:sty m:val="p"/>
                        </m:rPr>
                        <m:t>=</m:t>
                      </m:r>
                      <m:r>
                        <m:t>5.00</m:t>
                      </m:r>
                      <m:r>
                        <m:rPr>
                          <m:sty m:val="p"/>
                        </m:rPr>
                        <m:t>−</m:t>
                      </m:r>
                      <m:r>
                        <m:t>1.50</m:t>
                      </m:r>
                      <m:r>
                        <m:rPr>
                          <m:sty m:val="p"/>
                        </m:rPr>
                        <m:t>=</m:t>
                      </m:r>
                      <m:r>
                        <m:rPr>
                          <m:sty m:val="p"/>
                        </m:rPr>
                        <m:t>$</m:t>
                      </m:r>
                      <m:r>
                        <m:t>3.50</m:t>
                      </m:r>
                    </m:oMath>
                  </m:oMathPara>
                </a14:m>
              </a:p>
              <a:p>
                <a:pPr lvl="0" indent="0" marL="0">
                  <a:buNone/>
                </a:pPr>
                <a:r>
                  <a:rPr/>
                  <a:t>The </a:t>
                </a:r>
                <a:r>
                  <a:rPr b="1"/>
                  <a:t>only difference</a:t>
                </a:r>
                <a:r>
                  <a:rPr/>
                  <a:t> is the order of the square and the circle — which is the order of </a:t>
                </a:r>
                <a14:m>
                  <m:oMath xmlns:m="http://schemas.openxmlformats.org/officeDocument/2006/math">
                    <m:r>
                      <m:rPr>
                        <m:sty m:val="p"/>
                      </m:rPr>
                      <m:t>max</m:t>
                    </m:r>
                  </m:oMath>
                </a14:m>
                <a:r>
                  <a:rPr/>
                  <a:t> and </a:t>
                </a:r>
                <a14:m>
                  <m:oMath xmlns:m="http://schemas.openxmlformats.org/officeDocument/2006/math">
                    <m:r>
                      <m:rPr>
                        <m:sty m:val="p"/>
                      </m:rPr>
                      <m:t>∑</m:t>
                    </m:r>
                  </m:oMath>
                </a14:m>
                <a:r>
                  <a:rPr/>
                  <a:t> in the formula.</a:t>
                </a:r>
              </a:p>
              <a:p>
                <a:pPr lvl="0" indent="0" marL="0">
                  <a:buNone/>
                </a:pPr>
                <a:r>
                  <a:rPr b="1"/>
                  <a:t>Scaling note:</a:t>
                </a:r>
                <a:r>
                  <a:rPr/>
                  <a:t> imagine drawing a tree for the dike problem. The decision node fans into infinitely many heights, each into branches for sea level rise, storm surge, discount rate… The integral </a:t>
                </a:r>
                <a14:m>
                  <m:oMath xmlns:m="http://schemas.openxmlformats.org/officeDocument/2006/math">
                    <m:r>
                      <m:rPr>
                        <m:sty m:val="p"/>
                      </m:rPr>
                      <m:t>∫</m:t>
                    </m:r>
                    <m:sSub>
                      <m:e>
                        <m:r>
                          <m:rPr>
                            <m:sty m:val="p"/>
                          </m:rPr>
                          <m:t>max</m:t>
                        </m:r>
                      </m:e>
                      <m:sub>
                        <m:r>
                          <m:t>a</m:t>
                        </m:r>
                      </m:sub>
                    </m:sSub>
                    <m:r>
                      <m:t>U</m:t>
                    </m:r>
                    <m:r>
                      <m:rPr>
                        <m:sty m:val="p"/>
                      </m:rPr>
                      <m:t>(</m:t>
                    </m:r>
                    <m:r>
                      <m:t>a</m:t>
                    </m:r>
                    <m:r>
                      <m:rPr>
                        <m:sty m:val="p"/>
                      </m:rPr>
                      <m:t>,</m:t>
                    </m:r>
                    <m:r>
                      <m:t>s</m:t>
                    </m:r>
                    <m:r>
                      <m:rPr>
                        <m:sty m:val="p"/>
                      </m:rPr>
                      <m:t>)</m:t>
                    </m:r>
                    <m:r>
                      <m:t> </m:t>
                    </m:r>
                    <m:r>
                      <m:t>p</m:t>
                    </m:r>
                    <m:r>
                      <m:rPr>
                        <m:sty m:val="p"/>
                      </m:rPr>
                      <m:t>(</m:t>
                    </m:r>
                    <m:r>
                      <m:t>s</m:t>
                    </m:r>
                    <m:r>
                      <m:rPr>
                        <m:sty m:val="p"/>
                      </m:rPr>
                      <m:t>)</m:t>
                    </m:r>
                    <m:r>
                      <m:t> </m:t>
                    </m:r>
                    <m:r>
                      <m:t>d</m:t>
                    </m:r>
                    <m:r>
                      <m:t>s</m:t>
                    </m:r>
                  </m:oMath>
                </a14:m>
                <a:r>
                  <a:rPr/>
                  <a:t> is the compact version of an infinite tree.</a:t>
                </a:r>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 Imperfect Forecast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No real forecast is perfect. A forecast’s accuracy is characterized by two conditional probabilities:</a:t>
                </a:r>
              </a:p>
              <a:p>
                <a:pPr lvl="0"/>
                <a:r>
                  <a:rPr b="1"/>
                  <a:t>Hit rate:</a:t>
                </a:r>
                <a:r>
                  <a:rPr/>
                  <a:t> </a:t>
                </a:r>
                <a14:m>
                  <m:oMath xmlns:m="http://schemas.openxmlformats.org/officeDocument/2006/math">
                    <m:r>
                      <m:t>P</m:t>
                    </m:r>
                    <m:r>
                      <m:rPr>
                        <m:sty m:val="p"/>
                      </m:rPr>
                      <m:t>(</m:t>
                    </m:r>
                    <m:r>
                      <m:rPr>
                        <m:nor/>
                        <m:sty m:val="p"/>
                      </m:rPr>
                      <m:t>f. rain</m:t>
                    </m:r>
                    <m:r>
                      <m:rPr>
                        <m:sty m:val="p"/>
                      </m:rPr>
                      <m:t>∣</m:t>
                    </m:r>
                    <m:r>
                      <m:rPr>
                        <m:nor/>
                        <m:sty m:val="p"/>
                      </m:rPr>
                      <m:t>rain</m:t>
                    </m:r>
                    <m:r>
                      <m:rPr>
                        <m:sty m:val="p"/>
                      </m:rPr>
                      <m:t>)</m:t>
                    </m:r>
                    <m:r>
                      <m:rPr>
                        <m:sty m:val="p"/>
                      </m:rPr>
                      <m:t>=</m:t>
                    </m:r>
                    <m:r>
                      <m:t>0.90</m:t>
                    </m:r>
                  </m:oMath>
                </a14:m>
              </a:p>
              <a:p>
                <a:pPr lvl="0"/>
                <a:r>
                  <a:rPr b="1"/>
                  <a:t>Correct rejection rate:</a:t>
                </a:r>
                <a:r>
                  <a:rPr/>
                  <a:t> </a:t>
                </a:r>
                <a14:m>
                  <m:oMath xmlns:m="http://schemas.openxmlformats.org/officeDocument/2006/math">
                    <m:r>
                      <m:t>P</m:t>
                    </m:r>
                    <m:r>
                      <m:rPr>
                        <m:sty m:val="p"/>
                      </m:rPr>
                      <m:t>(</m:t>
                    </m:r>
                    <m:r>
                      <m:rPr>
                        <m:nor/>
                        <m:sty m:val="p"/>
                      </m:rPr>
                      <m:t>f. dry</m:t>
                    </m:r>
                    <m:r>
                      <m:rPr>
                        <m:sty m:val="p"/>
                      </m:rPr>
                      <m:t>∣</m:t>
                    </m:r>
                    <m:r>
                      <m:rPr>
                        <m:nor/>
                        <m:sty m:val="p"/>
                      </m:rPr>
                      <m:t>dry</m:t>
                    </m:r>
                    <m:r>
                      <m:rPr>
                        <m:sty m:val="p"/>
                      </m:rPr>
                      <m:t>)</m:t>
                    </m:r>
                    <m:r>
                      <m:rPr>
                        <m:sty m:val="p"/>
                      </m:rPr>
                      <m:t>=</m:t>
                    </m:r>
                    <m:r>
                      <m:t>0.80</m:t>
                    </m:r>
                  </m:oMath>
                </a14:m>
              </a:p>
              <a:p>
                <a:pPr lvl="0" indent="0" marL="0">
                  <a:buNone/>
                </a:pPr>
                <a:r>
                  <a:rPr/>
                  <a:t>These describe the forecast system, independent of the base rate.</a:t>
                </a:r>
              </a:p>
              <a:p>
                <a:pPr lvl="0" indent="0" marL="0">
                  <a:buNone/>
                </a:pPr>
                <a:r>
                  <a:rPr/>
                  <a:t>To draw the imperfect-information tree, we need </a:t>
                </a:r>
                <a14:m>
                  <m:oMath xmlns:m="http://schemas.openxmlformats.org/officeDocument/2006/math">
                    <m:r>
                      <m:t>P</m:t>
                    </m:r>
                    <m:r>
                      <m:rPr>
                        <m:sty m:val="p"/>
                      </m:rPr>
                      <m:t>(</m:t>
                    </m:r>
                    <m:r>
                      <m:rPr>
                        <m:nor/>
                        <m:sty m:val="p"/>
                      </m:rPr>
                      <m:t>f. rain</m:t>
                    </m:r>
                    <m:r>
                      <m:rPr>
                        <m:sty m:val="p"/>
                      </m:rPr>
                      <m:t>)</m:t>
                    </m:r>
                  </m:oMath>
                </a14:m>
                <a:r>
                  <a:rPr/>
                  <a:t> and </a:t>
                </a:r>
                <a14:m>
                  <m:oMath xmlns:m="http://schemas.openxmlformats.org/officeDocument/2006/math">
                    <m:r>
                      <m:t>P</m:t>
                    </m:r>
                    <m:r>
                      <m:rPr>
                        <m:sty m:val="p"/>
                      </m:rPr>
                      <m:t>(</m:t>
                    </m:r>
                    <m:r>
                      <m:rPr>
                        <m:nor/>
                        <m:sty m:val="p"/>
                      </m:rPr>
                      <m:t>rain</m:t>
                    </m:r>
                    <m:r>
                      <m:rPr>
                        <m:sty m:val="p"/>
                      </m:rPr>
                      <m:t>∣</m:t>
                    </m:r>
                    <m:r>
                      <m:rPr>
                        <m:nor/>
                        <m:sty m:val="p"/>
                      </m:rPr>
                      <m:t>f. rain</m:t>
                    </m:r>
                    <m:r>
                      <m:rPr>
                        <m:sty m:val="p"/>
                      </m:rPr>
                      <m:t>)</m:t>
                    </m:r>
                  </m:oMath>
                </a14:m>
                <a:r>
                  <a:rPr/>
                  <a:t> — those require Bayes’ rule.</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the Tree: Signal Probabilities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First, the complementary likelihoods:</a:t>
                </a:r>
              </a:p>
              <a:p>
                <a:pPr lvl="0" indent="0" marL="0">
                  <a:buNone/>
                </a:pPr>
                <a14:m>
                  <m:oMathPara xmlns:m="http://schemas.openxmlformats.org/officeDocument/2006/math">
                    <m:oMathParaPr>
                      <m:jc m:val="center"/>
                    </m:oMathParaPr>
                    <m:oMath>
                      <m:r>
                        <m:t>P</m:t>
                      </m:r>
                      <m:r>
                        <m:rPr>
                          <m:sty m:val="p"/>
                        </m:rPr>
                        <m:t>(</m:t>
                      </m:r>
                      <m:r>
                        <m:rPr>
                          <m:nor/>
                          <m:sty m:val="p"/>
                        </m:rPr>
                        <m:t>f. dry</m:t>
                      </m:r>
                      <m:r>
                        <m:rPr>
                          <m:sty m:val="p"/>
                        </m:rPr>
                        <m:t>∣</m:t>
                      </m:r>
                      <m:r>
                        <m:rPr>
                          <m:nor/>
                          <m:sty m:val="p"/>
                        </m:rPr>
                        <m:t>rain</m:t>
                      </m:r>
                      <m:r>
                        <m:rPr>
                          <m:sty m:val="p"/>
                        </m:rPr>
                        <m:t>)</m:t>
                      </m:r>
                      <m:r>
                        <m:rPr>
                          <m:sty m:val="p"/>
                        </m:rPr>
                        <m:t>=</m:t>
                      </m:r>
                      <m:r>
                        <m:t>1</m:t>
                      </m:r>
                      <m:r>
                        <m:rPr>
                          <m:sty m:val="p"/>
                        </m:rPr>
                        <m:t>−</m:t>
                      </m:r>
                      <m:r>
                        <m:t>0.90</m:t>
                      </m:r>
                      <m:r>
                        <m:rPr>
                          <m:sty m:val="p"/>
                        </m:rPr>
                        <m:t>=</m:t>
                      </m:r>
                      <m:r>
                        <m:t>0.10</m:t>
                      </m:r>
                      <m:r>
                        <m:rPr>
                          <m:sty m:val="p"/>
                        </m:rPr>
                        <m:t>,</m:t>
                      </m:r>
                      <m:r>
                        <m:t>  </m:t>
                      </m:r>
                      <m:r>
                        <m:t>P</m:t>
                      </m:r>
                      <m:r>
                        <m:rPr>
                          <m:sty m:val="p"/>
                        </m:rPr>
                        <m:t>(</m:t>
                      </m:r>
                      <m:r>
                        <m:rPr>
                          <m:nor/>
                          <m:sty m:val="p"/>
                        </m:rPr>
                        <m:t>f. rain</m:t>
                      </m:r>
                      <m:r>
                        <m:rPr>
                          <m:sty m:val="p"/>
                        </m:rPr>
                        <m:t>∣</m:t>
                      </m:r>
                      <m:r>
                        <m:rPr>
                          <m:nor/>
                          <m:sty m:val="p"/>
                        </m:rPr>
                        <m:t>dry</m:t>
                      </m:r>
                      <m:r>
                        <m:rPr>
                          <m:sty m:val="p"/>
                        </m:rPr>
                        <m:t>)</m:t>
                      </m:r>
                      <m:r>
                        <m:rPr>
                          <m:sty m:val="p"/>
                        </m:rPr>
                        <m:t>=</m:t>
                      </m:r>
                      <m:r>
                        <m:t>1</m:t>
                      </m:r>
                      <m:r>
                        <m:rPr>
                          <m:sty m:val="p"/>
                        </m:rPr>
                        <m:t>−</m:t>
                      </m:r>
                      <m:r>
                        <m:t>0.80</m:t>
                      </m:r>
                      <m:r>
                        <m:rPr>
                          <m:sty m:val="p"/>
                        </m:rPr>
                        <m:t>=</m:t>
                      </m:r>
                      <m:r>
                        <m:t>0.20</m:t>
                      </m:r>
                    </m:oMath>
                  </m:oMathPara>
                </a14:m>
              </a:p>
              <a:p>
                <a:pPr lvl="0" indent="0" marL="0">
                  <a:buNone/>
                </a:pPr>
                <a:r>
                  <a:rPr/>
                  <a:t>Then the law of total probability gives the signal probabilities:</a:t>
                </a:r>
              </a:p>
              <a:p>
                <a:pPr lvl="0" indent="0" marL="0">
                  <a:buNone/>
                </a:pPr>
                <a14:m>
                  <m:oMathPara xmlns:m="http://schemas.openxmlformats.org/officeDocument/2006/math">
                    <m:oMathParaPr>
                      <m:jc m:val="center"/>
                    </m:oMathParaPr>
                    <m:oMath>
                      <m:r>
                        <m:t>P</m:t>
                      </m:r>
                      <m:r>
                        <m:rPr>
                          <m:sty m:val="p"/>
                        </m:rPr>
                        <m:t>(</m:t>
                      </m:r>
                      <m:r>
                        <m:rPr>
                          <m:nor/>
                          <m:sty m:val="p"/>
                        </m:rPr>
                        <m:t>f. rain</m:t>
                      </m:r>
                      <m:r>
                        <m:rPr>
                          <m:sty m:val="p"/>
                        </m:rPr>
                        <m:t>)</m:t>
                      </m:r>
                      <m:r>
                        <m:rPr>
                          <m:sty m:val="p"/>
                        </m:rPr>
                        <m:t>=</m:t>
                      </m:r>
                      <m:limLow>
                        <m:e>
                          <m:limLow>
                            <m:e>
                              <m:r>
                                <m:t>0.90</m:t>
                              </m:r>
                              <m:r>
                                <m:rPr>
                                  <m:sty m:val="p"/>
                                </m:rPr>
                                <m:t>×</m:t>
                              </m:r>
                              <m:r>
                                <m:t>0.30</m:t>
                              </m:r>
                            </m:e>
                            <m:lim>
                              <m:r>
                                <m:rPr>
                                  <m:sty m:val="p"/>
                                </m:rPr>
                                <m:t>⏟</m:t>
                              </m:r>
                            </m:lim>
                          </m:limLow>
                        </m:e>
                        <m:lim>
                          <m:r>
                            <m:t>0.27</m:t>
                          </m:r>
                        </m:lim>
                      </m:limLow>
                      <m:r>
                        <m:rPr>
                          <m:sty m:val="p"/>
                        </m:rPr>
                        <m:t>+</m:t>
                      </m:r>
                      <m:limLow>
                        <m:e>
                          <m:limLow>
                            <m:e>
                              <m:r>
                                <m:t>0.20</m:t>
                              </m:r>
                              <m:r>
                                <m:rPr>
                                  <m:sty m:val="p"/>
                                </m:rPr>
                                <m:t>×</m:t>
                              </m:r>
                              <m:r>
                                <m:t>0.70</m:t>
                              </m:r>
                            </m:e>
                            <m:lim>
                              <m:r>
                                <m:rPr>
                                  <m:sty m:val="p"/>
                                </m:rPr>
                                <m:t>⏟</m:t>
                              </m:r>
                            </m:lim>
                          </m:limLow>
                        </m:e>
                        <m:lim>
                          <m:r>
                            <m:t>0.14</m:t>
                          </m:r>
                        </m:lim>
                      </m:limLow>
                      <m:r>
                        <m:rPr>
                          <m:sty m:val="p"/>
                        </m:rPr>
                        <m:t>=</m:t>
                      </m:r>
                      <m:r>
                        <m:t>0.41</m:t>
                      </m:r>
                    </m:oMath>
                  </m:oMathPara>
                </a14:m>
              </a:p>
              <a:p>
                <a:pPr lvl="0" indent="0" marL="0">
                  <a:buNone/>
                </a:pPr>
                <a14:m>
                  <m:oMathPara xmlns:m="http://schemas.openxmlformats.org/officeDocument/2006/math">
                    <m:oMathParaPr>
                      <m:jc m:val="center"/>
                    </m:oMathParaPr>
                    <m:oMath>
                      <m:r>
                        <m:t>P</m:t>
                      </m:r>
                      <m:r>
                        <m:rPr>
                          <m:sty m:val="p"/>
                        </m:rPr>
                        <m:t>(</m:t>
                      </m:r>
                      <m:r>
                        <m:rPr>
                          <m:nor/>
                          <m:sty m:val="p"/>
                        </m:rPr>
                        <m:t>f. dry</m:t>
                      </m:r>
                      <m:r>
                        <m:rPr>
                          <m:sty m:val="p"/>
                        </m:rPr>
                        <m:t>)</m:t>
                      </m:r>
                      <m:r>
                        <m:rPr>
                          <m:sty m:val="p"/>
                        </m:rPr>
                        <m:t>=</m:t>
                      </m:r>
                      <m:r>
                        <m:t>1</m:t>
                      </m:r>
                      <m:r>
                        <m:rPr>
                          <m:sty m:val="p"/>
                        </m:rPr>
                        <m:t>−</m:t>
                      </m:r>
                      <m:r>
                        <m:t>0.41</m:t>
                      </m:r>
                      <m:r>
                        <m:rPr>
                          <m:sty m:val="p"/>
                        </m:rPr>
                        <m:t>=</m:t>
                      </m:r>
                      <m:r>
                        <m:t>0.59</m:t>
                      </m:r>
                    </m:oMath>
                  </m:oMathPara>
                </a14:m>
              </a:p>
              <a:p>
                <a:pPr lvl="0" indent="0" marL="0">
                  <a:buNone/>
                </a:pPr>
                <a:r>
                  <a:rPr/>
                  <a:t>These are the </a:t>
                </a:r>
                <a:r>
                  <a:rPr b="1"/>
                  <a:t>first branches</a:t>
                </a:r>
                <a:r>
                  <a:rPr/>
                  <a:t> of the imperfect-information tree.</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Incomplete Tree</a:t>
            </a:r>
          </a:p>
        </p:txBody>
      </p:sp>
      <p:sp>
        <p:nvSpPr>
          <p:cNvPr id="4" name="Text Placeholder 3"/>
          <p:cNvSpPr>
            <a:spLocks noGrp="1"/>
          </p:cNvSpPr>
          <p:nvPr>
            <p:ph idx="2" sz="half" type="body"/>
          </p:nvPr>
        </p:nvSpPr>
        <p:spPr/>
        <p:txBody>
          <a:bodyPr/>
          <a:lstStyle/>
          <a:p>
            <a:pPr lvl="0" indent="0" marL="0">
              <a:buNone/>
            </a:pPr>
            <a:r>
              <a:rPr/>
              <a:t>We can draw the first two layers, but the nature nodes need posterior probabilities we haven’t computed yet.</a:t>
            </a:r>
          </a:p>
        </p:txBody>
      </p:sp>
      <p:pic>
        <p:nvPicPr>
          <p:cNvPr descr="tree-incomplete.svg" id="0" name="Picture 1"/>
          <p:cNvPicPr>
            <a:picLocks noGrp="1" noChangeAspect="1"/>
          </p:cNvPicPr>
          <p:nvPr/>
        </p:nvPicPr>
        <p:blipFill>
          <a:blip r:embed="rId3"/>
          <a:stretch>
            <a:fillRect/>
          </a:stretch>
        </p:blipFill>
        <p:spPr bwMode="auto">
          <a:xfrm>
            <a:off x="3568700" y="431800"/>
            <a:ext cx="5105400" cy="34036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Figure 3: Incomplete imperfect-information tree. The signal and decision layers are known, but the posterior probabilities at the nature nodes require Bayes’ rule.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the Tree: Posterior Probabilities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Apply Bayes’ rule to fill in the nature nodes:</a:t>
                </a:r>
              </a:p>
              <a:p>
                <a:pPr lvl="0" indent="0" marL="0">
                  <a:buNone/>
                </a:pPr>
                <a14:m>
                  <m:oMathPara xmlns:m="http://schemas.openxmlformats.org/officeDocument/2006/math">
                    <m:oMathParaPr>
                      <m:jc m:val="center"/>
                    </m:oMathParaPr>
                    <m:oMath>
                      <m:r>
                        <m:t>P</m:t>
                      </m:r>
                      <m:r>
                        <m:rPr>
                          <m:sty m:val="p"/>
                        </m:rPr>
                        <m:t>(</m:t>
                      </m:r>
                      <m:r>
                        <m:rPr>
                          <m:nor/>
                          <m:sty m:val="p"/>
                        </m:rPr>
                        <m:t>rain</m:t>
                      </m:r>
                      <m:r>
                        <m:rPr>
                          <m:sty m:val="p"/>
                        </m:rPr>
                        <m:t>∣</m:t>
                      </m:r>
                      <m:r>
                        <m:rPr>
                          <m:nor/>
                          <m:sty m:val="p"/>
                        </m:rPr>
                        <m:t>f. rain</m:t>
                      </m:r>
                      <m:r>
                        <m:rPr>
                          <m:sty m:val="p"/>
                        </m:rPr>
                        <m:t>)</m:t>
                      </m:r>
                      <m:r>
                        <m:rPr>
                          <m:sty m:val="p"/>
                        </m:rPr>
                        <m:t>=</m:t>
                      </m:r>
                      <m:f>
                        <m:fPr>
                          <m:type m:val="bar"/>
                        </m:fPr>
                        <m:num>
                          <m:r>
                            <m:t>P</m:t>
                          </m:r>
                          <m:r>
                            <m:rPr>
                              <m:sty m:val="p"/>
                            </m:rPr>
                            <m:t>(</m:t>
                          </m:r>
                          <m:r>
                            <m:rPr>
                              <m:nor/>
                              <m:sty m:val="p"/>
                            </m:rPr>
                            <m:t>f. rain</m:t>
                          </m:r>
                          <m:r>
                            <m:rPr>
                              <m:sty m:val="p"/>
                            </m:rPr>
                            <m:t>∣</m:t>
                          </m:r>
                          <m:r>
                            <m:rPr>
                              <m:nor/>
                              <m:sty m:val="p"/>
                            </m:rPr>
                            <m:t>rain</m:t>
                          </m:r>
                          <m:r>
                            <m:rPr>
                              <m:sty m:val="p"/>
                            </m:rPr>
                            <m:t>)</m:t>
                          </m:r>
                          <m:r>
                            <m:rPr>
                              <m:sty m:val="p"/>
                            </m:rPr>
                            <m:t>⋅</m:t>
                          </m:r>
                          <m:r>
                            <m:t>p</m:t>
                          </m:r>
                        </m:num>
                        <m:den>
                          <m:r>
                            <m:t>P</m:t>
                          </m:r>
                          <m:r>
                            <m:rPr>
                              <m:sty m:val="p"/>
                            </m:rPr>
                            <m:t>(</m:t>
                          </m:r>
                          <m:r>
                            <m:rPr>
                              <m:nor/>
                              <m:sty m:val="p"/>
                            </m:rPr>
                            <m:t>f. rain</m:t>
                          </m:r>
                          <m:r>
                            <m:rPr>
                              <m:sty m:val="p"/>
                            </m:rPr>
                            <m:t>)</m:t>
                          </m:r>
                        </m:den>
                      </m:f>
                      <m:r>
                        <m:rPr>
                          <m:sty m:val="p"/>
                        </m:rPr>
                        <m:t>=</m:t>
                      </m:r>
                      <m:f>
                        <m:fPr>
                          <m:type m:val="bar"/>
                        </m:fPr>
                        <m:num>
                          <m:r>
                            <m:t>0.90</m:t>
                          </m:r>
                          <m:r>
                            <m:rPr>
                              <m:sty m:val="p"/>
                            </m:rPr>
                            <m:t>×</m:t>
                          </m:r>
                          <m:r>
                            <m:t>0.30</m:t>
                          </m:r>
                        </m:num>
                        <m:den>
                          <m:r>
                            <m:t>0.41</m:t>
                          </m:r>
                        </m:den>
                      </m:f>
                      <m:r>
                        <m:rPr>
                          <m:sty m:val="p"/>
                        </m:rPr>
                        <m:t>=</m:t>
                      </m:r>
                      <m:f>
                        <m:fPr>
                          <m:type m:val="bar"/>
                        </m:fPr>
                        <m:num>
                          <m:r>
                            <m:t>0.27</m:t>
                          </m:r>
                        </m:num>
                        <m:den>
                          <m:r>
                            <m:t>0.41</m:t>
                          </m:r>
                        </m:den>
                      </m:f>
                      <m:r>
                        <m:rPr>
                          <m:sty m:val="p"/>
                        </m:rPr>
                        <m:t>≈</m:t>
                      </m:r>
                      <m:r>
                        <m:t>0.66</m:t>
                      </m:r>
                    </m:oMath>
                  </m:oMathPara>
                </a14:m>
              </a:p>
              <a:p>
                <a:pPr lvl="0" indent="0" marL="0">
                  <a:buNone/>
                </a:pPr>
                <a14:m>
                  <m:oMathPara xmlns:m="http://schemas.openxmlformats.org/officeDocument/2006/math">
                    <m:oMathParaPr>
                      <m:jc m:val="center"/>
                    </m:oMathParaPr>
                    <m:oMath>
                      <m:r>
                        <m:t>P</m:t>
                      </m:r>
                      <m:r>
                        <m:rPr>
                          <m:sty m:val="p"/>
                        </m:rPr>
                        <m:t>(</m:t>
                      </m:r>
                      <m:r>
                        <m:rPr>
                          <m:nor/>
                          <m:sty m:val="p"/>
                        </m:rPr>
                        <m:t>rain</m:t>
                      </m:r>
                      <m:r>
                        <m:rPr>
                          <m:sty m:val="p"/>
                        </m:rPr>
                        <m:t>∣</m:t>
                      </m:r>
                      <m:r>
                        <m:rPr>
                          <m:nor/>
                          <m:sty m:val="p"/>
                        </m:rPr>
                        <m:t>f. dry</m:t>
                      </m:r>
                      <m:r>
                        <m:rPr>
                          <m:sty m:val="p"/>
                        </m:rPr>
                        <m:t>)</m:t>
                      </m:r>
                      <m:r>
                        <m:rPr>
                          <m:sty m:val="p"/>
                        </m:rPr>
                        <m:t>=</m:t>
                      </m:r>
                      <m:f>
                        <m:fPr>
                          <m:type m:val="bar"/>
                        </m:fPr>
                        <m:num>
                          <m:r>
                            <m:t>P</m:t>
                          </m:r>
                          <m:r>
                            <m:rPr>
                              <m:sty m:val="p"/>
                            </m:rPr>
                            <m:t>(</m:t>
                          </m:r>
                          <m:r>
                            <m:rPr>
                              <m:nor/>
                              <m:sty m:val="p"/>
                            </m:rPr>
                            <m:t>f. dry</m:t>
                          </m:r>
                          <m:r>
                            <m:rPr>
                              <m:sty m:val="p"/>
                            </m:rPr>
                            <m:t>∣</m:t>
                          </m:r>
                          <m:r>
                            <m:rPr>
                              <m:nor/>
                              <m:sty m:val="p"/>
                            </m:rPr>
                            <m:t>rain</m:t>
                          </m:r>
                          <m:r>
                            <m:rPr>
                              <m:sty m:val="p"/>
                            </m:rPr>
                            <m:t>)</m:t>
                          </m:r>
                          <m:r>
                            <m:rPr>
                              <m:sty m:val="p"/>
                            </m:rPr>
                            <m:t>⋅</m:t>
                          </m:r>
                          <m:r>
                            <m:t>p</m:t>
                          </m:r>
                        </m:num>
                        <m:den>
                          <m:r>
                            <m:t>P</m:t>
                          </m:r>
                          <m:r>
                            <m:rPr>
                              <m:sty m:val="p"/>
                            </m:rPr>
                            <m:t>(</m:t>
                          </m:r>
                          <m:r>
                            <m:rPr>
                              <m:nor/>
                              <m:sty m:val="p"/>
                            </m:rPr>
                            <m:t>f. dry</m:t>
                          </m:r>
                          <m:r>
                            <m:rPr>
                              <m:sty m:val="p"/>
                            </m:rPr>
                            <m:t>)</m:t>
                          </m:r>
                        </m:den>
                      </m:f>
                      <m:r>
                        <m:rPr>
                          <m:sty m:val="p"/>
                        </m:rPr>
                        <m:t>=</m:t>
                      </m:r>
                      <m:f>
                        <m:fPr>
                          <m:type m:val="bar"/>
                        </m:fPr>
                        <m:num>
                          <m:r>
                            <m:t>0.10</m:t>
                          </m:r>
                          <m:r>
                            <m:rPr>
                              <m:sty m:val="p"/>
                            </m:rPr>
                            <m:t>×</m:t>
                          </m:r>
                          <m:r>
                            <m:t>0.30</m:t>
                          </m:r>
                        </m:num>
                        <m:den>
                          <m:r>
                            <m:t>0.59</m:t>
                          </m:r>
                        </m:den>
                      </m:f>
                      <m:r>
                        <m:rPr>
                          <m:sty m:val="p"/>
                        </m:rPr>
                        <m:t>=</m:t>
                      </m:r>
                      <m:f>
                        <m:fPr>
                          <m:type m:val="bar"/>
                        </m:fPr>
                        <m:num>
                          <m:r>
                            <m:t>0.03</m:t>
                          </m:r>
                        </m:num>
                        <m:den>
                          <m:r>
                            <m:t>0.59</m:t>
                          </m:r>
                        </m:den>
                      </m:f>
                      <m:r>
                        <m:rPr>
                          <m:sty m:val="p"/>
                        </m:rPr>
                        <m:t>≈</m:t>
                      </m:r>
                      <m:r>
                        <m:t>0.05</m:t>
                      </m:r>
                    </m:oMath>
                  </m:oMathPara>
                </a14:m>
              </a:p>
              <a:p>
                <a:pPr lvl="0" indent="0" marL="0">
                  <a:buNone/>
                </a:pPr>
                <a:r>
                  <a:rPr/>
                  <a:t>The forecast shifts the probability from the base rate of 0.30 to </a:t>
                </a:r>
                <a:r>
                  <a:rPr b="1"/>
                  <a:t>0.66</a:t>
                </a:r>
                <a:r>
                  <a:rPr/>
                  <a:t> (forecast rain) or </a:t>
                </a:r>
                <a:r>
                  <a:rPr b="1"/>
                  <a:t>0.05</a:t>
                </a:r>
                <a:r>
                  <a:rPr/>
                  <a:t> (forecast dry).</a:t>
                </a:r>
              </a:p>
            </p:txBody>
          </p:sp>
        </mc:Choice>
      </mc:AlternateContent>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Complete Tree</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Now we can fill in every number. Three layers: </a:t>
                </a:r>
                <a:r>
                  <a:rPr b="1"/>
                  <a:t>Signal</a:t>
                </a:r>
                <a:r>
                  <a:rPr/>
                  <a:t> (chance) </a:t>
                </a:r>
                <a14:m>
                  <m:oMath xmlns:m="http://schemas.openxmlformats.org/officeDocument/2006/math">
                    <m:r>
                      <m:rPr>
                        <m:sty m:val="p"/>
                      </m:rPr>
                      <m:t>→</m:t>
                    </m:r>
                  </m:oMath>
                </a14:m>
                <a:r>
                  <a:rPr/>
                  <a:t> </a:t>
                </a:r>
                <a:r>
                  <a:rPr b="1"/>
                  <a:t>Decision</a:t>
                </a:r>
                <a:r>
                  <a:rPr/>
                  <a:t> (you) </a:t>
                </a:r>
                <a14:m>
                  <m:oMath xmlns:m="http://schemas.openxmlformats.org/officeDocument/2006/math">
                    <m:r>
                      <m:rPr>
                        <m:sty m:val="p"/>
                      </m:rPr>
                      <m:t>→</m:t>
                    </m:r>
                  </m:oMath>
                </a14:m>
                <a:r>
                  <a:rPr/>
                  <a:t> </a:t>
                </a:r>
                <a:r>
                  <a:rPr b="1"/>
                  <a:t>Nature</a:t>
                </a:r>
                <a:r>
                  <a:rPr/>
                  <a:t> (chance).</a:t>
                </a:r>
              </a:p>
            </p:txBody>
          </p:sp>
        </mc:Choice>
      </mc:AlternateContent>
      <p:pic>
        <p:nvPicPr>
          <p:cNvPr descr="tree-imperfect.svg" id="0" name="Picture 1"/>
          <p:cNvPicPr>
            <a:picLocks noGrp="1" noChangeAspect="1"/>
          </p:cNvPicPr>
          <p:nvPr/>
        </p:nvPicPr>
        <p:blipFill>
          <a:blip r:embed="rId3"/>
          <a:stretch>
            <a:fillRect/>
          </a:stretch>
        </p:blipFill>
        <p:spPr bwMode="auto">
          <a:xfrm>
            <a:off x="3568700" y="431800"/>
            <a:ext cx="5105400" cy="34036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Figure 4: Decision tree with an imperfect forecast. Posterior probabilities from Bayes’ rule replace the prior at the nature nodes.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Solving the Tree: Optimal Actions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At each decision node, apply Monday’s cost-loss rule: bring the umbrella when </a:t>
                </a:r>
                <a14:m>
                  <m:oMath xmlns:m="http://schemas.openxmlformats.org/officeDocument/2006/math">
                    <m:r>
                      <m:t>P</m:t>
                    </m:r>
                    <m:r>
                      <m:rPr>
                        <m:sty m:val="p"/>
                      </m:rPr>
                      <m:t>(</m:t>
                    </m:r>
                    <m:r>
                      <m:rPr>
                        <m:nor/>
                        <m:sty m:val="p"/>
                      </m:rPr>
                      <m:t>rain</m:t>
                    </m:r>
                    <m:r>
                      <m:rPr>
                        <m:sty m:val="p"/>
                      </m:rPr>
                      <m:t>)</m:t>
                    </m:r>
                    <m:r>
                      <m:rPr>
                        <m:sty m:val="p"/>
                      </m:rPr>
                      <m:t>×</m:t>
                    </m:r>
                    <m:r>
                      <m:t>L</m:t>
                    </m:r>
                    <m:r>
                      <m:rPr>
                        <m:sty m:val="p"/>
                      </m:rPr>
                      <m:t>&gt;</m:t>
                    </m:r>
                    <m:r>
                      <m:t>C</m:t>
                    </m:r>
                  </m:oMath>
                </a14:m>
                <a:r>
                  <a:rPr/>
                  <a:t>.</a:t>
                </a:r>
              </a:p>
              <a:p>
                <a:pPr lvl="0"/>
                <a:r>
                  <a:rPr b="1"/>
                  <a:t>Forecast rain</a:t>
                </a:r>
                <a:r>
                  <a:rPr/>
                  <a:t> (</a:t>
                </a:r>
                <a14:m>
                  <m:oMath xmlns:m="http://schemas.openxmlformats.org/officeDocument/2006/math">
                    <m:r>
                      <m:t>P</m:t>
                    </m:r>
                    <m:r>
                      <m:rPr>
                        <m:sty m:val="p"/>
                      </m:rPr>
                      <m:t>(</m:t>
                    </m:r>
                    <m:r>
                      <m:rPr>
                        <m:nor/>
                        <m:sty m:val="p"/>
                      </m:rPr>
                      <m:t>rain</m:t>
                    </m:r>
                    <m:r>
                      <m:rPr>
                        <m:sty m:val="p"/>
                      </m:rPr>
                      <m:t>)</m:t>
                    </m:r>
                    <m:r>
                      <m:rPr>
                        <m:sty m:val="p"/>
                      </m:rPr>
                      <m:t>=</m:t>
                    </m:r>
                    <m:r>
                      <m:t>0.66</m:t>
                    </m:r>
                  </m:oMath>
                </a14:m>
                <a:r>
                  <a:rPr/>
                  <a:t>): </a:t>
                </a:r>
                <a14:m>
                  <m:oMath xmlns:m="http://schemas.openxmlformats.org/officeDocument/2006/math">
                    <m:r>
                      <m:t>0.66</m:t>
                    </m:r>
                    <m:r>
                      <m:rPr>
                        <m:sty m:val="p"/>
                      </m:rPr>
                      <m:t>×</m:t>
                    </m:r>
                    <m:r>
                      <m:t>50</m:t>
                    </m:r>
                    <m:r>
                      <m:rPr>
                        <m:sty m:val="p"/>
                      </m:rPr>
                      <m:t>=</m:t>
                    </m:r>
                    <m:r>
                      <m:t>33</m:t>
                    </m:r>
                    <m:r>
                      <m:rPr>
                        <m:sty m:val="p"/>
                      </m:rPr>
                      <m:t>&gt;</m:t>
                    </m:r>
                    <m:r>
                      <m:t>5</m:t>
                    </m:r>
                  </m:oMath>
                </a14:m>
                <a:r>
                  <a:rPr/>
                  <a:t> </a:t>
                </a:r>
                <a14:m>
                  <m:oMath xmlns:m="http://schemas.openxmlformats.org/officeDocument/2006/math">
                    <m:r>
                      <m:rPr>
                        <m:sty m:val="p"/>
                      </m:rPr>
                      <m:t>⇒</m:t>
                    </m:r>
                  </m:oMath>
                </a14:m>
                <a:r>
                  <a:rPr/>
                  <a:t> </a:t>
                </a:r>
                <a:r>
                  <a:rPr b="1"/>
                  <a:t>bring umbrella</a:t>
                </a:r>
              </a:p>
              <a:p>
                <a:pPr lvl="0"/>
                <a:r>
                  <a:rPr b="1"/>
                  <a:t>Forecast dry</a:t>
                </a:r>
                <a:r>
                  <a:rPr/>
                  <a:t> (</a:t>
                </a:r>
                <a14:m>
                  <m:oMath xmlns:m="http://schemas.openxmlformats.org/officeDocument/2006/math">
                    <m:r>
                      <m:t>P</m:t>
                    </m:r>
                    <m:r>
                      <m:rPr>
                        <m:sty m:val="p"/>
                      </m:rPr>
                      <m:t>(</m:t>
                    </m:r>
                    <m:r>
                      <m:rPr>
                        <m:nor/>
                        <m:sty m:val="p"/>
                      </m:rPr>
                      <m:t>rain</m:t>
                    </m:r>
                    <m:r>
                      <m:rPr>
                        <m:sty m:val="p"/>
                      </m:rPr>
                      <m:t>)</m:t>
                    </m:r>
                    <m:r>
                      <m:rPr>
                        <m:sty m:val="p"/>
                      </m:rPr>
                      <m:t>=</m:t>
                    </m:r>
                    <m:r>
                      <m:t>0.05</m:t>
                    </m:r>
                  </m:oMath>
                </a14:m>
                <a:r>
                  <a:rPr/>
                  <a:t>): </a:t>
                </a:r>
                <a14:m>
                  <m:oMath xmlns:m="http://schemas.openxmlformats.org/officeDocument/2006/math">
                    <m:r>
                      <m:t>0.05</m:t>
                    </m:r>
                    <m:r>
                      <m:rPr>
                        <m:sty m:val="p"/>
                      </m:rPr>
                      <m:t>×</m:t>
                    </m:r>
                    <m:r>
                      <m:t>50</m:t>
                    </m:r>
                    <m:r>
                      <m:rPr>
                        <m:sty m:val="p"/>
                      </m:rPr>
                      <m:t>=</m:t>
                    </m:r>
                    <m:r>
                      <m:t>2.50</m:t>
                    </m:r>
                    <m:r>
                      <m:rPr>
                        <m:sty m:val="p"/>
                      </m:rPr>
                      <m:t>&lt;</m:t>
                    </m:r>
                    <m:r>
                      <m:t>5</m:t>
                    </m:r>
                  </m:oMath>
                </a14:m>
                <a:r>
                  <a:rPr/>
                  <a:t> </a:t>
                </a:r>
                <a14:m>
                  <m:oMath xmlns:m="http://schemas.openxmlformats.org/officeDocument/2006/math">
                    <m:r>
                      <m:rPr>
                        <m:sty m:val="p"/>
                      </m:rPr>
                      <m:t>⇒</m:t>
                    </m:r>
                  </m:oMath>
                </a14:m>
                <a:r>
                  <a:rPr/>
                  <a:t> </a:t>
                </a:r>
                <a:r>
                  <a:rPr b="1"/>
                  <a:t>leave umbrella</a:t>
                </a:r>
              </a:p>
              <a:p>
                <a:pPr lvl="0" indent="0" marL="0">
                  <a:buNone/>
                </a:pPr>
                <a:r>
                  <a:rPr/>
                  <a:t>The bold branches in the tree confirm the optimal action at each decision node.</a:t>
                </a:r>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Solving the Tree: Expected Cost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Roll back to the signal node. The expected cost along each optimal branch:</a:t>
                </a:r>
              </a:p>
              <a:p>
                <a:pPr lvl="0"/>
                <a:r>
                  <a:rPr b="1"/>
                  <a:t>Forecast rain</a:t>
                </a:r>
                <a:r>
                  <a:rPr/>
                  <a:t> (prob 0.41): bring umbrella </a:t>
                </a:r>
                <a14:m>
                  <m:oMath xmlns:m="http://schemas.openxmlformats.org/officeDocument/2006/math">
                    <m:r>
                      <m:rPr>
                        <m:sty m:val="p"/>
                      </m:rPr>
                      <m:t>→</m:t>
                    </m:r>
                  </m:oMath>
                </a14:m>
                <a:r>
                  <a:rPr/>
                  <a:t> cost </a:t>
                </a:r>
                <a14:m>
                  <m:oMath xmlns:m="http://schemas.openxmlformats.org/officeDocument/2006/math">
                    <m:r>
                      <m:rPr>
                        <m:sty m:val="p"/>
                      </m:rPr>
                      <m:t>=</m:t>
                    </m:r>
                    <m:r>
                      <m:rPr>
                        <m:sty m:val="p"/>
                      </m:rPr>
                      <m:t>$</m:t>
                    </m:r>
                    <m:r>
                      <m:t>5.00</m:t>
                    </m:r>
                  </m:oMath>
                </a14:m>
              </a:p>
              <a:p>
                <a:pPr lvl="0"/>
                <a:r>
                  <a:rPr b="1"/>
                  <a:t>Forecast dry</a:t>
                </a:r>
                <a:r>
                  <a:rPr/>
                  <a:t> (prob 0.59): leave umbrella </a:t>
                </a:r>
                <a14:m>
                  <m:oMath xmlns:m="http://schemas.openxmlformats.org/officeDocument/2006/math">
                    <m:r>
                      <m:rPr>
                        <m:sty m:val="p"/>
                      </m:rPr>
                      <m:t>→</m:t>
                    </m:r>
                  </m:oMath>
                </a14:m>
                <a:r>
                  <a:rPr/>
                  <a:t> expected cost </a:t>
                </a:r>
                <a14:m>
                  <m:oMath xmlns:m="http://schemas.openxmlformats.org/officeDocument/2006/math">
                    <m:r>
                      <m:rPr>
                        <m:sty m:val="p"/>
                      </m:rPr>
                      <m:t>=</m:t>
                    </m:r>
                    <m:r>
                      <m:t>0.05</m:t>
                    </m:r>
                    <m:r>
                      <m:rPr>
                        <m:sty m:val="p"/>
                      </m:rPr>
                      <m:t>×</m:t>
                    </m:r>
                    <m:r>
                      <m:t>50</m:t>
                    </m:r>
                    <m:r>
                      <m:rPr>
                        <m:sty m:val="p"/>
                      </m:rPr>
                      <m:t>+</m:t>
                    </m:r>
                    <m:r>
                      <m:t>0.95</m:t>
                    </m:r>
                    <m:r>
                      <m:rPr>
                        <m:sty m:val="p"/>
                      </m:rPr>
                      <m:t>×</m:t>
                    </m:r>
                    <m:r>
                      <m:t>0</m:t>
                    </m:r>
                    <m:r>
                      <m:rPr>
                        <m:sty m:val="p"/>
                      </m:rPr>
                      <m:t>=</m:t>
                    </m:r>
                    <m:r>
                      <m:rPr>
                        <m:sty m:val="p"/>
                      </m:rPr>
                      <m:t>$</m:t>
                    </m:r>
                    <m:r>
                      <m:t>2.50</m:t>
                    </m:r>
                  </m:oMath>
                </a14:m>
              </a:p>
              <a:p>
                <a:pPr lvl="0" indent="0" marL="0">
                  <a:buNone/>
                </a:pPr>
                <a:r>
                  <a:rPr/>
                  <a:t>Average over the signal:</a:t>
                </a:r>
              </a:p>
              <a:p>
                <a:pPr lvl="0" indent="0" marL="0">
                  <a:buNone/>
                </a:pPr>
                <a14:m>
                  <m:oMathPara xmlns:m="http://schemas.openxmlformats.org/officeDocument/2006/math">
                    <m:oMathParaPr>
                      <m:jc m:val="center"/>
                    </m:oMathParaPr>
                    <m:oMath>
                      <m:r>
                        <m:t>E</m:t>
                      </m:r>
                      <m:r>
                        <m:rPr>
                          <m:sty m:val="p"/>
                        </m:rPr>
                        <m:t>[</m:t>
                      </m:r>
                      <m:r>
                        <m:rPr>
                          <m:nor/>
                          <m:sty m:val="p"/>
                        </m:rPr>
                        <m:t>cost with forecast</m:t>
                      </m:r>
                      <m:r>
                        <m:rPr>
                          <m:sty m:val="p"/>
                        </m:rPr>
                        <m:t>]</m:t>
                      </m:r>
                      <m:r>
                        <m:rPr>
                          <m:sty m:val="p"/>
                        </m:rPr>
                        <m:t>=</m:t>
                      </m:r>
                      <m:r>
                        <m:t>0.41</m:t>
                      </m:r>
                      <m:r>
                        <m:rPr>
                          <m:sty m:val="p"/>
                        </m:rPr>
                        <m:t>×</m:t>
                      </m:r>
                      <m:r>
                        <m:t>5.00</m:t>
                      </m:r>
                      <m:r>
                        <m:rPr>
                          <m:sty m:val="p"/>
                        </m:rPr>
                        <m:t>+</m:t>
                      </m:r>
                      <m:r>
                        <m:t>0.59</m:t>
                      </m:r>
                      <m:r>
                        <m:rPr>
                          <m:sty m:val="p"/>
                        </m:rPr>
                        <m:t>×</m:t>
                      </m:r>
                      <m:r>
                        <m:t>2.50</m:t>
                      </m:r>
                      <m:r>
                        <m:rPr>
                          <m:sty m:val="p"/>
                        </m:rPr>
                        <m:t>=</m:t>
                      </m:r>
                      <m:r>
                        <m:t>2.05</m:t>
                      </m:r>
                      <m:r>
                        <m:rPr>
                          <m:sty m:val="p"/>
                        </m:rPr>
                        <m:t>+</m:t>
                      </m:r>
                      <m:r>
                        <m:t>1.475</m:t>
                      </m:r>
                      <m:r>
                        <m:rPr>
                          <m:sty m:val="p"/>
                        </m:rPr>
                        <m:t>=</m:t>
                      </m:r>
                      <m:r>
                        <m:rPr>
                          <m:sty m:val="p"/>
                        </m:rPr>
                        <m:t>$</m:t>
                      </m:r>
                      <m:r>
                        <m:t>3.55</m:t>
                      </m:r>
                    </m:oMath>
                  </m:oMathPara>
                </a14:m>
              </a:p>
            </p:txBody>
          </p:sp>
        </mc:Choice>
      </mc:AlternateContent>
    </p:spTree>
  </p:cSld>
</p:sld>
</file>

<file path=ppt/slides/slide17.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 /><p:txBody><a:bodyPr /><a:lstStyle /><a:p><a:pPr lvl="0" indent="0" marL="0"><a:buNone /></a:pPr><a:r><a:rPr /><a:t>EVII</a:t></a:r></a:p></p:txBody></p:sp><p:graphicFrame><p:nvGraphicFramePr><p:cNvPr id="6" name="Content Placeholder 5" /><p:cNvGraphicFramePr><a:graphicFrameLocks noGrp="1" /></p:cNvGraphicFramePr><p:nvPr><p:ph idx="1" /></p:nvPr></p:nvGraphicFramePr><p:xfrm><a:off x="457200" y="1193800" /><a:ext cx="8229600" cy="3390900" /></p:xfrm><a:graphic><a:graphicData uri="http://schemas.openxmlformats.org/drawingml/2006/table"><a:tbl><a:tblPr firstRow="1" bandRow="1"><a:tableStyleId>{5C22544A-7EE6-4342-B048-85BDC9FD1C3A}</a:tableStyleId></a:tblPr><a:tblGrid><a:gridCol w="4114800" /><a:gridCol w="4114800" /></a:tblGrid><a:tr h="0"><a:tc><a:txBody><a:bodyPr /><a:lstStyle /><a:p><a:pPr lvl="0" indent="0" marL="0" algn="l"><a:buNone /></a:pPr><a:r><a:rPr /><a:t>Scenario</a:t></a:r></a:p></a:txBody><a:tcPr /></a:tc><a:tc><a:txBody><a:bodyPr /><a:lstStyle /><a:p><a:pPr lvl="0" indent="0" marL="0" algn="ctr"><a:buNone /></a:pPr><a:r><a:rPr /><a:t>Expected cost</a:t></a:r></a:p></a:txBody><a:tcPr /></a:tc></a:tr><a:tr h="0"><a:tc><a:txBody><a:bodyPr /><a:lstStyle /><a:p><a:pPr lvl="0" indent="0" marL="0" algn="l"><a:buNone /></a:pPr><a:r><a:rPr /><a:t>No information</a:t></a:r></a:p></a:txBody></a:tc><a:tc><a:txBody><a:bodyPr /><a:lstStyle /><a:p><a:pPr lvl="0" indent="0" marL="0" algn="ctr"><a:buNone /></a:pPr><a14:m><m:oMath xmlns:m="http://schemas.openxmlformats.org/officeDocument/2006/math"><m:r><m:rPr><m:sty m:val="p" /></m:rPr><m:t>$</m:t></m:r><m:r><m:t>5.00</m:t></m:r></m:oMath></a14:m></a:p></a:txBody></a:tc></a:tr><a:tr h="0"><a:tc><a:txBody><a:bodyPr /><a:lstStyle /><a:p><a:pPr lvl="0" indent="0" marL="0" algn="l"><a:buNone /></a:pPr><a:r><a:rPr /><a:t>Imperfect forecast</a:t></a:r></a:p></a:txBody></a:tc><a:tc><a:txBody><a:bodyPr /><a:lstStyle /><a:p><a:pPr lvl="0" indent="0" marL="0" algn="ctr"><a:buNone /></a:pPr><a14:m><m:oMath xmlns:m="http://schemas.openxmlformats.org/officeDocument/2006/math"><m:r><m:rPr><m:sty m:val="p" /></m:rPr><m:t>$</m:t></m:r><m:r><m:t>3.55</m:t></m:r></m:oMath></a14:m></a:p></a:txBody></a:tc></a:tr><a:tr h="0"><a:tc><a:txBody><a:bodyPr /><a:lstStyle /><a:p><a:pPr lvl="0" indent="0" marL="0" algn="l"><a:buNone /></a:pPr><a:r><a:rPr /><a:t>Perfect information</a:t></a:r></a:p></a:txBody></a:tc><a:tc><a:txBody><a:bodyPr /><a:lstStyle /><a:p><a:pPr lvl="0" indent="0" marL="0" algn="ctr"><a:buNone /></a:pPr><a14:m><m:oMath xmlns:m="http://schemas.openxmlformats.org/officeDocument/2006/math"><m:r><m:rPr><m:sty m:val="p" /></m:rPr><m:t>$</m:t></m:r><m:r><m:t>1.50</m:t></m:r></m:oMath></a14:m></a:p></a:txBody></a:tc></a:tr></a:tbl></a:graphicData></a:graphic></p:graphicFrame></p:spTree></p:cSld></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nor/>
                          <m:sty m:val="p"/>
                        </m:rPr>
                        <m:t>EVII</m:t>
                      </m:r>
                      <m:r>
                        <m:rPr>
                          <m:sty m:val="p"/>
                        </m:rPr>
                        <m:t>=</m:t>
                      </m:r>
                      <m:r>
                        <m:t>5.00</m:t>
                      </m:r>
                      <m:r>
                        <m:rPr>
                          <m:sty m:val="p"/>
                        </m:rPr>
                        <m:t>−</m:t>
                      </m:r>
                      <m:r>
                        <m:t>3.55</m:t>
                      </m:r>
                      <m:r>
                        <m:rPr>
                          <m:sty m:val="p"/>
                        </m:rPr>
                        <m:t>=</m:t>
                      </m:r>
                      <m:r>
                        <m:rPr>
                          <m:sty m:val="p"/>
                        </m:rPr>
                        <m:t>$</m:t>
                      </m:r>
                      <m:r>
                        <m:t>1.45</m:t>
                      </m:r>
                    </m:oMath>
                  </m:oMathPara>
                </a14:m>
              </a:p>
              <a:p>
                <a:pPr lvl="0" indent="0" marL="0">
                  <a:buNone/>
                </a:pPr>
                <a14:m>
                  <m:oMathPara xmlns:m="http://schemas.openxmlformats.org/officeDocument/2006/math">
                    <m:oMathParaPr>
                      <m:jc m:val="center"/>
                    </m:oMathParaPr>
                    <m:oMath>
                      <m:r>
                        <m:rPr>
                          <m:nor/>
                          <m:sty m:val="p"/>
                        </m:rPr>
                        <m:t>EVPI</m:t>
                      </m:r>
                      <m:r>
                        <m:rPr>
                          <m:sty m:val="p"/>
                        </m:rPr>
                        <m:t>=</m:t>
                      </m:r>
                      <m:r>
                        <m:t>5.00</m:t>
                      </m:r>
                      <m:r>
                        <m:rPr>
                          <m:sty m:val="p"/>
                        </m:rPr>
                        <m:t>−</m:t>
                      </m:r>
                      <m:r>
                        <m:t>1.50</m:t>
                      </m:r>
                      <m:r>
                        <m:rPr>
                          <m:sty m:val="p"/>
                        </m:rPr>
                        <m:t>=</m:t>
                      </m:r>
                      <m:r>
                        <m:rPr>
                          <m:sty m:val="p"/>
                        </m:rPr>
                        <m:t>$</m:t>
                      </m:r>
                      <m:r>
                        <m:t>3.50</m:t>
                      </m:r>
                    </m:oMath>
                  </m:oMathPara>
                </a14:m>
              </a:p>
              <a:p>
                <a:pPr lvl="0" indent="0" marL="0">
                  <a:buNone/>
                </a:pPr>
                <a:r>
                  <a:rPr/>
                  <a:t>The forecast captures </a:t>
                </a:r>
                <a14:m>
                  <m:oMath xmlns:m="http://schemas.openxmlformats.org/officeDocument/2006/math">
                    <m:r>
                      <m:t>1.45</m:t>
                    </m:r>
                    <m:r>
                      <m:rPr>
                        <m:sty m:val="p"/>
                      </m:rPr>
                      <m:t>/</m:t>
                    </m:r>
                    <m:r>
                      <m:t>3.50</m:t>
                    </m:r>
                    <m:r>
                      <m:rPr>
                        <m:sty m:val="p"/>
                      </m:rPr>
                      <m:t>≈</m:t>
                    </m:r>
                    <m:r>
                      <m:t>41</m:t>
                    </m:r>
                    <m:r>
                      <m:rPr>
                        <m:sty m:val="p"/>
                      </m:rPr>
                      <m:t>%</m:t>
                    </m:r>
                  </m:oMath>
                </a14:m>
                <a:r>
                  <a:rPr/>
                  <a:t> of the perfect-information value.</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General Formula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umbrella illustrates a general three-step pattern:</a:t>
                </a:r>
              </a:p>
              <a:p>
                <a:pPr lvl="0" indent="-342900" marL="342900">
                  <a:buAutoNum type="arabicPeriod"/>
                </a:pPr>
                <a:r>
                  <a:rPr b="1"/>
                  <a:t>Enumerate signals:</a:t>
                </a:r>
                <a:r>
                  <a:rPr/>
                  <a:t> each possible signal </a:t>
                </a:r>
                <a14:m>
                  <m:oMath xmlns:m="http://schemas.openxmlformats.org/officeDocument/2006/math">
                    <m:r>
                      <m:t>z</m:t>
                    </m:r>
                  </m:oMath>
                </a14:m>
                <a:r>
                  <a:rPr/>
                  <a:t> has probability </a:t>
                </a:r>
                <a14:m>
                  <m:oMath xmlns:m="http://schemas.openxmlformats.org/officeDocument/2006/math">
                    <m:r>
                      <m:t>p</m:t>
                    </m:r>
                    <m:r>
                      <m:rPr>
                        <m:sty m:val="p"/>
                      </m:rPr>
                      <m:t>(</m:t>
                    </m:r>
                    <m:r>
                      <m:t>z</m:t>
                    </m:r>
                    <m:r>
                      <m:rPr>
                        <m:sty m:val="p"/>
                      </m:rPr>
                      <m:t>)</m:t>
                    </m:r>
                  </m:oMath>
                </a14:m>
              </a:p>
              <a:p>
                <a:pPr lvl="0" indent="-342900" marL="342900">
                  <a:buAutoNum type="arabicPeriod"/>
                </a:pPr>
                <a:r>
                  <a:rPr b="1"/>
                  <a:t>Update and optimize:</a:t>
                </a:r>
                <a:r>
                  <a:rPr/>
                  <a:t> for each signal, compute the posterior </a:t>
                </a:r>
                <a14:m>
                  <m:oMath xmlns:m="http://schemas.openxmlformats.org/officeDocument/2006/math">
                    <m:r>
                      <m:t>p</m:t>
                    </m:r>
                    <m:r>
                      <m:rPr>
                        <m:sty m:val="p"/>
                      </m:rPr>
                      <m:t>(</m:t>
                    </m:r>
                    <m:r>
                      <m:t>s</m:t>
                    </m:r>
                    <m:r>
                      <m:rPr>
                        <m:sty m:val="p"/>
                      </m:rPr>
                      <m:t>∣</m:t>
                    </m:r>
                    <m:r>
                      <m:t>z</m:t>
                    </m:r>
                    <m:r>
                      <m:rPr>
                        <m:sty m:val="p"/>
                      </m:rPr>
                      <m:t>)</m:t>
                    </m:r>
                  </m:oMath>
                </a14:m>
                <a:r>
                  <a:rPr/>
                  <a:t> via Bayes’ rule, then choose the best action</a:t>
                </a:r>
              </a:p>
              <a:p>
                <a:pPr lvl="0" indent="-342900" marL="342900">
                  <a:buAutoNum type="arabicPeriod"/>
                </a:pPr>
                <a:r>
                  <a:rPr b="1"/>
                  <a:t>Average over signals</a:t>
                </a:r>
              </a:p>
              <a:p>
                <a:pPr lvl="0" indent="0" marL="0">
                  <a:buNone/>
                </a:pPr>
                <a14:m>
                  <m:oMathPara xmlns:m="http://schemas.openxmlformats.org/officeDocument/2006/math">
                    <m:oMathParaPr>
                      <m:jc m:val="center"/>
                    </m:oMathParaPr>
                    <m:oMath>
                      <m:r>
                        <m:rPr>
                          <m:nor/>
                          <m:sty m:val="p"/>
                        </m:rPr>
                        <m:t>EVII</m:t>
                      </m:r>
                      <m:r>
                        <m:rPr>
                          <m:sty m:val="p"/>
                        </m:rPr>
                        <m:t>=</m:t>
                      </m:r>
                      <m:limLow>
                        <m:e>
                          <m:limLow>
                            <m:e>
                              <m:r>
                                <m:rPr>
                                  <m:sty m:val="p"/>
                                </m:rPr>
                                <m:t>∫</m:t>
                              </m:r>
                              <m:d>
                                <m:dPr>
                                  <m:begChr m:val="["/>
                                  <m:sepChr m:val=""/>
                                  <m:endChr m:val="]"/>
                                  <m:grow/>
                                </m:dPr>
                                <m:e>
                                  <m:limLow>
                                    <m:e>
                                      <m:r>
                                        <m:rPr>
                                          <m:sty m:val="p"/>
                                        </m:rPr>
                                        <m:t>max</m:t>
                                      </m:r>
                                    </m:e>
                                    <m:lim>
                                      <m:r>
                                        <m:t>a</m:t>
                                      </m:r>
                                    </m:lim>
                                  </m:limLow>
                                  <m:r>
                                    <m:rPr>
                                      <m:sty m:val="p"/>
                                    </m:rPr>
                                    <m:t>∫</m:t>
                                  </m:r>
                                  <m:r>
                                    <m:t>U</m:t>
                                  </m:r>
                                  <m:r>
                                    <m:rPr>
                                      <m:sty m:val="p"/>
                                    </m:rPr>
                                    <m:t>(</m:t>
                                  </m:r>
                                  <m:r>
                                    <m:t>a</m:t>
                                  </m:r>
                                  <m:r>
                                    <m:rPr>
                                      <m:sty m:val="p"/>
                                    </m:rPr>
                                    <m:t>,</m:t>
                                  </m:r>
                                  <m:r>
                                    <m:t>s</m:t>
                                  </m:r>
                                  <m:r>
                                    <m:rPr>
                                      <m:sty m:val="p"/>
                                    </m:rPr>
                                    <m:t>)</m:t>
                                  </m:r>
                                  <m:r>
                                    <m:t> </m:t>
                                  </m:r>
                                  <m:r>
                                    <m:t>p</m:t>
                                  </m:r>
                                  <m:r>
                                    <m:rPr>
                                      <m:sty m:val="p"/>
                                    </m:rPr>
                                    <m:t>(</m:t>
                                  </m:r>
                                  <m:r>
                                    <m:t>s</m:t>
                                  </m:r>
                                  <m:r>
                                    <m:rPr>
                                      <m:sty m:val="p"/>
                                    </m:rPr>
                                    <m:t>∣</m:t>
                                  </m:r>
                                  <m:r>
                                    <m:t>z</m:t>
                                  </m:r>
                                  <m:r>
                                    <m:rPr>
                                      <m:sty m:val="p"/>
                                    </m:rPr>
                                    <m:t>)</m:t>
                                  </m:r>
                                  <m:r>
                                    <m:t> </m:t>
                                  </m:r>
                                  <m:r>
                                    <m:t>d</m:t>
                                  </m:r>
                                  <m:r>
                                    <m:t>s</m:t>
                                  </m:r>
                                </m:e>
                              </m:d>
                              <m:r>
                                <m:t>p</m:t>
                              </m:r>
                              <m:r>
                                <m:rPr>
                                  <m:sty m:val="p"/>
                                </m:rPr>
                                <m:t>(</m:t>
                              </m:r>
                              <m:r>
                                <m:t>z</m:t>
                              </m:r>
                              <m:r>
                                <m:rPr>
                                  <m:sty m:val="p"/>
                                </m:rPr>
                                <m:t>)</m:t>
                              </m:r>
                              <m:r>
                                <m:t> </m:t>
                              </m:r>
                              <m:r>
                                <m:t>d</m:t>
                              </m:r>
                              <m:r>
                                <m:t>z</m:t>
                              </m:r>
                            </m:e>
                            <m:lim>
                              <m:r>
                                <m:rPr>
                                  <m:sty m:val="p"/>
                                </m:rPr>
                                <m:t>⏟</m:t>
                              </m:r>
                            </m:lim>
                          </m:limLow>
                        </m:e>
                        <m:lim>
                          <m:r>
                            <m:rPr>
                              <m:nor/>
                              <m:sty m:val="p"/>
                            </m:rPr>
                            <m:t>get signal, update, optimize, average</m:t>
                          </m:r>
                        </m:lim>
                      </m:limLow>
                      <m:r>
                        <m:t> </m:t>
                      </m:r>
                      <m:r>
                        <m:rPr>
                          <m:sty m:val="p"/>
                        </m:rPr>
                        <m:t>−</m:t>
                      </m:r>
                      <m:r>
                        <m:t> </m:t>
                      </m:r>
                      <m:limLow>
                        <m:e>
                          <m:limLow>
                            <m:e>
                              <m:limLow>
                                <m:e>
                                  <m:r>
                                    <m:rPr>
                                      <m:sty m:val="p"/>
                                    </m:rPr>
                                    <m:t>max</m:t>
                                  </m:r>
                                </m:e>
                                <m:lim>
                                  <m:r>
                                    <m:t>a</m:t>
                                  </m:r>
                                </m:lim>
                              </m:limLow>
                              <m:r>
                                <m:rPr>
                                  <m:sty m:val="p"/>
                                </m:rPr>
                                <m:t>∫</m:t>
                              </m:r>
                              <m:r>
                                <m:t>U</m:t>
                              </m:r>
                              <m:r>
                                <m:rPr>
                                  <m:sty m:val="p"/>
                                </m:rPr>
                                <m:t>(</m:t>
                              </m:r>
                              <m:r>
                                <m:t>a</m:t>
                              </m:r>
                              <m:r>
                                <m:rPr>
                                  <m:sty m:val="p"/>
                                </m:rPr>
                                <m:t>,</m:t>
                              </m:r>
                              <m:r>
                                <m:t>s</m:t>
                              </m:r>
                              <m:r>
                                <m:rPr>
                                  <m:sty m:val="p"/>
                                </m:rPr>
                                <m:t>)</m:t>
                              </m:r>
                              <m:r>
                                <m:t> </m:t>
                              </m:r>
                              <m:r>
                                <m:t>p</m:t>
                              </m:r>
                              <m:r>
                                <m:rPr>
                                  <m:sty m:val="p"/>
                                </m:rPr>
                                <m:t>(</m:t>
                              </m:r>
                              <m:r>
                                <m:t>s</m:t>
                              </m:r>
                              <m:r>
                                <m:rPr>
                                  <m:sty m:val="p"/>
                                </m:rPr>
                                <m:t>)</m:t>
                              </m:r>
                              <m:r>
                                <m:t> </m:t>
                              </m:r>
                              <m:r>
                                <m:t>d</m:t>
                              </m:r>
                              <m:r>
                                <m:t>s</m:t>
                              </m:r>
                            </m:e>
                            <m:lim>
                              <m:r>
                                <m:rPr>
                                  <m:sty m:val="p"/>
                                </m:rPr>
                                <m:t>⏟</m:t>
                              </m:r>
                            </m:lim>
                          </m:limLow>
                        </m:e>
                        <m:lim>
                          <m:r>
                            <m:rPr>
                              <m:nor/>
                              <m:sty m:val="p"/>
                            </m:rPr>
                            <m:t>optimize with prior alone</m:t>
                          </m:r>
                        </m:lim>
                      </m:limLow>
                    </m:oMath>
                  </m:oMathPara>
                </a14:m>
              </a:p>
              <a:p>
                <a:pPr lvl="0" indent="0" marL="0">
                  <a:buNone/>
                </a:pPr>
                <a:r>
                  <a:rPr/>
                  <a:t>This reduces to EVPI when the signal perfectly reveals </a:t>
                </a:r>
                <a14:m>
                  <m:oMath xmlns:m="http://schemas.openxmlformats.org/officeDocument/2006/math">
                    <m:r>
                      <m:t>s</m:t>
                    </m:r>
                  </m:oMath>
                </a14:m>
                <a:r>
                  <a:rPr/>
                  <a:t>, and to zero when the signal is pure noise (</a:t>
                </a:r>
                <a14:m>
                  <m:oMath xmlns:m="http://schemas.openxmlformats.org/officeDocument/2006/math">
                    <m:r>
                      <m:t>p</m:t>
                    </m:r>
                    <m:r>
                      <m:rPr>
                        <m:sty m:val="p"/>
                      </m:rPr>
                      <m:t>(</m:t>
                    </m:r>
                    <m:r>
                      <m:t>s</m:t>
                    </m:r>
                    <m:r>
                      <m:rPr>
                        <m:sty m:val="p"/>
                      </m:rPr>
                      <m:t>∣</m:t>
                    </m:r>
                    <m:r>
                      <m:t>z</m:t>
                    </m:r>
                    <m:r>
                      <m:rPr>
                        <m:sty m:val="p"/>
                      </m:rPr>
                      <m:t>)</m:t>
                    </m:r>
                    <m:r>
                      <m:rPr>
                        <m:sty m:val="p"/>
                      </m:rPr>
                      <m:t>=</m:t>
                    </m:r>
                    <m:r>
                      <m:t>p</m:t>
                    </m:r>
                    <m:r>
                      <m:rPr>
                        <m:sty m:val="p"/>
                      </m:rPr>
                      <m:t>(</m:t>
                    </m:r>
                    <m:r>
                      <m:t>s</m:t>
                    </m:r>
                    <m:r>
                      <m:rPr>
                        <m:sty m:val="p"/>
                      </m:rPr>
                      <m:t>)</m:t>
                    </m:r>
                  </m:oMath>
                </a14:m>
                <a:r>
                  <a:rPr/>
                  <a:t>).</a:t>
                </a:r>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Blackwell’s Theorem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 key result: </a:t>
                </a:r>
                <a14:m>
                  <m:oMath xmlns:m="http://schemas.openxmlformats.org/officeDocument/2006/math">
                    <m:r>
                      <m:t>0</m:t>
                    </m:r>
                    <m:r>
                      <m:rPr>
                        <m:sty m:val="p"/>
                      </m:rPr>
                      <m:t>≤</m:t>
                    </m:r>
                    <m:r>
                      <m:rPr>
                        <m:nor/>
                        <m:sty m:val="p"/>
                      </m:rPr>
                      <m:t>EVII</m:t>
                    </m:r>
                    <m:r>
                      <m:rPr>
                        <m:sty m:val="p"/>
                      </m:rPr>
                      <m:t>≤</m:t>
                    </m:r>
                    <m:r>
                      <m:rPr>
                        <m:nor/>
                        <m:sty m:val="p"/>
                      </m:rPr>
                      <m:t>EVPI</m:t>
                    </m:r>
                  </m:oMath>
                </a14:m>
                <a:r>
                  <a:rPr/>
                  <a:t>.</a:t>
                </a:r>
              </a:p>
              <a:p>
                <a:pPr lvl="0" indent="0" marL="0">
                  <a:buNone/>
                </a:pPr>
                <a:r>
                  <a:rPr/>
                  <a:t>An imperfect forecast can never hurt in expectation.</a:t>
                </a:r>
              </a:p>
              <a:p>
                <a:pPr lvl="0" indent="0" marL="0">
                  <a:buNone/>
                </a:pPr>
                <a:r>
                  <a:rPr/>
                  <a:t>The relationship between forecast quality and value is </a:t>
                </a:r>
                <a:r>
                  <a:rPr b="1"/>
                  <a:t>nonlinear</a:t>
                </a:r>
                <a:r>
                  <a:rPr/>
                  <a:t>. Forecasts are most valuable near the </a:t>
                </a:r>
                <a:r>
                  <a:rPr b="1"/>
                  <a:t>decision boundary</a:t>
                </a:r>
                <a:r>
                  <a:rPr/>
                  <a:t> (</a:t>
                </a:r>
                <a14:m>
                  <m:oMath xmlns:m="http://schemas.openxmlformats.org/officeDocument/2006/math">
                    <m:r>
                      <m:t>C</m:t>
                    </m:r>
                    <m:r>
                      <m:rPr>
                        <m:sty m:val="p"/>
                      </m:rPr>
                      <m:t>/</m:t>
                    </m:r>
                    <m:r>
                      <m:t>L</m:t>
                    </m:r>
                    <m:r>
                      <m:rPr>
                        <m:sty m:val="p"/>
                      </m:rPr>
                      <m:t>≈</m:t>
                    </m:r>
                    <m:r>
                      <m:t>p</m:t>
                    </m:r>
                  </m:oMath>
                </a14:m>
                <a:r>
                  <a:rPr/>
                  <a:t>). When the decision is already obvious, even a much better forecast adds little value.</a:t>
                </a:r>
              </a:p>
            </p:txBody>
          </p:sp>
        </mc:Choice>
      </mc:AlternateContent>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rabicPeriod"/>
                </a:pPr>
                <a:r>
                  <a:rPr b="1"/>
                  <a:t>Decision trees</a:t>
                </a:r>
                <a:r>
                  <a:rPr/>
                  <a:t> visualize the order of </a:t>
                </a:r>
                <a14:m>
                  <m:oMath xmlns:m="http://schemas.openxmlformats.org/officeDocument/2006/math">
                    <m:r>
                      <m:rPr>
                        <m:sty m:val="p"/>
                      </m:rPr>
                      <m:t>max</m:t>
                    </m:r>
                  </m:oMath>
                </a14:m>
                <a:r>
                  <a:rPr/>
                  <a:t> and </a:t>
                </a:r>
                <a14:m>
                  <m:oMath xmlns:m="http://schemas.openxmlformats.org/officeDocument/2006/math">
                    <m:r>
                      <m:rPr>
                        <m:sty m:val="p"/>
                      </m:rPr>
                      <m:t>∑</m:t>
                    </m:r>
                  </m:oMath>
                </a14:m>
                <a:r>
                  <a:rPr/>
                  <a:t> in expected value calculations. The EVPI is the gap between “nature first” and “decision first” trees.</a:t>
                </a:r>
              </a:p>
              <a:p>
                <a:pPr lvl="0" indent="-342900" marL="342900">
                  <a:buAutoNum type="arabicPeriod"/>
                </a:pPr>
                <a:r>
                  <a:rPr b="1"/>
                  <a:t>EVII</a:t>
                </a:r>
                <a:r>
                  <a:rPr/>
                  <a:t> extends this to noisy signals: Signal </a:t>
                </a:r>
                <a14:m>
                  <m:oMath xmlns:m="http://schemas.openxmlformats.org/officeDocument/2006/math">
                    <m:r>
                      <m:rPr>
                        <m:sty m:val="p"/>
                      </m:rPr>
                      <m:t>→</m:t>
                    </m:r>
                  </m:oMath>
                </a14:m>
                <a:r>
                  <a:rPr/>
                  <a:t> Decision </a:t>
                </a:r>
                <a14:m>
                  <m:oMath xmlns:m="http://schemas.openxmlformats.org/officeDocument/2006/math">
                    <m:r>
                      <m:rPr>
                        <m:sty m:val="p"/>
                      </m:rPr>
                      <m:t>→</m:t>
                    </m:r>
                  </m:oMath>
                </a14:m>
                <a:r>
                  <a:rPr/>
                  <a:t> Nature. Bayes’ rule computes posteriors; Blackwell’s theorem guarantees </a:t>
                </a:r>
                <a14:m>
                  <m:oMath xmlns:m="http://schemas.openxmlformats.org/officeDocument/2006/math">
                    <m:r>
                      <m:t>0</m:t>
                    </m:r>
                    <m:r>
                      <m:rPr>
                        <m:sty m:val="p"/>
                      </m:rPr>
                      <m:t>≤</m:t>
                    </m:r>
                    <m:r>
                      <m:rPr>
                        <m:nor/>
                        <m:sty m:val="p"/>
                      </m:rPr>
                      <m:t>EVII</m:t>
                    </m:r>
                    <m:r>
                      <m:rPr>
                        <m:sty m:val="p"/>
                      </m:rPr>
                      <m:t>≤</m:t>
                    </m:r>
                    <m:r>
                      <m:rPr>
                        <m:nor/>
                        <m:sty m:val="p"/>
                      </m:rPr>
                      <m:t>EVPI</m:t>
                    </m:r>
                  </m:oMath>
                </a14:m>
                <a:r>
                  <a:rPr/>
                  <a:t>.</a:t>
                </a:r>
              </a:p>
              <a:p>
                <a:pPr lvl="0" indent="-342900" marL="342900">
                  <a:buAutoNum type="arabicPeriod"/>
                </a:pPr>
                <a:r>
                  <a:rPr/>
                  <a:t>For continuous or high-dimensional problems, trees become intractable — the integral formulation is the compact representation.</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of Imperfect Information</dc:title>
  <dc:creator>James Doss-Gollin</dc:creator>
  <cp:keywords/>
  <dcterms:created xsi:type="dcterms:W3CDTF">2026-04-06T19:29:23Z</dcterms:created>
  <dcterms:modified xsi:type="dcterms:W3CDTF">2026-04-06T19:29:23Z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auto-agenda">
    <vt:lpwstr/>
  </property>
  <property fmtid="{D5CDD505-2E9C-101B-9397-08002B2CF9AE}" pid="5" name="biblio-config">
    <vt:lpwstr>True</vt:lpwstr>
  </property>
  <property fmtid="{D5CDD505-2E9C-101B-9397-08002B2CF9AE}" pid="6" name="bibliography">
    <vt:lpwstr/>
  </property>
  <property fmtid="{D5CDD505-2E9C-101B-9397-08002B2CF9AE}" pid="7" name="by-author">
    <vt:lpwstr/>
  </property>
  <property fmtid="{D5CDD505-2E9C-101B-9397-08002B2CF9AE}" pid="8" name="course">
    <vt:lpwstr>CEVE 421/521, Climate Risk Management</vt:lpwstr>
  </property>
  <property fmtid="{D5CDD505-2E9C-101B-9397-08002B2CF9AE}" pid="9" name="date">
    <vt:lpwstr>2026-02-25</vt:lpwstr>
  </property>
  <property fmtid="{D5CDD505-2E9C-101B-9397-08002B2CF9AE}" pid="10" name="engines">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institution">
    <vt:lpwstr>Rice University</vt:lpwstr>
  </property>
  <property fmtid="{D5CDD505-2E9C-101B-9397-08002B2CF9AE}" pid="15" name="labels">
    <vt:lpwstr/>
  </property>
  <property fmtid="{D5CDD505-2E9C-101B-9397-08002B2CF9AE}" pid="16" name="status">
    <vt:lpwstr>published</vt:lpwstr>
  </property>
  <property fmtid="{D5CDD505-2E9C-101B-9397-08002B2CF9AE}" pid="17" name="subtitle">
    <vt:lpwstr>Lecture</vt:lpwstr>
  </property>
  <property fmtid="{D5CDD505-2E9C-101B-9397-08002B2CF9AE}" pid="18" name="toc-title">
    <vt:lpwstr>Table of contents</vt:lpwstr>
  </property>
  <property fmtid="{D5CDD505-2E9C-101B-9397-08002B2CF9AE}" pid="19" name="week">
    <vt:lpwstr>7</vt:lpwstr>
  </property>
</Properties>
</file>
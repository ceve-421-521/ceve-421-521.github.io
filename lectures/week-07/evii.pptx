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14/aoms/11777290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d>
                      <m:dPr>
                        <m:begChr m:val="("/>
                        <m:sepChr m:val=""/>
                        <m:endChr m:val=")"/>
                        <m:grow/>
                      </m:dPr>
                      <m:e>
                        <m:r>
                          <m:t>a</m:t>
                        </m:r>
                        <m:r>
                          <m:rPr>
                            <m:sty m:val="p"/>
                          </m:rPr>
                          <m:t>,</m:t>
                        </m:r>
                        <m:r>
                          <m:t>s</m:t>
                        </m:r>
                      </m:e>
                    </m:d>
                    <m:r>
                      <m:t> </m:t>
                    </m:r>
                    <m:r>
                      <m:t>p</m:t>
                    </m:r>
                    <m:d>
                      <m:dPr>
                        <m:begChr m:val="("/>
                        <m:sepChr m:val=""/>
                        <m:endChr m:val=")"/>
                        <m:grow/>
                      </m:dPr>
                      <m:e>
                        <m:r>
                          <m:t>s</m:t>
                        </m:r>
                      </m:e>
                    </m:d>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d>
                        <m:dPr>
                          <m:begChr m:val="["/>
                          <m:sepChr m:val=""/>
                          <m:endChr m:val="]"/>
                          <m:grow/>
                        </m:dPr>
                        <m:e>
                          <m:r>
                            <m:rPr>
                              <m:nor/>
                              <m:sty m:val="p"/>
                            </m:rPr>
                            <m:t>cost</m:t>
                          </m:r>
                        </m:e>
                      </m:d>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d>
                      <m:dPr>
                        <m:begChr m:val="("/>
                        <m:sepChr m:val=""/>
                        <m:endChr m:val=")"/>
                        <m:grow/>
                      </m:dPr>
                      <m:e>
                        <m:r>
                          <m:t>a</m:t>
                        </m:r>
                        <m:r>
                          <m:rPr>
                            <m:sty m:val="p"/>
                          </m:rPr>
                          <m:t>,</m:t>
                        </m:r>
                        <m:r>
                          <m:t>s</m:t>
                        </m:r>
                      </m:e>
                    </m:d>
                    <m:r>
                      <m:t> </m:t>
                    </m:r>
                    <m:r>
                      <m:t>p</m:t>
                    </m:r>
                    <m:d>
                      <m:dPr>
                        <m:begChr m:val="("/>
                        <m:sepChr m:val=""/>
                        <m:endChr m:val=")"/>
                        <m:grow/>
                      </m:dPr>
                      <m:e>
                        <m:r>
                          <m:t>s</m:t>
                        </m:r>
                      </m:e>
                    </m:d>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d>
                      <m:dPr>
                        <m:begChr m:val="("/>
                        <m:sepChr m:val=""/>
                        <m:endChr m:val=")"/>
                        <m:grow/>
                      </m:dPr>
                      <m:e>
                        <m:r>
                          <m:rPr>
                            <m:nor/>
                            <m:sty m:val="p"/>
                          </m:rPr>
                          <m:t>f. rain</m:t>
                        </m:r>
                        <m:r>
                          <m:rPr>
                            <m:sty m:val="p"/>
                          </m:rPr>
                          <m:t>∣</m:t>
                        </m:r>
                        <m:r>
                          <m:rPr>
                            <m:nor/>
                            <m:sty m:val="p"/>
                          </m:rPr>
                          <m:t>rain</m:t>
                        </m:r>
                      </m:e>
                    </m:d>
                    <m:r>
                      <m:rPr>
                        <m:sty m:val="p"/>
                      </m:rPr>
                      <m:t>=</m:t>
                    </m:r>
                    <m:r>
                      <m:t>0.90</m:t>
                    </m:r>
                  </m:oMath>
                </a14:m>
              </a:p>
              <a:p>
                <a:pPr lvl="0"/>
                <a:r>
                  <a:rPr b="1"/>
                  <a:t>Correct rejection rate:</a:t>
                </a:r>
                <a:r>
                  <a:rPr/>
                  <a:t> </a:t>
                </a:r>
                <a14:m>
                  <m:oMath xmlns:m="http://schemas.openxmlformats.org/officeDocument/2006/math">
                    <m:r>
                      <m:t>P</m:t>
                    </m:r>
                    <m:d>
                      <m:dPr>
                        <m:begChr m:val="("/>
                        <m:sepChr m:val=""/>
                        <m:endChr m:val=")"/>
                        <m:grow/>
                      </m:dPr>
                      <m:e>
                        <m:r>
                          <m:rPr>
                            <m:nor/>
                            <m:sty m:val="p"/>
                          </m:rPr>
                          <m:t>f. dry</m:t>
                        </m:r>
                        <m:r>
                          <m:rPr>
                            <m:sty m:val="p"/>
                          </m:rPr>
                          <m:t>∣</m:t>
                        </m:r>
                        <m:r>
                          <m:rPr>
                            <m:nor/>
                            <m:sty m:val="p"/>
                          </m:rPr>
                          <m:t>dry</m:t>
                        </m:r>
                      </m:e>
                    </m:d>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d>
                      <m:dPr>
                        <m:begChr m:val="("/>
                        <m:sepChr m:val=""/>
                        <m:endChr m:val=")"/>
                        <m:grow/>
                      </m:dPr>
                      <m:e>
                        <m:r>
                          <m:rPr>
                            <m:nor/>
                            <m:sty m:val="p"/>
                          </m:rPr>
                          <m:t>f. rain</m:t>
                        </m:r>
                      </m:e>
                    </m:d>
                  </m:oMath>
                </a14:m>
                <a:r>
                  <a:rPr/>
                  <a:t> and </a:t>
                </a:r>
                <a14:m>
                  <m:oMath xmlns:m="http://schemas.openxmlformats.org/officeDocument/2006/math">
                    <m:r>
                      <m:t>P</m:t>
                    </m:r>
                    <m:d>
                      <m:dPr>
                        <m:begChr m:val="("/>
                        <m:sepChr m:val=""/>
                        <m:endChr m:val=")"/>
                        <m:grow/>
                      </m:dPr>
                      <m:e>
                        <m:r>
                          <m:rPr>
                            <m:nor/>
                            <m:sty m:val="p"/>
                          </m:rPr>
                          <m:t>rain</m:t>
                        </m:r>
                        <m:r>
                          <m:rPr>
                            <m:sty m:val="p"/>
                          </m:rPr>
                          <m:t>∣</m:t>
                        </m:r>
                        <m:r>
                          <m:rPr>
                            <m:nor/>
                            <m:sty m:val="p"/>
                          </m:rPr>
                          <m:t>f. rain</m:t>
                        </m:r>
                      </m:e>
                    </m:d>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r>
                            <m:rPr>
                              <m:sty m:val="p"/>
                            </m:rPr>
                            <m:t>∣</m:t>
                          </m:r>
                          <m:r>
                            <m:rPr>
                              <m:nor/>
                              <m:sty m:val="p"/>
                            </m:rPr>
                            <m:t>rain</m:t>
                          </m:r>
                        </m:e>
                      </m:d>
                      <m:r>
                        <m:rPr>
                          <m:sty m:val="p"/>
                        </m:rPr>
                        <m:t>=</m:t>
                      </m:r>
                      <m:r>
                        <m:t>1</m:t>
                      </m:r>
                      <m:r>
                        <m:rPr>
                          <m:sty m:val="p"/>
                        </m:rPr>
                        <m:t>−</m:t>
                      </m:r>
                      <m:r>
                        <m:t>0.90</m:t>
                      </m:r>
                      <m:r>
                        <m:rPr>
                          <m:sty m:val="p"/>
                        </m:rPr>
                        <m:t>=</m:t>
                      </m:r>
                      <m:r>
                        <m:t>0.10</m:t>
                      </m:r>
                      <m:r>
                        <m:rPr>
                          <m:sty m:val="p"/>
                        </m:rPr>
                        <m:t>,</m:t>
                      </m:r>
                      <m:r>
                        <m:t>  </m:t>
                      </m:r>
                      <m:r>
                        <m:t>P</m:t>
                      </m:r>
                      <m:d>
                        <m:dPr>
                          <m:begChr m:val="("/>
                          <m:sepChr m:val=""/>
                          <m:endChr m:val=")"/>
                          <m:grow/>
                        </m:dPr>
                        <m:e>
                          <m:r>
                            <m:rPr>
                              <m:nor/>
                              <m:sty m:val="p"/>
                            </m:rPr>
                            <m:t>f. rain</m:t>
                          </m:r>
                          <m:r>
                            <m:rPr>
                              <m:sty m:val="p"/>
                            </m:rPr>
                            <m:t>∣</m:t>
                          </m:r>
                          <m:r>
                            <m:rPr>
                              <m:nor/>
                              <m:sty m:val="p"/>
                            </m:rPr>
                            <m:t>dry</m:t>
                          </m:r>
                        </m:e>
                      </m:d>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d>
                        <m:dPr>
                          <m:begChr m:val="("/>
                          <m:sepChr m:val=""/>
                          <m:endChr m:val=")"/>
                          <m:grow/>
                        </m:dPr>
                        <m:e>
                          <m:r>
                            <m:rPr>
                              <m:nor/>
                              <m:sty m:val="p"/>
                            </m:rPr>
                            <m:t>f. rain</m:t>
                          </m:r>
                        </m:e>
                      </m:d>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f. dry</m:t>
                          </m:r>
                        </m:e>
                      </m:d>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rain</m:t>
                          </m:r>
                        </m:e>
                      </m:d>
                      <m:r>
                        <m:rPr>
                          <m:sty m:val="p"/>
                        </m:rPr>
                        <m:t>=</m:t>
                      </m:r>
                      <m:f>
                        <m:fPr>
                          <m:type m:val="bar"/>
                        </m:fPr>
                        <m:num>
                          <m:r>
                            <m:t>P</m:t>
                          </m:r>
                          <m:d>
                            <m:dPr>
                              <m:begChr m:val="("/>
                              <m:sepChr m:val=""/>
                              <m:endChr m:val=")"/>
                              <m:grow/>
                            </m:dPr>
                            <m:e>
                              <m:r>
                                <m:rPr>
                                  <m:nor/>
                                  <m:sty m:val="p"/>
                                </m:rPr>
                                <m:t>f. rain</m:t>
                              </m:r>
                              <m:r>
                                <m:rPr>
                                  <m:sty m:val="p"/>
                                </m:rPr>
                                <m:t>∣</m:t>
                              </m:r>
                              <m:r>
                                <m:rPr>
                                  <m:nor/>
                                  <m:sty m:val="p"/>
                                </m:rPr>
                                <m:t>rain</m:t>
                              </m:r>
                            </m:e>
                          </m:d>
                          <m:r>
                            <m:rPr>
                              <m:sty m:val="p"/>
                            </m:rPr>
                            <m:t>⋅</m:t>
                          </m:r>
                          <m:r>
                            <m:t>p</m:t>
                          </m:r>
                        </m:num>
                        <m:den>
                          <m:r>
                            <m:t>P</m:t>
                          </m:r>
                          <m:d>
                            <m:dPr>
                              <m:begChr m:val="("/>
                              <m:sepChr m:val=""/>
                              <m:endChr m:val=")"/>
                              <m:grow/>
                            </m:dPr>
                            <m:e>
                              <m:r>
                                <m:rPr>
                                  <m:nor/>
                                  <m:sty m:val="p"/>
                                </m:rPr>
                                <m:t>f. rain</m:t>
                              </m:r>
                            </m:e>
                          </m:d>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d>
                        <m:dPr>
                          <m:begChr m:val="("/>
                          <m:sepChr m:val=""/>
                          <m:endChr m:val=")"/>
                          <m:grow/>
                        </m:dPr>
                        <m:e>
                          <m:r>
                            <m:rPr>
                              <m:nor/>
                              <m:sty m:val="p"/>
                            </m:rPr>
                            <m:t>rain</m:t>
                          </m:r>
                          <m:r>
                            <m:rPr>
                              <m:sty m:val="p"/>
                            </m:rPr>
                            <m:t>∣</m:t>
                          </m:r>
                          <m:r>
                            <m:rPr>
                              <m:nor/>
                              <m:sty m:val="p"/>
                            </m:rPr>
                            <m:t>f. dry</m:t>
                          </m:r>
                        </m:e>
                      </m:d>
                      <m:r>
                        <m:rPr>
                          <m:sty m:val="p"/>
                        </m:rPr>
                        <m:t>=</m:t>
                      </m:r>
                      <m:f>
                        <m:fPr>
                          <m:type m:val="bar"/>
                        </m:fPr>
                        <m:num>
                          <m:r>
                            <m:t>P</m:t>
                          </m:r>
                          <m:d>
                            <m:dPr>
                              <m:begChr m:val="("/>
                              <m:sepChr m:val=""/>
                              <m:endChr m:val=")"/>
                              <m:grow/>
                            </m:dPr>
                            <m:e>
                              <m:r>
                                <m:rPr>
                                  <m:nor/>
                                  <m:sty m:val="p"/>
                                </m:rPr>
                                <m:t>f. dry</m:t>
                              </m:r>
                              <m:r>
                                <m:rPr>
                                  <m:sty m:val="p"/>
                                </m:rPr>
                                <m:t>∣</m:t>
                              </m:r>
                              <m:r>
                                <m:rPr>
                                  <m:nor/>
                                  <m:sty m:val="p"/>
                                </m:rPr>
                                <m:t>rain</m:t>
                              </m:r>
                            </m:e>
                          </m:d>
                          <m:r>
                            <m:rPr>
                              <m:sty m:val="p"/>
                            </m:rPr>
                            <m:t>⋅</m:t>
                          </m:r>
                          <m:r>
                            <m:t>p</m:t>
                          </m:r>
                        </m:num>
                        <m:den>
                          <m:r>
                            <m:t>P</m:t>
                          </m:r>
                          <m:d>
                            <m:dPr>
                              <m:begChr m:val="("/>
                              <m:sepChr m:val=""/>
                              <m:endChr m:val=")"/>
                              <m:grow/>
                            </m:dPr>
                            <m:e>
                              <m:r>
                                <m:rPr>
                                  <m:nor/>
                                  <m:sty m:val="p"/>
                                </m:rPr>
                                <m:t>f. dry</m:t>
                              </m:r>
                            </m:e>
                          </m:d>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d>
                      <m:dPr>
                        <m:begChr m:val="("/>
                        <m:sepChr m:val=""/>
                        <m:endChr m:val=")"/>
                        <m:grow/>
                      </m:dPr>
                      <m:e>
                        <m:r>
                          <m:rPr>
                            <m:nor/>
                            <m:sty m:val="p"/>
                          </m:rPr>
                          <m:t>rain</m:t>
                        </m:r>
                      </m:e>
                    </m:d>
                    <m:r>
                      <m:rPr>
                        <m:sty m:val="p"/>
                      </m:rPr>
                      <m:t>×</m:t>
                    </m:r>
                    <m:r>
                      <m:t>L</m:t>
                    </m:r>
                    <m:r>
                      <m:rPr>
                        <m:sty m:val="p"/>
                      </m:rPr>
                      <m:t>&gt;</m:t>
                    </m:r>
                    <m:r>
                      <m:t>C</m:t>
                    </m:r>
                  </m:oMath>
                </a14:m>
                <a:r>
                  <a:rPr/>
                  <a:t>.</a:t>
                </a:r>
              </a:p>
              <a:p>
                <a:pPr lvl="0"/>
                <a:r>
                  <a:rPr b="1"/>
                  <a:t>Forecast rain</a:t>
                </a:r>
                <a:r>
                  <a:rPr/>
                  <a:t> (</a:t>
                </a:r>
                <a14:m>
                  <m:oMath xmlns:m="http://schemas.openxmlformats.org/officeDocument/2006/math">
                    <m:r>
                      <m:t>P</m:t>
                    </m:r>
                    <m:d>
                      <m:dPr>
                        <m:begChr m:val="("/>
                        <m:sepChr m:val=""/>
                        <m:endChr m:val=")"/>
                        <m:grow/>
                      </m:dPr>
                      <m:e>
                        <m:r>
                          <m:rPr>
                            <m:nor/>
                            <m:sty m:val="p"/>
                          </m:rPr>
                          <m:t>rain</m:t>
                        </m:r>
                      </m:e>
                    </m:d>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d>
                      <m:dPr>
                        <m:begChr m:val="("/>
                        <m:sepChr m:val=""/>
                        <m:endChr m:val=")"/>
                        <m:grow/>
                      </m:dPr>
                      <m:e>
                        <m:r>
                          <m:rPr>
                            <m:nor/>
                            <m:sty m:val="p"/>
                          </m:rPr>
                          <m:t>rain</m:t>
                        </m:r>
                      </m:e>
                    </m:d>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d>
                        <m:dPr>
                          <m:begChr m:val="["/>
                          <m:sepChr m:val=""/>
                          <m:endChr m:val="]"/>
                          <m:grow/>
                        </m:dPr>
                        <m:e>
                          <m:r>
                            <m:rPr>
                              <m:nor/>
                              <m:sty m:val="p"/>
                            </m:rPr>
                            <m:t>cost with forecast</m:t>
                          </m:r>
                        </m:e>
                      </m:d>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d>
                      <m:dPr>
                        <m:begChr m:val="("/>
                        <m:sepChr m:val=""/>
                        <m:endChr m:val=")"/>
                        <m:grow/>
                      </m:dPr>
                      <m:e>
                        <m:r>
                          <m:t>z</m:t>
                        </m:r>
                      </m:e>
                    </m:d>
                  </m:oMath>
                </a14:m>
              </a:p>
              <a:p>
                <a:pPr lvl="0" indent="-342900" marL="342900">
                  <a:buAutoNum type="arabicPeriod"/>
                </a:pPr>
                <a:r>
                  <a:rPr b="1"/>
                  <a:t>Update and optimize:</a:t>
                </a:r>
                <a:r>
                  <a:rPr/>
                  <a:t> for each signal, compute the posterior </a:t>
                </a:r>
                <a14:m>
                  <m:oMath xmlns:m="http://schemas.openxmlformats.org/officeDocument/2006/math">
                    <m:r>
                      <m:t>p</m:t>
                    </m:r>
                    <m:d>
                      <m:dPr>
                        <m:begChr m:val="("/>
                        <m:sepChr m:val=""/>
                        <m:endChr m:val=")"/>
                        <m:grow/>
                      </m:dPr>
                      <m:e>
                        <m:r>
                          <m:t>s</m:t>
                        </m:r>
                        <m:r>
                          <m:rPr>
                            <m:sty m:val="p"/>
                          </m:rPr>
                          <m:t>∣</m:t>
                        </m:r>
                        <m:r>
                          <m:t>z</m:t>
                        </m:r>
                      </m:e>
                    </m:d>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r>
                                        <m:rPr>
                                          <m:sty m:val="p"/>
                                        </m:rPr>
                                        <m:t>∣</m:t>
                                      </m:r>
                                      <m:r>
                                        <m:t>z</m:t>
                                      </m:r>
                                    </m:e>
                                  </m:d>
                                  <m:r>
                                    <m:t> </m:t>
                                  </m:r>
                                  <m:r>
                                    <m:t>d</m:t>
                                  </m:r>
                                  <m:r>
                                    <m:t>s</m:t>
                                  </m:r>
                                </m:e>
                              </m:d>
                              <m:r>
                                <m:t>p</m:t>
                              </m:r>
                              <m:d>
                                <m:dPr>
                                  <m:begChr m:val="("/>
                                  <m:sepChr m:val=""/>
                                  <m:endChr m:val=")"/>
                                  <m:grow/>
                                </m:dPr>
                                <m:e>
                                  <m:r>
                                    <m:t>z</m:t>
                                  </m:r>
                                </m:e>
                              </m:d>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d>
                                <m:dPr>
                                  <m:begChr m:val="("/>
                                  <m:sepChr m:val=""/>
                                  <m:endChr m:val=")"/>
                                  <m:grow/>
                                </m:dPr>
                                <m:e>
                                  <m:r>
                                    <m:t>a</m:t>
                                  </m:r>
                                  <m:r>
                                    <m:rPr>
                                      <m:sty m:val="p"/>
                                    </m:rPr>
                                    <m:t>,</m:t>
                                  </m:r>
                                  <m:r>
                                    <m:t>s</m:t>
                                  </m:r>
                                </m:e>
                              </m:d>
                              <m:r>
                                <m:t> </m:t>
                              </m:r>
                              <m:r>
                                <m:t>p</m:t>
                              </m:r>
                              <m:d>
                                <m:dPr>
                                  <m:begChr m:val="("/>
                                  <m:sepChr m:val=""/>
                                  <m:endChr m:val=")"/>
                                  <m:grow/>
                                </m:dPr>
                                <m:e>
                                  <m:r>
                                    <m:t>s</m:t>
                                  </m:r>
                                </m:e>
                              </m:d>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d>
                      <m:dPr>
                        <m:begChr m:val="("/>
                        <m:sepChr m:val=""/>
                        <m:endChr m:val=")"/>
                        <m:grow/>
                      </m:dPr>
                      <m:e>
                        <m:r>
                          <m:t>s</m:t>
                        </m:r>
                        <m:r>
                          <m:rPr>
                            <m:sty m:val="p"/>
                          </m:rPr>
                          <m:t>∣</m:t>
                        </m:r>
                        <m:r>
                          <m:t>z</m:t>
                        </m:r>
                      </m:e>
                    </m:d>
                    <m:r>
                      <m:rPr>
                        <m:sty m:val="p"/>
                      </m:rPr>
                      <m:t>=</m:t>
                    </m:r>
                    <m:r>
                      <m:t>p</m:t>
                    </m:r>
                    <m:d>
                      <m:dPr>
                        <m:begChr m:val="("/>
                        <m:sepChr m:val=""/>
                        <m:endChr m:val=")"/>
                        <m:grow/>
                      </m:dPr>
                      <m:e>
                        <m:r>
                          <m:t>s</m:t>
                        </m:r>
                      </m:e>
                    </m:d>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(Blackwell 1953):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Blackwell, David. 1953. “Equivalent Comparisons of Experiments.” </a:t>
            </a:r>
            <a:r>
              <a:rPr i="1"/>
              <a:t>The Annals of Mathematical Statistics</a:t>
            </a:r>
            <a:r>
              <a:rPr/>
              <a:t> 24 (2): 265–72. </a:t>
            </a:r>
            <a:r>
              <a:rPr>
                <a:hlinkClick r:id="rId2"/>
              </a:rPr>
              <a:t>https://doi.org/10.1214/aoms/1177729032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Dr. James Doss-Gollin</dc:creator>
  <cp:keywords/>
  <dcterms:created xsi:type="dcterms:W3CDTF">2026-03-06T08:00:17Z</dcterms:created>
  <dcterms:modified xsi:type="dcterms:W3CDTF">2026-03-06T08:00:17Z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7</vt:lpwstr>
  </property>
</Properties>
</file>
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 umbrella"</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 bring"</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r>
                  <a:rPr>
                    <a:solidFill>
                      <a:srgbClr val="003B4F"/>
                    </a:solidFill>
                    <a:latin typeface="Courier"/>
                  </a:rPr>
                  <a:t>}</a:t>
                </a:r>
              </a:p>
            </p:txBody>
          </p:sp>
        </mc:Choice>
      </mc:AlternateContent>
      <p:pic>
        <p:nvPicPr>
          <p:cNvPr descr="evii_files/figure-pptx/dot-figure-1.png" id="0" name="Picture 1"/>
          <p:cNvPicPr>
            <a:picLocks noGrp="1" noChangeAspect="1"/>
          </p:cNvPicPr>
          <p:nvPr/>
        </p:nvPicPr>
        <p:blipFill>
          <a:blip r:embed="rId2"/>
          <a:stretch>
            <a:fillRect/>
          </a:stretch>
        </p:blipFill>
        <p:spPr bwMode="auto">
          <a:xfrm>
            <a:off x="3568700" y="965200"/>
            <a:ext cx="5105400" cy="2844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without information. You choose first, then nature reveals the state.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003B4F"/>
                    </a:solidFill>
                    <a:latin typeface="Courier"/>
                  </a:rPr>
                  <a:t>}</a:t>
                </a:r>
              </a:p>
            </p:txBody>
          </p:sp>
        </mc:Choice>
      </mc:AlternateContent>
      <p:pic>
        <p:nvPicPr>
          <p:cNvPr descr="evii_files/figure-pptx/dot-figure-4.png" id="0" name="Picture 1"/>
          <p:cNvPicPr>
            <a:picLocks noGrp="1" noChangeAspect="1"/>
          </p:cNvPicPr>
          <p:nvPr/>
        </p:nvPicPr>
        <p:blipFill>
          <a:blip r:embed="rId2"/>
          <a:stretch>
            <a:fillRect/>
          </a:stretch>
        </p:blipFill>
        <p:spPr bwMode="auto">
          <a:xfrm>
            <a:off x="3568700" y="914400"/>
            <a:ext cx="5105400" cy="295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perfect information. Nature reveals the state, then you choose.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b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003B4F"/>
                </a:solidFill>
                <a:latin typeface="Courier"/>
              </a:rPr>
              <a:t>}</a:t>
            </a:r>
          </a:p>
        </p:txBody>
      </p:sp>
      <p:pic>
        <p:nvPicPr>
          <p:cNvPr descr="evii_files/figure-pptx/dot-figure-3.png" id="0" name="Picture 1"/>
          <p:cNvPicPr>
            <a:picLocks noGrp="1" noChangeAspect="1"/>
          </p:cNvPicPr>
          <p:nvPr/>
        </p:nvPicPr>
        <p:blipFill>
          <a:blip r:embed="rId2"/>
          <a:stretch>
            <a:fillRect/>
          </a:stretch>
        </p:blipFill>
        <p:spPr bwMode="auto">
          <a:xfrm>
            <a:off x="3568700" y="355600"/>
            <a:ext cx="5105400" cy="4076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Incomplete imperfect-information tree. The signal and decision layers are known, but the posterior probabilities at the nature nodes require Bayes’ rule.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r>
                  <a:rPr>
                    <a:solidFill>
                      <a:srgbClr val="003B4F"/>
                    </a:solidFill>
                    <a:latin typeface="Courier"/>
                  </a:rPr>
                  <a:t>}</a:t>
                </a:r>
              </a:p>
            </p:txBody>
          </p:sp>
        </mc:Choice>
      </mc:AlternateContent>
      <p:pic>
        <p:nvPicPr>
          <p:cNvPr descr="evii_files/figure-pptx/dot-figure-2.png" id="0" name="Picture 1"/>
          <p:cNvPicPr>
            <a:picLocks noGrp="1" noChangeAspect="1"/>
          </p:cNvPicPr>
          <p:nvPr/>
        </p:nvPicPr>
        <p:blipFill>
          <a:blip r:embed="rId2"/>
          <a:stretch>
            <a:fillRect/>
          </a:stretch>
        </p:blipFill>
        <p:spPr bwMode="auto">
          <a:xfrm>
            <a:off x="3568700" y="368300"/>
            <a:ext cx="5105400" cy="405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an imperfect forecast. Posterior probabilities from Bayes’ rule replace the prior at the nature nodes.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2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2026-02-26T05:54:09Z</dcterms:created>
  <dcterms:modified xsi:type="dcterms:W3CDTF">2026-02-26T05:54:09Z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
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2.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4.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no-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Decision tree without information. You choose first, then nature reveals the state.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perfect-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Decision tree with perfect information. Nature reveals the state, then you choose.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r>
                      <m:rPr>
                        <m:sty m:val="p"/>
                      </m:rPr>
                      <m:t>(</m:t>
                    </m:r>
                    <m:r>
                      <m:t>a</m:t>
                    </m:r>
                    <m:r>
                      <m:rPr>
                        <m:sty m:val="p"/>
                      </m:rPr>
                      <m:t>,</m:t>
                    </m:r>
                    <m:r>
                      <m:t>s</m:t>
                    </m:r>
                    <m:r>
                      <m:rPr>
                        <m:sty m:val="p"/>
                      </m:rPr>
                      <m:t>)</m:t>
                    </m:r>
                    <m:r>
                      <m:t> </m:t>
                    </m:r>
                    <m:r>
                      <m:t>p</m:t>
                    </m:r>
                    <m:r>
                      <m:rPr>
                        <m:sty m:val="p"/>
                      </m:rPr>
                      <m:t>(</m:t>
                    </m:r>
                    <m:r>
                      <m:t>s</m:t>
                    </m:r>
                    <m:r>
                      <m:rPr>
                        <m:sty m:val="p"/>
                      </m:rPr>
                      <m:t>)</m:t>
                    </m:r>
                    <m:r>
                      <m:t> </m:t>
                    </m:r>
                    <m:r>
                      <m:t>d</m:t>
                    </m:r>
                    <m:r>
                      <m:t>s</m:t>
                    </m:r>
                  </m:oMath>
                </a14:m>
                <a:r>
                  <a:rPr/>
                  <a:t> is the compact version of an infinite tree.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r>
                      <m:rPr>
                        <m:sty m:val="p"/>
                      </m:rPr>
                      <m:t>(</m:t>
                    </m:r>
                    <m:r>
                      <m:rPr>
                        <m:nor/>
                        <m:sty m:val="p"/>
                      </m:rPr>
                      <m:t>f. rain</m:t>
                    </m:r>
                    <m:r>
                      <m:rPr>
                        <m:sty m:val="p"/>
                      </m:rPr>
                      <m:t>∣</m:t>
                    </m:r>
                    <m:r>
                      <m:rPr>
                        <m:nor/>
                        <m:sty m:val="p"/>
                      </m:rPr>
                      <m:t>rain</m:t>
                    </m:r>
                    <m:r>
                      <m:rPr>
                        <m:sty m:val="p"/>
                      </m:rPr>
                      <m:t>)</m:t>
                    </m:r>
                    <m:r>
                      <m:rPr>
                        <m:sty m:val="p"/>
                      </m:rPr>
                      <m:t>=</m:t>
                    </m:r>
                    <m:r>
                      <m:t>0.90</m:t>
                    </m:r>
                  </m:oMath>
                </a14:m>
              </a:p>
              <a:p>
                <a:pPr lvl="0"/>
                <a:r>
                  <a:rPr b="1"/>
                  <a:t>Correct rejection rate:</a:t>
                </a:r>
                <a:r>
                  <a:rPr/>
                  <a:t> </a:t>
                </a:r>
                <a14:m>
                  <m:oMath xmlns:m="http://schemas.openxmlformats.org/officeDocument/2006/math">
                    <m:r>
                      <m:t>P</m:t>
                    </m:r>
                    <m:r>
                      <m:rPr>
                        <m:sty m:val="p"/>
                      </m:rPr>
                      <m:t>(</m:t>
                    </m:r>
                    <m:r>
                      <m:rPr>
                        <m:nor/>
                        <m:sty m:val="p"/>
                      </m:rPr>
                      <m:t>f. dry</m:t>
                    </m:r>
                    <m:r>
                      <m:rPr>
                        <m:sty m:val="p"/>
                      </m:rPr>
                      <m:t>∣</m:t>
                    </m:r>
                    <m:r>
                      <m:rPr>
                        <m:nor/>
                        <m:sty m:val="p"/>
                      </m:rPr>
                      <m:t>dry</m:t>
                    </m:r>
                    <m:r>
                      <m:rPr>
                        <m:sty m:val="p"/>
                      </m:rPr>
                      <m:t>)</m:t>
                    </m:r>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r>
                      <m:rPr>
                        <m:sty m:val="p"/>
                      </m:rPr>
                      <m:t>(</m:t>
                    </m:r>
                    <m:r>
                      <m:rPr>
                        <m:nor/>
                        <m:sty m:val="p"/>
                      </m:rPr>
                      <m:t>f. rain</m:t>
                    </m:r>
                    <m:r>
                      <m:rPr>
                        <m:sty m:val="p"/>
                      </m:rPr>
                      <m:t>)</m:t>
                    </m:r>
                  </m:oMath>
                </a14:m>
                <a:r>
                  <a:rPr/>
                  <a:t> and </a:t>
                </a:r>
                <a14:m>
                  <m:oMath xmlns:m="http://schemas.openxmlformats.org/officeDocument/2006/math">
                    <m:r>
                      <m:t>P</m:t>
                    </m:r>
                    <m:r>
                      <m:rPr>
                        <m:sty m:val="p"/>
                      </m:rPr>
                      <m:t>(</m:t>
                    </m:r>
                    <m:r>
                      <m:rPr>
                        <m:nor/>
                        <m:sty m:val="p"/>
                      </m:rPr>
                      <m:t>rain</m:t>
                    </m:r>
                    <m:r>
                      <m:rPr>
                        <m:sty m:val="p"/>
                      </m:rPr>
                      <m:t>∣</m:t>
                    </m:r>
                    <m:r>
                      <m:rPr>
                        <m:nor/>
                        <m:sty m:val="p"/>
                      </m:rPr>
                      <m:t>f. rain</m:t>
                    </m:r>
                    <m:r>
                      <m:rPr>
                        <m:sty m:val="p"/>
                      </m:rPr>
                      <m:t>)</m:t>
                    </m:r>
                  </m:oMath>
                </a14:m>
                <a:r>
                  <a:rPr/>
                  <a:t> — those require Bayes’ rule.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nor/>
                          <m:sty m:val="p"/>
                        </m:rPr>
                        <m:t>rain</m:t>
                      </m:r>
                      <m:r>
                        <m:rPr>
                          <m:sty m:val="p"/>
                        </m:rPr>
                        <m:t>)</m:t>
                      </m:r>
                      <m:r>
                        <m:rPr>
                          <m:sty m:val="p"/>
                        </m:rPr>
                        <m:t>=</m:t>
                      </m:r>
                      <m:r>
                        <m:t>1</m:t>
                      </m:r>
                      <m:r>
                        <m:rPr>
                          <m:sty m:val="p"/>
                        </m:rPr>
                        <m:t>−</m:t>
                      </m:r>
                      <m:r>
                        <m:t>0.90</m:t>
                      </m:r>
                      <m:r>
                        <m:rPr>
                          <m:sty m:val="p"/>
                        </m:rPr>
                        <m:t>=</m:t>
                      </m:r>
                      <m:r>
                        <m:t>0.10</m:t>
                      </m:r>
                      <m:r>
                        <m:rPr>
                          <m:sty m:val="p"/>
                        </m:rPr>
                        <m:t>,</m:t>
                      </m:r>
                      <m:r>
                        <m:t>  </m:t>
                      </m:r>
                      <m:r>
                        <m:t>P</m:t>
                      </m:r>
                      <m:r>
                        <m:rPr>
                          <m:sty m:val="p"/>
                        </m:rPr>
                        <m:t>(</m:t>
                      </m:r>
                      <m:r>
                        <m:rPr>
                          <m:nor/>
                          <m:sty m:val="p"/>
                        </m:rPr>
                        <m:t>f. rain</m:t>
                      </m:r>
                      <m:r>
                        <m:rPr>
                          <m:sty m:val="p"/>
                        </m:rPr>
                        <m:t>∣</m:t>
                      </m:r>
                      <m:r>
                        <m:rPr>
                          <m:nor/>
                          <m:sty m:val="p"/>
                        </m:rPr>
                        <m:t>dry</m:t>
                      </m:r>
                      <m:r>
                        <m:rPr>
                          <m:sty m:val="p"/>
                        </m:rPr>
                        <m:t>)</m:t>
                      </m:r>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r>
                        <m:rPr>
                          <m:sty m:val="p"/>
                        </m:rPr>
                        <m:t>(</m:t>
                      </m:r>
                      <m:r>
                        <m:rPr>
                          <m:nor/>
                          <m:sty m:val="p"/>
                        </m:rPr>
                        <m:t>f. rain</m:t>
                      </m:r>
                      <m:r>
                        <m:rPr>
                          <m:sty m:val="p"/>
                        </m:rPr>
                        <m:t>)</m:t>
                      </m:r>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p:txBody>
      </p:sp>
      <p:pic>
        <p:nvPicPr>
          <p:cNvPr descr="tree-incomplete.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3: Incomplete imperfect-information tree. The signal and decision layers are known, but the posterior probabilities at the nature nodes require Bayes’ rule.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rain</m:t>
                      </m:r>
                      <m:r>
                        <m:rPr>
                          <m:sty m:val="p"/>
                        </m:rPr>
                        <m:t>)</m:t>
                      </m:r>
                      <m:r>
                        <m:rPr>
                          <m:sty m:val="p"/>
                        </m:rPr>
                        <m:t>=</m:t>
                      </m:r>
                      <m:f>
                        <m:fPr>
                          <m:type m:val="bar"/>
                        </m:fPr>
                        <m:num>
                          <m:r>
                            <m:t>P</m:t>
                          </m:r>
                          <m:r>
                            <m:rPr>
                              <m:sty m:val="p"/>
                            </m:rPr>
                            <m:t>(</m:t>
                          </m:r>
                          <m:r>
                            <m:rPr>
                              <m:nor/>
                              <m:sty m:val="p"/>
                            </m:rPr>
                            <m:t>f. rain</m:t>
                          </m:r>
                          <m:r>
                            <m:rPr>
                              <m:sty m:val="p"/>
                            </m:rPr>
                            <m:t>∣</m:t>
                          </m:r>
                          <m:r>
                            <m:rPr>
                              <m:nor/>
                              <m:sty m:val="p"/>
                            </m:rPr>
                            <m:t>rain</m:t>
                          </m:r>
                          <m:r>
                            <m:rPr>
                              <m:sty m:val="p"/>
                            </m:rPr>
                            <m:t>)</m:t>
                          </m:r>
                          <m:r>
                            <m:rPr>
                              <m:sty m:val="p"/>
                            </m:rPr>
                            <m:t>⋅</m:t>
                          </m:r>
                          <m:r>
                            <m:t>p</m:t>
                          </m:r>
                        </m:num>
                        <m:den>
                          <m:r>
                            <m:t>P</m:t>
                          </m:r>
                          <m:r>
                            <m:rPr>
                              <m:sty m:val="p"/>
                            </m:rPr>
                            <m:t>(</m:t>
                          </m:r>
                          <m:r>
                            <m:rPr>
                              <m:nor/>
                              <m:sty m:val="p"/>
                            </m:rPr>
                            <m:t>f. rain</m:t>
                          </m:r>
                          <m:r>
                            <m:rPr>
                              <m:sty m:val="p"/>
                            </m:rPr>
                            <m:t>)</m:t>
                          </m:r>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dry</m:t>
                      </m:r>
                      <m:r>
                        <m:rPr>
                          <m:sty m:val="p"/>
                        </m:rPr>
                        <m:t>)</m:t>
                      </m:r>
                      <m:r>
                        <m:rPr>
                          <m:sty m:val="p"/>
                        </m:rPr>
                        <m:t>=</m:t>
                      </m:r>
                      <m:f>
                        <m:fPr>
                          <m:type m:val="bar"/>
                        </m:fPr>
                        <m:num>
                          <m:r>
                            <m:t>P</m:t>
                          </m:r>
                          <m:r>
                            <m:rPr>
                              <m:sty m:val="p"/>
                            </m:rPr>
                            <m:t>(</m:t>
                          </m:r>
                          <m:r>
                            <m:rPr>
                              <m:nor/>
                              <m:sty m:val="p"/>
                            </m:rPr>
                            <m:t>f. dry</m:t>
                          </m:r>
                          <m:r>
                            <m:rPr>
                              <m:sty m:val="p"/>
                            </m:rPr>
                            <m:t>∣</m:t>
                          </m:r>
                          <m:r>
                            <m:rPr>
                              <m:nor/>
                              <m:sty m:val="p"/>
                            </m:rPr>
                            <m:t>rain</m:t>
                          </m:r>
                          <m:r>
                            <m:rPr>
                              <m:sty m:val="p"/>
                            </m:rPr>
                            <m:t>)</m:t>
                          </m:r>
                          <m:r>
                            <m:rPr>
                              <m:sty m:val="p"/>
                            </m:rPr>
                            <m:t>⋅</m:t>
                          </m:r>
                          <m:r>
                            <m:t>p</m:t>
                          </m:r>
                        </m:num>
                        <m:den>
                          <m:r>
                            <m:t>P</m:t>
                          </m:r>
                          <m:r>
                            <m:rPr>
                              <m:sty m:val="p"/>
                            </m:rPr>
                            <m:t>(</m:t>
                          </m:r>
                          <m:r>
                            <m:rPr>
                              <m:nor/>
                              <m:sty m:val="p"/>
                            </m:rPr>
                            <m:t>f. dry</m:t>
                          </m:r>
                          <m:r>
                            <m:rPr>
                              <m:sty m:val="p"/>
                            </m:rPr>
                            <m:t>)</m:t>
                          </m:r>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p:txBody>
          </p:sp>
        </mc:Choice>
      </mc:AlternateContent>
      <p:pic>
        <p:nvPicPr>
          <p:cNvPr descr="tree-imperfect.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4: Decision tree with an imperfect forecast. Posterior probabilities from Bayes’ rule replace the prior at the nature nodes.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r>
                      <m:rPr>
                        <m:sty m:val="p"/>
                      </m:rPr>
                      <m:t>(</m:t>
                    </m:r>
                    <m:r>
                      <m:rPr>
                        <m:nor/>
                        <m:sty m:val="p"/>
                      </m:rPr>
                      <m:t>rain</m:t>
                    </m:r>
                    <m:r>
                      <m:rPr>
                        <m:sty m:val="p"/>
                      </m:rPr>
                      <m:t>)</m:t>
                    </m:r>
                    <m:r>
                      <m:rPr>
                        <m:sty m:val="p"/>
                      </m:rPr>
                      <m:t>×</m:t>
                    </m:r>
                    <m:r>
                      <m:t>L</m:t>
                    </m:r>
                    <m:r>
                      <m:rPr>
                        <m:sty m:val="p"/>
                      </m:rPr>
                      <m:t>&gt;</m:t>
                    </m:r>
                    <m:r>
                      <m:t>C</m:t>
                    </m:r>
                  </m:oMath>
                </a14:m>
                <a:r>
                  <a:rPr/>
                  <a:t>.</a:t>
                </a:r>
              </a:p>
              <a:p>
                <a:pPr lvl="0"/>
                <a:r>
                  <a:rPr b="1"/>
                  <a:t>Forecast rain</a:t>
                </a:r>
                <a:r>
                  <a:rPr/>
                  <a:t> (</a:t>
                </a:r>
                <a14:m>
                  <m:oMath xmlns:m="http://schemas.openxmlformats.org/officeDocument/2006/math">
                    <m:r>
                      <m:t>P</m:t>
                    </m:r>
                    <m:r>
                      <m:rPr>
                        <m:sty m:val="p"/>
                      </m:rPr>
                      <m:t>(</m:t>
                    </m:r>
                    <m:r>
                      <m:rPr>
                        <m:nor/>
                        <m:sty m:val="p"/>
                      </m:rPr>
                      <m:t>rain</m:t>
                    </m:r>
                    <m:r>
                      <m:rPr>
                        <m:sty m:val="p"/>
                      </m:rPr>
                      <m:t>)</m:t>
                    </m:r>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r>
                      <m:rPr>
                        <m:sty m:val="p"/>
                      </m:rPr>
                      <m:t>(</m:t>
                    </m:r>
                    <m:r>
                      <m:rPr>
                        <m:nor/>
                        <m:sty m:val="p"/>
                      </m:rPr>
                      <m:t>rain</m:t>
                    </m:r>
                    <m:r>
                      <m:rPr>
                        <m:sty m:val="p"/>
                      </m:rPr>
                      <m:t>)</m:t>
                    </m:r>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r>
                        <m:rPr>
                          <m:sty m:val="p"/>
                        </m:rPr>
                        <m:t>[</m:t>
                      </m:r>
                      <m:r>
                        <m:rPr>
                          <m:nor/>
                          <m:sty m:val="p"/>
                        </m:rPr>
                        <m:t>cost with forecast</m:t>
                      </m:r>
                      <m:r>
                        <m:rPr>
                          <m:sty m:val="p"/>
                        </m:rPr>
                        <m:t>]</m:t>
                      </m:r>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r>
                      <m:rPr>
                        <m:sty m:val="p"/>
                      </m:rPr>
                      <m:t>(</m:t>
                    </m:r>
                    <m:r>
                      <m:t>z</m:t>
                    </m:r>
                    <m:r>
                      <m:rPr>
                        <m:sty m:val="p"/>
                      </m:rPr>
                      <m:t>)</m:t>
                    </m:r>
                  </m:oMath>
                </a14:m>
              </a:p>
              <a:p>
                <a:pPr lvl="0" indent="-342900" marL="342900">
                  <a:buAutoNum type="arabicPeriod"/>
                </a:pPr>
                <a:r>
                  <a:rPr b="1"/>
                  <a:t>Update and optimize:</a:t>
                </a:r>
                <a:r>
                  <a:rPr/>
                  <a:t> for each signal, compute the posterior </a:t>
                </a:r>
                <a14:m>
                  <m:oMath xmlns:m="http://schemas.openxmlformats.org/officeDocument/2006/math">
                    <m:r>
                      <m:t>p</m:t>
                    </m:r>
                    <m:r>
                      <m:rPr>
                        <m:sty m:val="p"/>
                      </m:rPr>
                      <m:t>(</m:t>
                    </m:r>
                    <m:r>
                      <m:t>s</m:t>
                    </m:r>
                    <m:r>
                      <m:rPr>
                        <m:sty m:val="p"/>
                      </m:rPr>
                      <m:t>∣</m:t>
                    </m:r>
                    <m:r>
                      <m:t>z</m:t>
                    </m:r>
                    <m:r>
                      <m:rPr>
                        <m:sty m:val="p"/>
                      </m:rPr>
                      <m:t>)</m:t>
                    </m:r>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z</m:t>
                                  </m:r>
                                  <m:r>
                                    <m:rPr>
                                      <m:sty m:val="p"/>
                                    </m:rPr>
                                    <m:t>)</m:t>
                                  </m:r>
                                  <m:r>
                                    <m:t> </m:t>
                                  </m:r>
                                  <m:r>
                                    <m:t>d</m:t>
                                  </m:r>
                                  <m:r>
                                    <m:t>s</m:t>
                                  </m:r>
                                </m:e>
                              </m:d>
                              <m:r>
                                <m:t>p</m:t>
                              </m:r>
                              <m:r>
                                <m:rPr>
                                  <m:sty m:val="p"/>
                                </m:rPr>
                                <m:t>(</m:t>
                              </m:r>
                              <m:r>
                                <m:t>z</m:t>
                              </m:r>
                              <m:r>
                                <m:rPr>
                                  <m:sty m:val="p"/>
                                </m:rPr>
                                <m:t>)</m:t>
                              </m:r>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r>
                      <m:rPr>
                        <m:sty m:val="p"/>
                      </m:rPr>
                      <m:t>(</m:t>
                    </m:r>
                    <m:r>
                      <m:t>s</m:t>
                    </m:r>
                    <m:r>
                      <m:rPr>
                        <m:sty m:val="p"/>
                      </m:rPr>
                      <m:t>∣</m:t>
                    </m:r>
                    <m:r>
                      <m:t>z</m:t>
                    </m:r>
                    <m:r>
                      <m:rPr>
                        <m:sty m:val="p"/>
                      </m:rPr>
                      <m:t>)</m:t>
                    </m:r>
                    <m:r>
                      <m:rPr>
                        <m:sty m:val="p"/>
                      </m:rPr>
                      <m:t>=</m:t>
                    </m:r>
                    <m:r>
                      <m:t>p</m:t>
                    </m:r>
                    <m:r>
                      <m:rPr>
                        <m:sty m:val="p"/>
                      </m:rPr>
                      <m:t>(</m:t>
                    </m:r>
                    <m:r>
                      <m:t>s</m:t>
                    </m:r>
                    <m:r>
                      <m:rPr>
                        <m:sty m:val="p"/>
                      </m:rPr>
                      <m:t>)</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James Doss-Gollin</dc:creator>
  <cp:keywords/>
  <dcterms:created xsi:type="dcterms:W3CDTF">2026-04-03T15:51:51Z</dcterms:created>
  <dcterms:modified xsi:type="dcterms:W3CDTF">2026-04-03T15:51:51Z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7</vt:lpwstr>
  </property>
</Properties>
</file>
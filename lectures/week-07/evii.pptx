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notesMaster" Target="notesMasters/notesMaster1.xml" /><Relationship Id="rId31" Type="http://schemas.openxmlformats.org/officeDocument/2006/relationships/viewProps" Target="viewProps.xml" /><Relationship Id="rId30" Type="http://schemas.openxmlformats.org/officeDocument/2006/relationships/presProps" Target="presProps.xml" /><Relationship Id="rId1" Type="http://schemas.openxmlformats.org/officeDocument/2006/relationships/slideMaster" Target="slideMasters/slideMaster1.xml" /><Relationship Id="rId33" Type="http://schemas.openxmlformats.org/officeDocument/2006/relationships/tableStyles" Target="tableStyles.xml" /><Relationship Id="rId3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4/aoms/11777290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Draft Material:</a:t>
            </a:r>
            <a:r>
              <a:rPr/>
              <a:t> This content is under development and subject to change.</a:t>
            </a:r>
          </a:p>
        </p:txBody>
      </p:sp>
    </p:spTree>
  </p:cSld>
</p:sld>
</file>

<file path=ppt/slides/slide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 umbrella"</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 bring"</a:t>
                </a:r>
                <a:r>
                  <a:rPr>
                    <a:solidFill>
                      <a:srgbClr val="003B4F"/>
                    </a:solidFill>
                    <a:latin typeface="Courier"/>
                  </a:rPr>
                  <a:t>]</a:t>
                </a:r>
                <a:b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r>
                  <a:rPr>
                    <a:solidFill>
                      <a:srgbClr val="003B4F"/>
                    </a:solidFill>
                    <a:latin typeface="Courier"/>
                  </a:rPr>
                  <a:t>}</a:t>
                </a:r>
              </a:p>
            </p:txBody>
          </p:sp>
        </mc:Choice>
      </mc:AlternateContent>
      <p:pic>
        <p:nvPicPr>
          <p:cNvPr descr="evii_files/figure-pptx/dot-figure-1.png" id="0" name="Picture 1"/>
          <p:cNvPicPr>
            <a:picLocks noGrp="1" noChangeAspect="1"/>
          </p:cNvPicPr>
          <p:nvPr/>
        </p:nvPicPr>
        <p:blipFill>
          <a:blip r:embed="rId2"/>
          <a:stretch>
            <a:fillRect/>
          </a:stretch>
        </p:blipFill>
        <p:spPr bwMode="auto">
          <a:xfrm>
            <a:off x="3568700" y="965200"/>
            <a:ext cx="5105400" cy="2844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without information. You choose first, then nature reveals the state.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(0.3)"</a:t>
                </a:r>
                <a:r>
                  <a:rPr>
                    <a:solidFill>
                      <a:srgbClr val="003B4F"/>
                    </a:solidFill>
                    <a:latin typeface="Courier"/>
                  </a:rPr>
                  <a:t>]</a:t>
                </a:r>
                <a:br/>
                <a:r>
                  <a:rPr>
                    <a:solidFill>
                      <a:srgbClr val="5E5E5E"/>
                    </a:solidFill>
                    <a:latin typeface="Courier"/>
                  </a:rPr>
                  <a:t>    </a:t>
                </a:r>
                <a:r>
                  <a:rPr>
                    <a:solidFill>
                      <a:srgbClr val="111111"/>
                    </a:solidFill>
                    <a:latin typeface="Courier"/>
                  </a:rPr>
                  <a:t>N</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No rain (0.7)"</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003B4F"/>
                    </a:solidFill>
                    <a:latin typeface="Courier"/>
                  </a:rPr>
                  <a:t>}</a:t>
                </a:r>
              </a:p>
            </p:txBody>
          </p:sp>
        </mc:Choice>
      </mc:AlternateContent>
      <p:pic>
        <p:nvPicPr>
          <p:cNvPr descr="evii_files/figure-pptx/dot-figure-4.png" id="0" name="Picture 1"/>
          <p:cNvPicPr>
            <a:picLocks noGrp="1" noChangeAspect="1"/>
          </p:cNvPicPr>
          <p:nvPr/>
        </p:nvPicPr>
        <p:blipFill>
          <a:blip r:embed="rId2"/>
          <a:stretch>
            <a:fillRect/>
          </a:stretch>
        </p:blipFill>
        <p:spPr bwMode="auto">
          <a:xfrm>
            <a:off x="3568700" y="914400"/>
            <a:ext cx="5105400" cy="2959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perfect information. Nature reveals the state, then you choose.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"#ffe0e0"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a:t>
            </a:r>
            <a:r>
              <a:rPr>
                <a:solidFill>
                  <a:srgbClr val="003B4F"/>
                </a:solidFill>
                <a:latin typeface="Courier"/>
              </a:rPr>
              <a:t>]</a:t>
            </a:r>
            <a:br/>
            <a:br/>
            <a:r>
              <a:rPr>
                <a:solidFill>
                  <a:srgbClr val="5E5E5E"/>
                </a:solidFill>
                <a:latin typeface="Courier"/>
              </a:rPr>
              <a:t>    </a:t>
            </a:r>
            <a:r>
              <a:rPr>
                <a:solidFill>
                  <a:srgbClr val="111111"/>
                </a:solidFill>
                <a:latin typeface="Courier"/>
              </a:rPr>
              <a:t>QRB1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QRD1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QRD2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QDB1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QDB2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QDD1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QDD2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003B4F"/>
                </a:solidFill>
                <a:latin typeface="Courier"/>
              </a:rPr>
              <a:t>}</a:t>
            </a:r>
          </a:p>
        </p:txBody>
      </p:sp>
      <p:pic>
        <p:nvPicPr>
          <p:cNvPr descr="evii_files/figure-pptx/dot-figure-3.png" id="0" name="Picture 1"/>
          <p:cNvPicPr>
            <a:picLocks noGrp="1" noChangeAspect="1"/>
          </p:cNvPicPr>
          <p:nvPr/>
        </p:nvPicPr>
        <p:blipFill>
          <a:blip r:embed="rId2"/>
          <a:stretch>
            <a:fillRect/>
          </a:stretch>
        </p:blipFill>
        <p:spPr bwMode="auto">
          <a:xfrm>
            <a:off x="3568700" y="355600"/>
            <a:ext cx="5105400" cy="4076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Incomplete imperfect-information tree. The signal and decision layers are known, but the posterior probabilities at the nature nodes require Bayes’ rule.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a:p>
                <a:pPr lvl="0" indent="0">
                  <a:buNone/>
                </a:pPr>
                <a:r>
                  <a:rPr b="1">
                    <a:solidFill>
                      <a:srgbClr val="003B4F"/>
                    </a:solidFill>
                    <a:latin typeface="Courier"/>
                  </a:rPr>
                  <a:t>digraph</a:t>
                </a:r>
                <a:r>
                  <a:rPr>
                    <a:solidFill>
                      <a:srgbClr val="003B4F"/>
                    </a:solidFill>
                    <a:latin typeface="Courier"/>
                  </a:rPr>
                  <a:t> {</a:t>
                </a:r>
                <a:br/>
                <a:r>
                  <a:rPr>
                    <a:solidFill>
                      <a:srgbClr val="5E5E5E"/>
                    </a:solidFill>
                    <a:latin typeface="Courier"/>
                  </a:rPr>
                  <a:t>    </a:t>
                </a:r>
                <a:r>
                  <a:rPr>
                    <a:solidFill>
                      <a:srgbClr val="657422"/>
                    </a:solidFill>
                    <a:latin typeface="Courier"/>
                  </a:rPr>
                  <a:t>rankdir</a:t>
                </a:r>
                <a:r>
                  <a:rPr>
                    <a:solidFill>
                      <a:srgbClr val="003B4F"/>
                    </a:solidFill>
                    <a:latin typeface="Courier"/>
                  </a:rPr>
                  <a:t>=</a:t>
                </a:r>
                <a:r>
                  <a:rPr>
                    <a:solidFill>
                      <a:srgbClr val="111111"/>
                    </a:solidFill>
                    <a:latin typeface="Courier"/>
                  </a:rPr>
                  <a:t>LR</a:t>
                </a:r>
                <a:br/>
                <a:r>
                  <a:rPr>
                    <a:solidFill>
                      <a:srgbClr val="5E5E5E"/>
                    </a:solidFill>
                    <a:latin typeface="Courier"/>
                  </a:rPr>
                  <a:t>    </a:t>
                </a:r>
                <a:r>
                  <a:rPr b="1">
                    <a:solidFill>
                      <a:srgbClr val="003B4F"/>
                    </a:solidFill>
                    <a:latin typeface="Courier"/>
                  </a:rPr>
                  <a:t>node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11</a:t>
                </a:r>
                <a:r>
                  <a:rPr>
                    <a:solidFill>
                      <a:srgbClr val="003B4F"/>
                    </a:solidFill>
                    <a:latin typeface="Courier"/>
                  </a:rPr>
                  <a:t>]</a:t>
                </a:r>
                <a:br/>
                <a:r>
                  <a:rPr>
                    <a:solidFill>
                      <a:srgbClr val="5E5E5E"/>
                    </a:solidFill>
                    <a:latin typeface="Courier"/>
                  </a:rPr>
                  <a:t>    </a:t>
                </a:r>
                <a:r>
                  <a:rPr b="1">
                    <a:solidFill>
                      <a:srgbClr val="003B4F"/>
                    </a:solidFill>
                    <a:latin typeface="Courier"/>
                  </a:rPr>
                  <a:t>edge</a:t>
                </a:r>
                <a:r>
                  <a:rPr>
                    <a:solidFill>
                      <a:srgbClr val="5E5E5E"/>
                    </a:solidFill>
                    <a:latin typeface="Courier"/>
                  </a:rPr>
                  <a:t> </a:t>
                </a:r>
                <a:r>
                  <a:rPr>
                    <a:solidFill>
                      <a:srgbClr val="003B4F"/>
                    </a:solidFill>
                    <a:latin typeface="Courier"/>
                  </a:rPr>
                  <a:t>[</a:t>
                </a:r>
                <a:r>
                  <a:rPr>
                    <a:solidFill>
                      <a:srgbClr val="657422"/>
                    </a:solidFill>
                    <a:latin typeface="Courier"/>
                  </a:rPr>
                  <a:t>fontname</a:t>
                </a:r>
                <a:r>
                  <a:rPr>
                    <a:solidFill>
                      <a:srgbClr val="003B4F"/>
                    </a:solidFill>
                    <a:latin typeface="Courier"/>
                  </a:rPr>
                  <a:t>=</a:t>
                </a:r>
                <a:r>
                  <a:rPr>
                    <a:solidFill>
                      <a:srgbClr val="20794D"/>
                    </a:solidFill>
                    <a:latin typeface="Courier"/>
                  </a:rPr>
                  <a:t>"Helvetica"</a:t>
                </a:r>
                <a:r>
                  <a:rPr>
                    <a:solidFill>
                      <a:srgbClr val="5E5E5E"/>
                    </a:solidFill>
                    <a:latin typeface="Courier"/>
                  </a:rPr>
                  <a:t>, </a:t>
                </a:r>
                <a:r>
                  <a:rPr>
                    <a:solidFill>
                      <a:srgbClr val="657422"/>
                    </a:solidFill>
                    <a:latin typeface="Courier"/>
                  </a:rPr>
                  <a:t>fontsize</a:t>
                </a:r>
                <a:r>
                  <a:rPr>
                    <a:solidFill>
                      <a:srgbClr val="003B4F"/>
                    </a:solidFill>
                    <a:latin typeface="Courier"/>
                  </a:rPr>
                  <a:t>=</a:t>
                </a:r>
                <a:r>
                  <a:rPr>
                    <a:solidFill>
                      <a:srgbClr val="AD0000"/>
                    </a:solidFill>
                    <a:latin typeface="Courier"/>
                  </a:rPr>
                  <a:t>10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"Signal"</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1.0</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box</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"Decision"</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"#cde0f5"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circle</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"Nature"</a:t>
                </a:r>
                <a:r>
                  <a:rPr>
                    <a:solidFill>
                      <a:srgbClr val="5E5E5E"/>
                    </a:solidFill>
                    <a:latin typeface="Courier"/>
                  </a:rPr>
                  <a:t>, </a:t>
                </a:r>
                <a:r>
                  <a:rPr>
                    <a:solidFill>
                      <a:srgbClr val="657422"/>
                    </a:solidFill>
                    <a:latin typeface="Courier"/>
                  </a:rPr>
                  <a:t>width</a:t>
                </a:r>
                <a:r>
                  <a:rPr>
                    <a:solidFill>
                      <a:srgbClr val="003B4F"/>
                    </a:solidFill>
                    <a:latin typeface="Courier"/>
                  </a:rPr>
                  <a:t>=</a:t>
                </a:r>
                <a:r>
                  <a:rPr>
                    <a:solidFill>
                      <a:srgbClr val="AD0000"/>
                    </a:solidFill>
                    <a:latin typeface="Courier"/>
                  </a:rPr>
                  <a:t>0.7</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filled</a:t>
                </a:r>
                <a:r>
                  <a:rPr>
                    <a:solidFill>
                      <a:srgbClr val="5E5E5E"/>
                    </a:solidFill>
                    <a:latin typeface="Courier"/>
                  </a:rPr>
                  <a:t>, </a:t>
                </a:r>
                <a:r>
                  <a:rPr>
                    <a:solidFill>
                      <a:srgbClr val="657422"/>
                    </a:solidFill>
                    <a:latin typeface="Courier"/>
                  </a:rPr>
                  <a:t>fillcolor</a:t>
                </a:r>
                <a:r>
                  <a:rPr>
                    <a:solidFill>
                      <a:srgbClr val="003B4F"/>
                    </a:solidFill>
                    <a:latin typeface="Courier"/>
                  </a:rPr>
                  <a:t>=</a:t>
                </a:r>
                <a:r>
                  <a:rPr>
                    <a:solidFill>
                      <a:srgbClr val="20794D"/>
                    </a:solidFill>
                    <a:latin typeface="Courier"/>
                  </a:rPr>
                  <a:t>"#e0e0e0"</a:t>
                </a:r>
                <a:r>
                  <a:rPr>
                    <a:solidFill>
                      <a:srgbClr val="003B4F"/>
                    </a:solidFill>
                    <a:latin typeface="Courier"/>
                  </a:rPr>
                  <a:t>]</a:t>
                </a:r>
                <a:br/>
                <a:b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a:t>
                </a:r>
                <a:r>
                  <a:rPr>
                    <a:solidFill>
                      <a:srgbClr val="003B4F"/>
                    </a:solidFill>
                    <a:latin typeface="Courier"/>
                  </a:rPr>
                  <a:t>]</a:t>
                </a:r>
                <a:b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"-$50"</a:t>
                </a:r>
                <a:r>
                  <a:rPr>
                    <a:solidFill>
                      <a:srgbClr val="003B4F"/>
                    </a:solidFill>
                    <a:latin typeface="Courier"/>
                  </a:rPr>
                  <a:t>]</a:t>
                </a:r>
                <a:b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shape</a:t>
                </a:r>
                <a:r>
                  <a:rPr>
                    <a:solidFill>
                      <a:srgbClr val="003B4F"/>
                    </a:solidFill>
                    <a:latin typeface="Courier"/>
                  </a:rPr>
                  <a:t>=</a:t>
                </a:r>
                <a:r>
                  <a:rPr>
                    <a:solidFill>
                      <a:srgbClr val="111111"/>
                    </a:solidFill>
                    <a:latin typeface="Courier"/>
                  </a:rPr>
                  <a:t>plaintext</a:t>
                </a:r>
                <a:r>
                  <a:rPr>
                    <a:solidFill>
                      <a:srgbClr val="5E5E5E"/>
                    </a:solidFill>
                    <a:latin typeface="Courier"/>
                  </a:rPr>
                  <a:t>, </a:t>
                </a:r>
                <a:r>
                  <a:rPr>
                    <a:solidFill>
                      <a:srgbClr val="657422"/>
                    </a:solidFill>
                    <a:latin typeface="Courier"/>
                  </a:rPr>
                  <a:t>label</a:t>
                </a:r>
                <a:r>
                  <a:rPr>
                    <a:solidFill>
                      <a:srgbClr val="003B4F"/>
                    </a:solidFill>
                    <a:latin typeface="Courier"/>
                  </a:rPr>
                  <a:t>=</a:t>
                </a:r>
                <a:r>
                  <a:rPr>
                    <a:solidFill>
                      <a:srgbClr val="20794D"/>
                    </a:solidFill>
                    <a:latin typeface="Courier"/>
                  </a:rPr>
                  <a:t>"$0"</a:t>
                </a:r>
                <a:r>
                  <a:rPr>
                    <a:solidFill>
                      <a:srgbClr val="003B4F"/>
                    </a:solidFill>
                    <a:latin typeface="Courier"/>
                  </a:rPr>
                  <a:t>]</a:t>
                </a:r>
                <a:b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rain (0.41)"</a:t>
                </a:r>
                <a:r>
                  <a:rPr>
                    <a:solidFill>
                      <a:srgbClr val="003B4F"/>
                    </a:solidFill>
                    <a:latin typeface="Courier"/>
                  </a:rPr>
                  <a:t>]</a:t>
                </a:r>
                <a:br/>
                <a:r>
                  <a:rPr>
                    <a:solidFill>
                      <a:srgbClr val="5E5E5E"/>
                    </a:solidFill>
                    <a:latin typeface="Courier"/>
                  </a:rPr>
                  <a:t>    </a:t>
                </a:r>
                <a:r>
                  <a:rPr>
                    <a:solidFill>
                      <a:srgbClr val="111111"/>
                    </a:solidFill>
                    <a:latin typeface="Courier"/>
                  </a:rPr>
                  <a:t>F</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Forecast dry (0.59)"</a:t>
                </a:r>
                <a:r>
                  <a:rPr>
                    <a:solidFill>
                      <a:srgbClr val="003B4F"/>
                    </a:solidFill>
                    <a:latin typeface="Courier"/>
                  </a:rPr>
                  <a:t>]</a:t>
                </a:r>
                <a:b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r>
                  <a:rPr>
                    <a:solidFill>
                      <a:srgbClr val="5E5E5E"/>
                    </a:solidFill>
                    <a:latin typeface="Courier"/>
                  </a:rPr>
                  <a:t>    </a:t>
                </a:r>
                <a:r>
                  <a:rPr>
                    <a:solidFill>
                      <a:srgbClr val="111111"/>
                    </a:solidFill>
                    <a:latin typeface="Courier"/>
                  </a:rPr>
                  <a:t>DR</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Bring"</a:t>
                </a:r>
                <a:r>
                  <a:rPr>
                    <a:solidFill>
                      <a:srgbClr val="5E5E5E"/>
                    </a:solidFill>
                    <a:latin typeface="Courier"/>
                  </a:rPr>
                  <a:t>, </a:t>
                </a:r>
                <a:r>
                  <a:rPr>
                    <a:solidFill>
                      <a:srgbClr val="657422"/>
                    </a:solidFill>
                    <a:latin typeface="Courier"/>
                  </a:rPr>
                  <a:t>style</a:t>
                </a:r>
                <a:r>
                  <a:rPr>
                    <a:solidFill>
                      <a:srgbClr val="003B4F"/>
                    </a:solidFill>
                    <a:latin typeface="Courier"/>
                  </a:rPr>
                  <a:t>=</a:t>
                </a:r>
                <a:r>
                  <a:rPr>
                    <a:solidFill>
                      <a:srgbClr val="111111"/>
                    </a:solidFill>
                    <a:latin typeface="Courier"/>
                  </a:rPr>
                  <a:t>dashed</a:t>
                </a:r>
                <a:r>
                  <a:rPr>
                    <a:solidFill>
                      <a:srgbClr val="5E5E5E"/>
                    </a:solidFill>
                    <a:latin typeface="Courier"/>
                  </a:rPr>
                  <a:t>, </a:t>
                </a:r>
                <a:r>
                  <a:rPr>
                    <a:solidFill>
                      <a:srgbClr val="657422"/>
                    </a:solidFill>
                    <a:latin typeface="Courier"/>
                  </a:rPr>
                  <a:t>color</a:t>
                </a:r>
                <a:r>
                  <a:rPr>
                    <a:solidFill>
                      <a:srgbClr val="003B4F"/>
                    </a:solidFill>
                    <a:latin typeface="Courier"/>
                  </a:rPr>
                  <a:t>=</a:t>
                </a:r>
                <a:r>
                  <a:rPr>
                    <a:solidFill>
                      <a:srgbClr val="20794D"/>
                    </a:solidFill>
                    <a:latin typeface="Courier"/>
                  </a:rPr>
                  <a:t>"#999999"</a:t>
                </a:r>
                <a:r>
                  <a:rPr>
                    <a:solidFill>
                      <a:srgbClr val="003B4F"/>
                    </a:solidFill>
                    <a:latin typeface="Courier"/>
                  </a:rPr>
                  <a:t>]</a:t>
                </a:r>
                <a:br/>
                <a:r>
                  <a:rPr>
                    <a:solidFill>
                      <a:srgbClr val="5E5E5E"/>
                    </a:solidFill>
                    <a:latin typeface="Courier"/>
                  </a:rPr>
                  <a:t>    </a:t>
                </a:r>
                <a:r>
                  <a:rPr>
                    <a:solidFill>
                      <a:srgbClr val="111111"/>
                    </a:solidFill>
                    <a:latin typeface="Courier"/>
                  </a:rPr>
                  <a:t>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Don't"</a:t>
                </a:r>
                <a:r>
                  <a:rPr>
                    <a:solidFill>
                      <a:srgbClr val="5E5E5E"/>
                    </a:solidFill>
                    <a:latin typeface="Courier"/>
                  </a:rPr>
                  <a:t>, </a:t>
                </a:r>
                <a:r>
                  <a:rPr>
                    <a:solidFill>
                      <a:srgbClr val="111111"/>
                    </a:solidFill>
                    <a:latin typeface="Courier"/>
                  </a:rPr>
                  <a:t>penwidth</a:t>
                </a:r>
                <a:r>
                  <a:rPr>
                    <a:solidFill>
                      <a:srgbClr val="003B4F"/>
                    </a:solidFill>
                    <a:latin typeface="Courier"/>
                  </a:rPr>
                  <a:t>=</a:t>
                </a:r>
                <a:r>
                  <a:rPr>
                    <a:solidFill>
                      <a:srgbClr val="AD0000"/>
                    </a:solidFill>
                    <a:latin typeface="Courier"/>
                  </a:rPr>
                  <a:t>2.5</a:t>
                </a:r>
                <a:r>
                  <a:rPr>
                    <a:solidFill>
                      <a:srgbClr val="003B4F"/>
                    </a:solidFill>
                    <a:latin typeface="Courier"/>
                  </a:rPr>
                  <a:t>]</a:t>
                </a:r>
                <a:b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p1</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p2</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p3</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(0.66)"</a:t>
                </a:r>
                <a:r>
                  <a:rPr>
                    <a:solidFill>
                      <a:srgbClr val="003B4F"/>
                    </a:solidFill>
                    <a:latin typeface="Courier"/>
                  </a:rPr>
                  <a:t>]</a:t>
                </a:r>
                <a:br/>
                <a:r>
                  <a:rPr>
                    <a:solidFill>
                      <a:srgbClr val="5E5E5E"/>
                    </a:solidFill>
                    <a:latin typeface="Courier"/>
                  </a:rPr>
                  <a:t>    </a:t>
                </a:r>
                <a:r>
                  <a:rPr>
                    <a:solidFill>
                      <a:srgbClr val="111111"/>
                    </a:solidFill>
                    <a:latin typeface="Courier"/>
                  </a:rPr>
                  <a:t>NRD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p4</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(0.34)"</a:t>
                </a:r>
                <a:r>
                  <a:rPr>
                    <a:solidFill>
                      <a:srgbClr val="003B4F"/>
                    </a:solidFill>
                    <a:latin typeface="Courier"/>
                  </a:rPr>
                  <a:t>]</a:t>
                </a:r>
                <a:b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p5</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NDB</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p6</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p7</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Rain (0.05)"</a:t>
                </a:r>
                <a:r>
                  <a:rPr>
                    <a:solidFill>
                      <a:srgbClr val="003B4F"/>
                    </a:solidFill>
                    <a:latin typeface="Courier"/>
                  </a:rPr>
                  <a:t>]</a:t>
                </a:r>
                <a:br/>
                <a:r>
                  <a:rPr>
                    <a:solidFill>
                      <a:srgbClr val="5E5E5E"/>
                    </a:solidFill>
                    <a:latin typeface="Courier"/>
                  </a:rPr>
                  <a:t>    </a:t>
                </a:r>
                <a:r>
                  <a:rPr>
                    <a:solidFill>
                      <a:srgbClr val="111111"/>
                    </a:solidFill>
                    <a:latin typeface="Courier"/>
                  </a:rPr>
                  <a:t>NDD</a:t>
                </a:r>
                <a:r>
                  <a:rPr>
                    <a:solidFill>
                      <a:srgbClr val="5E5E5E"/>
                    </a:solidFill>
                    <a:latin typeface="Courier"/>
                  </a:rPr>
                  <a:t> </a:t>
                </a:r>
                <a:r>
                  <a:rPr>
                    <a:solidFill>
                      <a:srgbClr val="003B4F"/>
                    </a:solidFill>
                    <a:latin typeface="Courier"/>
                  </a:rPr>
                  <a:t>-&gt;</a:t>
                </a:r>
                <a:r>
                  <a:rPr>
                    <a:solidFill>
                      <a:srgbClr val="5E5E5E"/>
                    </a:solidFill>
                    <a:latin typeface="Courier"/>
                  </a:rPr>
                  <a:t> </a:t>
                </a:r>
                <a:r>
                  <a:rPr>
                    <a:solidFill>
                      <a:srgbClr val="111111"/>
                    </a:solidFill>
                    <a:latin typeface="Courier"/>
                  </a:rPr>
                  <a:t>p8</a:t>
                </a:r>
                <a:r>
                  <a:rPr>
                    <a:solidFill>
                      <a:srgbClr val="5E5E5E"/>
                    </a:solidFill>
                    <a:latin typeface="Courier"/>
                  </a:rPr>
                  <a:t> </a:t>
                </a:r>
                <a:r>
                  <a:rPr>
                    <a:solidFill>
                      <a:srgbClr val="003B4F"/>
                    </a:solidFill>
                    <a:latin typeface="Courier"/>
                  </a:rPr>
                  <a:t>[</a:t>
                </a:r>
                <a:r>
                  <a:rPr>
                    <a:solidFill>
                      <a:srgbClr val="657422"/>
                    </a:solidFill>
                    <a:latin typeface="Courier"/>
                  </a:rPr>
                  <a:t>label</a:t>
                </a:r>
                <a:r>
                  <a:rPr>
                    <a:solidFill>
                      <a:srgbClr val="003B4F"/>
                    </a:solidFill>
                    <a:latin typeface="Courier"/>
                  </a:rPr>
                  <a:t>=</a:t>
                </a:r>
                <a:r>
                  <a:rPr>
                    <a:solidFill>
                      <a:srgbClr val="20794D"/>
                    </a:solidFill>
                    <a:latin typeface="Courier"/>
                  </a:rPr>
                  <a:t>"  Dry (0.95)"</a:t>
                </a:r>
                <a:r>
                  <a:rPr>
                    <a:solidFill>
                      <a:srgbClr val="003B4F"/>
                    </a:solidFill>
                    <a:latin typeface="Courier"/>
                  </a:rPr>
                  <a:t>]</a:t>
                </a:r>
                <a:br/>
                <a:r>
                  <a:rPr>
                    <a:solidFill>
                      <a:srgbClr val="003B4F"/>
                    </a:solidFill>
                    <a:latin typeface="Courier"/>
                  </a:rPr>
                  <a:t>}</a:t>
                </a:r>
              </a:p>
            </p:txBody>
          </p:sp>
        </mc:Choice>
      </mc:AlternateContent>
      <p:pic>
        <p:nvPicPr>
          <p:cNvPr descr="evii_files/figure-pptx/dot-figure-2.png" id="0" name="Picture 1"/>
          <p:cNvPicPr>
            <a:picLocks noGrp="1" noChangeAspect="1"/>
          </p:cNvPicPr>
          <p:nvPr/>
        </p:nvPicPr>
        <p:blipFill>
          <a:blip r:embed="rId2"/>
          <a:stretch>
            <a:fillRect/>
          </a:stretch>
        </p:blipFill>
        <p:spPr bwMode="auto">
          <a:xfrm>
            <a:off x="3568700" y="368300"/>
            <a:ext cx="5105400" cy="405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Decision tree with an imperfect forecast. Posterior probabilities from Bayes’ rule replace the prior at the nature nodes.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2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(Blackwell 1953):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Blackwell, David. 1953. “Equivalent Comparisons of Experiments.” </a:t>
            </a:r>
            <a:r>
              <a:rPr i="1"/>
              <a:t>The Annals of Mathematical Statistics</a:t>
            </a:r>
            <a:r>
              <a:rPr/>
              <a:t> 24 (2): 265–72. </a:t>
            </a:r>
            <a:r>
              <a:rPr>
                <a:hlinkClick r:id="rId2"/>
              </a:rPr>
              <a:t>https://doi.org/10.1214/aoms/1177729032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2026-02-25T21:14:59Z</dcterms:created>
  <dcterms:modified xsi:type="dcterms:W3CDTF">2026-02-25T21:14:59Z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draft</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
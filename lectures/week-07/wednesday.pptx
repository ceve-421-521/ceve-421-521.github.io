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1:00. Brief recap of Monday, then pivot to today’s complementary tool.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1:03. This distinction is the central message of the week. Write both questions on the board. We’ll come back to this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1:03. Start with what students already know intuitively: “wiggle one input, see what happens.”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1:07. Students have done this informally in Lab 5 (changing discount rate while holding SLR fixed, or vice versa). Name it.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1:10. Connect to their experience. The limitations of OAT motivate global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1:10. Now introduce the global approach.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1:13. “Global” means we explore the full input space, not just a neighborhood of one point.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1:17. This is the ANOVA-like decomposition (Hoeffding decomposition). Don’t prove it — state it and interpret it.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1:21. First-order: “the effect of </a:t>
            </a:r>
            <a:r>
              <a:rPr/>
              <a:t>X_i</a:t>
            </a:r>
            <a:r>
              <a:rPr/>
              <a:t> by itself.” Total-order: “everything that involves </a:t>
            </a:r>
            <a:r>
              <a:rPr/>
              <a:t>X_i</a:t>
            </a:r>
            <a:r>
              <a:rPr/>
              <a:t>, including interactions.” If </a:t>
            </a:r>
            <a:r>
              <a:rPr/>
              <a:t>S_i \approx S_{T_i}</a:t>
            </a:r>
            <a:r>
              <a:rPr/>
              <a:t>, there are no important interactions involving </a:t>
            </a:r>
            <a:r>
              <a:rPr/>
              <a:t>X_i</a:t>
            </a:r>
            <a:r>
              <a:rPr/>
              <a:t>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1:24. Walk through each row. “If the sum of first-order indices is much less than 1, interactions dominate and you need to worry about them.”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1:28. Don’t derive the estimators — just convey the computational cost. “If your model takes 1 second and you have 5 parameters, you need about 7N evaluations. With N=1000, that’s 7000 runs, or about 2 hours.”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1:28. Ground the concepts in the dike problem they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1:32. Don’t compute anything — just set up the thought experiment. They’ll see it in the lab (for VOI) and can do GSA as an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1:36. This is the key slide. “Sensitivity analysis and value of information answer different questions. Use both.”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1:36. When and how to use GSA in practice.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1:39.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1:43. Practical advice. The correlation point matters for climate applications where parameters are often correlated.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1:46. Place GSA in the course arc. “GSA requires distributions. What if you don’t trust them? That’s next week.”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1:48. End with this table. “These are complementary, not competing.”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Global Sensitivity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(Remote)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Draft Material:</a:t>
            </a:r>
            <a:r>
              <a:rPr/>
              <a:t> This content is under development and subject to change.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Recap: Value of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Monday’s Key Ideas</a:t>
            </a:r>
          </a:p>
          <a:p>
            <a:pPr lvl="0" indent="-342900" marL="342900">
              <a:buAutoNum type="arabicPeriod"/>
            </a:pPr>
            <a:r>
              <a:rPr b="1"/>
              <a:t>EVPI</a:t>
            </a:r>
            <a:r>
              <a:rPr/>
              <a:t> measures how much better you could decide with perfect information</a:t>
            </a:r>
          </a:p>
          <a:p>
            <a:pPr lvl="0" indent="-342900" marL="342900">
              <a:buAutoNum type="arabicPeriod"/>
            </a:pPr>
            <a:r>
              <a:rPr b="1"/>
              <a:t>EVPXI</a:t>
            </a:r>
            <a:r>
              <a:rPr/>
              <a:t> identifies </a:t>
            </a:r>
            <a:r>
              <a:rPr i="1"/>
              <a:t>which</a:t>
            </a:r>
            <a:r>
              <a:rPr/>
              <a:t> uncertainties matter most for the </a:t>
            </a:r>
            <a:r>
              <a:rPr i="1"/>
              <a:t>decision</a:t>
            </a:r>
          </a:p>
          <a:p>
            <a:pPr lvl="0" indent="-342900" marL="342900">
              <a:buAutoNum type="arabicPeriod"/>
            </a:pPr>
            <a:r>
              <a:rPr/>
              <a:t>Information has value only when it changes which action is best</a:t>
            </a:r>
          </a:p>
          <a:p>
            <a:pPr lvl="0" indent="0" marL="0">
              <a:buNone/>
            </a:pPr>
            <a:r>
              <a:rPr b="1"/>
              <a:t>Today:</a:t>
            </a:r>
            <a:r>
              <a:rPr/>
              <a:t> a complementary tool that asks a different question.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Different Questions</a:t>
            </a:r>
          </a:p>
          <a:p>
            <a:pPr lvl="0" indent="0" marL="0">
              <a:buNone/>
            </a:pPr>
            <a:r>
              <a:rPr b="1"/>
              <a:t>Sensitivity analysis:</a:t>
            </a:r>
            <a:r>
              <a:rPr/>
              <a:t> which inputs most affect the </a:t>
            </a:r>
            <a:r>
              <a:rPr i="1"/>
              <a:t>output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b="1"/>
              <a:t>Value of information:</a:t>
            </a:r>
            <a:r>
              <a:rPr/>
              <a:t> which inputs most affect the </a:t>
            </a:r>
            <a:r>
              <a:rPr i="1"/>
              <a:t>decision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These are </a:t>
            </a:r>
            <a:r>
              <a:rPr b="1"/>
              <a:t>not the same thing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A parameter can dominate the output variance but have zero EVPI — if it doesn’t change which action is optimal.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Sensitivity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One-at-a-Time (OAT)</a:t>
                </a:r>
              </a:p>
              <a:p>
                <a:pPr lvl="0" indent="0" marL="0">
                  <a:buNone/>
                </a:pPr>
                <a:r>
                  <a:rPr/>
                  <a:t>The simplest approach: vary one input while holding all others at their baseline values.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local</m:t>
                          </m:r>
                        </m:sup>
                      </m:sSubSup>
                      <m:r>
                        <m:rPr>
                          <m:sty m:val="p"/>
                        </m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den>
                      </m:f>
                      <m:sSub>
                        <m:e>
                          <m:r>
                            <m:rPr>
                              <m:sty m:val="p"/>
                            </m:rPr>
                            <m:t>|</m:t>
                          </m:r>
                        </m:e>
                        <m:sub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Problems:</a:t>
                </a:r>
              </a:p>
              <a:p>
                <a:pPr lvl="0"/>
                <a:r>
                  <a:rPr/>
                  <a:t>Only measures sensitivity at </a:t>
                </a:r>
                <a:r>
                  <a:rPr i="1"/>
                  <a:t>one point</a:t>
                </a:r>
                <a:r>
                  <a:rPr/>
                  <a:t> in input space</a:t>
                </a:r>
              </a:p>
              <a:p>
                <a:pPr lvl="0"/>
                <a:r>
                  <a:rPr/>
                  <a:t>Misses </a:t>
                </a:r>
                <a:r>
                  <a:rPr b="1"/>
                  <a:t>interactions</a:t>
                </a:r>
                <a:r>
                  <a:rPr/>
                  <a:t> between parameters</a:t>
                </a:r>
              </a:p>
              <a:p>
                <a:pPr lvl="0"/>
                <a:r>
                  <a:rPr/>
                  <a:t>The “baseline” is arbitrary — sensitivity can change elsewhere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Lab 5 Was OAT</a:t>
                </a:r>
              </a:p>
              <a:p>
                <a:pPr lvl="0" indent="0" marL="0">
                  <a:buNone/>
                </a:pPr>
                <a:r>
                  <a:rPr/>
                  <a:t>In Lab 5, you optimized under RCP 8.5 and then under RCP 2.6 — one scenario at a time.</a:t>
                </a:r>
              </a:p>
              <a:p>
                <a:pPr lvl="0" indent="0" marL="0">
                  <a:buNone/>
                </a:pPr>
                <a:r>
                  <a:rPr/>
                  <a:t>That’s one-at-a-time sensitivity analysis!</a:t>
                </a:r>
              </a:p>
              <a:p>
                <a:pPr lvl="0" indent="0" marL="0">
                  <a:buNone/>
                </a:pPr>
                <a:r>
                  <a:rPr b="1"/>
                  <a:t>What you couldn’t see:</a:t>
                </a:r>
              </a:p>
              <a:p>
                <a:pPr lvl="0"/>
                <a:r>
                  <a:rPr/>
                  <a:t>How much of the </a:t>
                </a:r>
                <a:r>
                  <a:rPr i="1"/>
                  <a:t>total</a:t>
                </a:r>
                <a:r>
                  <a:rPr/>
                  <a:t> output variability is due to SLR vs. other parameters?</a:t>
                </a:r>
              </a:p>
              <a:p>
                <a:pPr lvl="0"/>
                <a:r>
                  <a:rPr/>
                  <a:t>Do SLR and discount rate </a:t>
                </a:r>
                <a:r>
                  <a:rPr b="1"/>
                  <a:t>interact</a:t>
                </a:r>
                <a:r>
                  <a:rPr/>
                  <a:t> (i.e., does the effect of SLR depend on the discount rate)?</a:t>
                </a:r>
              </a:p>
            </p:txBody>
          </p:sp>
        </mc:Choice>
      </mc:AlternateContent>
    </p:spTree>
  </p:cSld>
</p:sld>
</file>

<file path=ppt/slides/slide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Global Sensitivity Analysis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The Idea</a:t></a:r></a:p><a:p><a:pPr lvl="0" indent="0" marL="0"><a:buNone /></a:pPr><a:r><a:rPr /><a:t>Instead of wiggling one input at a fixed baseline, </a:t></a:r><a:r><a:rPr b="1" /><a:t>vary all inputs simultaneously</a:t></a:r><a:r><a:rPr /><a:t> across their full ranges.</a:t></a:r></a:p><a:p><a:pPr lvl="0" indent="0" marL="0"><a:buNone /></a:pPr><a:r><a:rPr /><a:t>Then decompose the output variance:</a:t></a:r></a:p><a:p><a:pPr lvl="0" indent="0" marL="0"><a:buNone /></a:pPr><a:r><a:rPr i="1" /><a:t>How much of the variability in the output is attributable to each input?</a:t></a:r></a:p><a:p><a:pPr lvl="0" indent="0" marL="0"><a:buNone /></a:pPr><a:r><a:rPr /><a:t>This accounts for:</a:t></a:r></a:p><a:p><a:pPr lvl="0" /><a:r><a:rPr /><a:t>The full range of each input (not just a local derivative)</a:t></a:r></a:p><a:p><a:pPr lvl="0" /><a:r><a:rPr /><a:t>Nonlinear effects</a:t></a:r></a:p><a:p><a:pPr lvl="0" /><a:r><a:rPr /><a:t>Interactions between inputs</a:t></a:r></a:p><a:p><a:pPr lvl="0" indent="0" marL="0"><a:spcBef><a:spcPts val="3000" /></a:spcBef><a:buNone /></a:pPr><a:r><a:rPr b="1" /><a:t>Variance Decomposition</a:t></a:r></a:p><a:p><a:pPr lvl="0" indent="0" marL="0"><a:buNone /></a:pPr><a:r><a:rPr /><a:t>For a model </a:t></a:r><a14:m><m:oMath xmlns:m="http://schemas.openxmlformats.org/officeDocument/2006/math"><m:r><m:t>Y</m:t></m:r><m:r><m:rPr><m:sty m:val="p" /></m:rPr><m:t>=</m:t></m:r><m:r><m:t>f</m:t></m:r><m:d><m:dPr><m:begChr m:val="(" /><m:sepChr m:val="" /><m:endChr m:val=")" /><m:grow /></m:dPr><m:e><m:sSub><m:e><m:r><m:t>X</m:t></m:r></m:e><m:sub><m:r><m:t>1</m:t></m:r></m:sub></m:sSub><m:r><m:rPr><m:sty m:val="p" /></m:rPr><m:t>,</m:t></m:r><m:sSub><m:e><m:r><m:t>X</m:t></m:r></m:e><m:sub><m:r><m:t>2</m:t></m:r></m:sub></m:sSub><m:r><m:rPr><m:sty m:val="p" /></m:rPr><m:t>,</m:t></m:r><m:r><m:rPr><m:sty m:val="p" /></m:rPr><m:t>…</m:t></m:r><m:r><m:rPr><m:sty m:val="p" /></m:rPr><m:t>,</m:t></m:r><m:sSub><m:e><m:r><m:t>X</m:t></m:r></m:e><m:sub><m:r><m:t>k</m:t></m:r></m:sub></m:sSub></m:e></m:d></m:oMath></a14:m><a:r><a:rPr /><a:t>, we can decompose the total variance:</a:t></a:r></a:p><a:p><a:pPr lvl="0" indent="0" marL="0"><a:buNone /></a:pPr><a14:m><m:oMathPara xmlns:m="http://schemas.openxmlformats.org/officeDocument/2006/math"><m:oMathParaPr><m:jc m:val="center" /></m:oMathParaPr><m:oMath><m:r><m:rPr><m:nor /><m:sty m:val="p" /></m:rPr><m:t>Var</m:t></m:r><m:d><m:dPr><m:begChr m:val="(" /><m:sepChr m:val="" /><m:endChr m:val=")" /><m:grow /></m:dPr><m:e><m:r><m:t>Y</m:t></m:r></m:e></m:d><m:r><m:rPr><m:sty m:val="p" /></m:rPr><m:t>=</m:t></m:r><m:nary><m:naryPr><m:chr m:val="∑" /><m:limLoc m:val="undOvr" /><m:subHide m:val="off" /><m:supHide m:val="on" /></m:naryPr><m:sub><m:r><m:t>i</m:t></m:r></m:sub><m:sup><m:r><m:t>​</m:t></m:r></m:sup><m:e><m:sSub><m:e><m:r><m:t>V</m:t></m:r></m:e><m:sub><m:r><m:t>i</m:t></m:r></m:sub></m:sSub></m:e></m:nary><m:r><m:rPr><m:sty m:val="p" /></m:rPr><m:t>+</m:t></m:r><m:nary><m:naryPr><m:chr m:val="∑" /><m:limLoc m:val="undOvr" /><m:subHide m:val="off" /><m:supHide m:val="on" /></m:naryPr><m:sub><m:r><m:t>i</m:t></m:r><m:r><m:rPr><m:sty m:val="p" /></m:rPr><m:t>&lt;</m:t></m:r><m:r><m:t>j</m:t></m:r></m:sub><m:sup><m:r><m:t>​</m:t></m:r></m:sup><m:e><m:sSub><m:e><m:r><m:t>V</m:t></m:r></m:e><m:sub><m:r><m:t>i</m:t></m:r><m:r><m:t>j</m:t></m:r></m:sub></m:sSub></m:e></m:nary><m:r><m:rPr><m:sty m:val="p" /></m:rPr><m:t>+</m:t></m:r><m:r><m:rPr><m:sty m:val="p" /></m:rPr><m:t>⋯</m:t></m:r><m:r><m:rPr><m:sty m:val="p" /></m:rPr><m:t>+</m:t></m:r><m:sSub><m:e><m:r><m:t>V</m:t></m:r></m:e><m:sub><m:r><m:t>12</m:t></m:r><m:r><m:rPr><m:sty m:val="p" /></m:rPr><m:t>…</m:t></m:r><m:r><m:t>k</m:t></m:r></m:sub></m:sSub></m:oMath></m:oMathPara></a14:m></a:p><a:p><a:pPr lvl="0" indent="0" marL="0"><a:buNone /></a:pPr><a:r><a:rPr /><a:t>where:</a:t></a:r></a:p><a:p><a:pPr lvl="0" /><a14:m><m:oMath xmlns:m="http://schemas.openxmlformats.org/officeDocument/2006/math"><m:sSub><m:e><m:r><m:t>V</m:t></m:r></m:e><m:sub><m:r><m:t>i</m:t></m:r></m:sub></m:sSub><m:r><m:rPr><m:sty m:val="p" /></m:rPr><m:t>=</m:t></m:r><m:r><m:rPr><m:nor /><m:sty m:val="p" /></m:rPr><m:t>Var</m:t></m:r><m:d><m:dPr><m:begChr m:val="(" /><m:sepChr m:val="" /><m:endChr m:val=")" /><m:grow /></m:dPr><m:e><m:r><m:t>E</m:t></m:r><m:d><m:dPr><m:begChr m:val="[" /><m:sepChr m:val="" /><m:endChr m:val="]" /><m:grow /></m:dPr><m:e><m:r><m:t>Y</m:t></m:r><m:r><m:rPr><m:sty m:val="p" /></m:rPr><m:t>∣</m:t></m:r><m:sSub><m:e><m:r><m:t>X</m:t></m:r></m:e><m:sub><m:r><m:t>i</m:t></m:r></m:sub></m:sSub></m:e></m:d></m:e></m:d></m:oMath></a14:m><a:r><a:rPr /><a:t> — variance due to </a:t></a:r><a14:m><m:oMath xmlns:m="http://schemas.openxmlformats.org/officeDocument/2006/math"><m:sSub><m:e><m:r><m:t>X</m:t></m:r></m:e><m:sub><m:r><m:t>i</m:t></m:r></m:sub></m:sSub></m:oMath></a14:m><a:r><a:rPr /><a:t> alone</a:t></a:r></a:p><a:p><a:pPr lvl="0" /><a14:m><m:oMath xmlns:m="http://schemas.openxmlformats.org/officeDocument/2006/math"><m:sSub><m:e><m:r><m:t>V</m:t></m:r></m:e><m:sub><m:r><m:t>i</m:t></m:r><m:r><m:t>j</m:t></m:r></m:sub></m:sSub></m:oMath></a14:m><a:r><a:rPr /><a:t> — variance due to the </a:t></a:r><a:r><a:rPr i="1" /><a:t>interaction</a:t></a:r><a:r><a:rPr /><a:t> of </a:t></a:r><a14:m><m:oMath xmlns:m="http://schemas.openxmlformats.org/officeDocument/2006/math"><m:sSub><m:e><m:r><m:t>X</m:t></m:r></m:e><m:sub><m:r><m:t>i</m:t></m:r></m:sub></m:sSub></m:oMath></a14:m><a:r><a:rPr /><a:t> and </a:t></a:r><a14:m><m:oMath xmlns:m="http://schemas.openxmlformats.org/officeDocument/2006/math"><m:sSub><m:e><m:r><m:t>X</m:t></m:r></m:e><m:sub><m:r><m:t>j</m:t></m:r></m:sub></m:sSub></m:oMath></a14:m></a:p><a:p><a:pPr lvl="0" /><a:r><a:rPr /><a:t>Higher-order terms capture three-way interactions, etc.</a:t></a:r></a:p><a:p><a:pPr lvl="0" indent="0" marL="0"><a:spcBef><a:spcPts val="3000" /></a:spcBef><a:buNone /></a:pPr><a:r><a:rPr b="1" /><a:t>Sobol Indices</a:t></a:r></a:p><a:p><a:pPr lvl="0" indent="0" marL="0"><a:buNone /></a:pPr><a:r><a:rPr b="1" /><a:t>First-order index</a:t></a:r><a:r><a:rPr /><a:t> — fraction of variance due to </a:t></a:r><a14:m><m:oMath xmlns:m="http://schemas.openxmlformats.org/officeDocument/2006/math"><m:sSub><m:e><m:r><m:t>X</m:t></m:r></m:e><m:sub><m:r><m:t>i</m:t></m:r></m:sub></m:sSub></m:oMath></a14:m><a:r><a:rPr /><a:t> alone:</a:t></a:r></a:p><a:p><a:pPr lvl="0" indent="0" marL="0"><a:buNone /></a:pPr><a14:m><m:oMathPara xmlns:m="http://schemas.openxmlformats.org/officeDocument/2006/math"><m:oMathParaPr><m:jc m:val="center" /></m:oMathParaPr><m:oMath><m:sSub><m:e><m:r><m:t>S</m:t></m:r></m:e><m:sub><m:r><m:t>i</m:t></m:r></m:sub></m:sSub><m:r><m:rPr><m:sty m:val="p" /></m:rPr><m:t>=</m:t></m:r><m:f><m:fPr><m:type m:val="bar" /></m:fPr><m:num><m:sSub><m:e><m:r><m:t>V</m:t></m:r></m:e><m:sub><m:r><m:t>i</m:t></m:r></m:sub></m:sSub></m:num><m:den><m:r><m:rPr><m:nor /><m:sty m:val="p" /></m:rPr><m:t>Var</m:t></m:r><m:d><m:dPr><m:begChr m:val="(" /><m:sepChr m:val="" /><m:endChr m:val=")" /><m:grow /></m:dPr><m:e><m:r><m:t>Y</m:t></m:r></m:e></m:d></m:den></m:f><m:r><m:rPr><m:sty m:val="p" /></m:rPr><m:t>=</m:t></m:r><m:f><m:fPr><m:type m:val="bar" /></m:fPr><m:num><m:r><m:rPr><m:nor /><m:sty m:val="p" /></m:rPr><m:t>Var</m:t></m:r><m:d><m:dPr><m:begChr m:val="(" /><m:sepChr m:val="" /><m:endChr m:val=")" /><m:grow /></m:dPr><m:e><m:r><m:t>E</m:t></m:r><m:d><m:dPr><m:begChr m:val="[" /><m:sepChr m:val="" /><m:endChr m:val="]" /><m:grow /></m:dPr><m:e><m:r><m:t>Y</m:t></m:r><m:r><m:rPr><m:sty m:val="p" /></m:rPr><m:t>∣</m:t></m:r><m:sSub><m:e><m:r><m:t>X</m:t></m:r></m:e><m:sub><m:r><m:t>i</m:t></m:r></m:sub></m:sSub></m:e></m:d></m:e></m:d></m:num><m:den><m:r><m:rPr><m:nor /><m:sty m:val="p" /></m:rPr><m:t>Var</m:t></m:r><m:d><m:dPr><m:begChr m:val="(" /><m:sepChr m:val="" /><m:endChr m:val=")" /><m:grow /></m:dPr><m:e><m:r><m:t>Y</m:t></m:r></m:e></m:d></m:den></m:f></m:oMath></m:oMathPara></a14:m></a:p><a:p><a:pPr lvl="0" indent="0" marL="0"><a:buNone /></a:pPr><a:r><a:rPr b="1" /><a:t>Total-order index</a:t></a:r><a:r><a:rPr /><a:t> — fraction of variance involving </a:t></a:r><a14:m><m:oMath xmlns:m="http://schemas.openxmlformats.org/officeDocument/2006/math"><m:sSub><m:e><m:r><m:t>X</m:t></m:r></m:e><m:sub><m:r><m:t>i</m:t></m:r></m:sub></m:sSub></m:oMath></a14:m><a:r><a:rPr /><a:t> (including all interactions):</a:t></a:r></a:p><a:p><a:pPr lvl="0" indent="0" marL="0"><a:buNone /></a:pPr><a14:m><m:oMathPara xmlns:m="http://schemas.openxmlformats.org/officeDocument/2006/math"><m:oMathParaPr><m:jc m:val="center" /></m:oMathParaPr><m:oMath><m:sSub><m:e><m:r><m:t>S</m:t></m:r></m:e><m:sub><m:sSub><m:e><m:r><m:t>T</m:t></m:r></m:e><m:sub><m:r><m:t>i</m:t></m:r></m:sub></m:sSub></m:sub></m:sSub><m:r><m:rPr><m:sty m:val="p" /></m:rPr><m:t>=</m:t></m:r><m:r><m:t>1</m:t></m:r><m:r><m:rPr><m:sty m:val="p" /></m:rPr><m:t>−</m:t></m:r><m:f><m:fPr><m:type m:val="bar" /></m:fPr><m:num><m:r><m:rPr><m:nor /><m:sty m:val="p" /></m:rPr><m:t>Var</m:t></m:r><m:d><m:dPr><m:begChr m:val="(" /><m:sepChr m:val="" /><m:endChr m:val=")" /><m:grow /></m:dPr><m:e><m:r><m:t>E</m:t></m:r><m:d><m:dPr><m:begChr m:val="[" /><m:sepChr m:val="" /><m:endChr m:val="]" /><m:grow /></m:dPr><m:e><m:r><m:t>Y</m:t></m:r><m:r><m:rPr><m:sty m:val="p" /></m:rPr><m:t>∣</m:t></m:r><m:sSub><m:e><m:r><m:t>X</m:t></m:r></m:e><m:sub><m:r><m:rPr><m:sty m:val="p" /></m:rPr><m:t>∼</m:t></m:r><m:r><m:t>i</m:t></m:r></m:sub></m:sSub></m:e></m:d></m:e></m:d></m:num><m:den><m:r><m:rPr><m:nor /><m:sty m:val="p" /></m:rPr><m:t>Var</m:t></m:r><m:d><m:dPr><m:begChr m:val="(" /><m:sepChr m:val="" /><m:endChr m:val=")" /><m:grow /></m:dPr><m:e><m:r><m:t>Y</m:t></m:r></m:e></m:d></m:den></m:f></m:oMath></m:oMathPara></a14:m></a:p><a:p><a:pPr lvl="0" indent="0" marL="0"><a:buNone /></a:pPr><a:r><a:rPr /><a:t>where </a:t></a:r><a14:m><m:oMath xmlns:m="http://schemas.openxmlformats.org/officeDocument/2006/math"><m:sSub><m:e><m:r><m:t>X</m:t></m:r></m:e><m:sub><m:r><m:rPr><m:sty m:val="p" /></m:rPr><m:t>∼</m:t></m:r><m:r><m:t>i</m:t></m:r></m:sub></m:sSub></m:oMath></a14:m><a:r><a:rPr /><a:t> means all inputs </a:t></a:r><a:r><a:rPr i="1" /><a:t>except</a:t></a:r><a:r><a:rPr /><a:t> </a:t></a:r><a14:m><m:oMath xmlns:m="http://schemas.openxmlformats.org/officeDocument/2006/math"><m:sSub><m:e><m:r><m:t>X</m:t></m:r></m:e><m:sub><m:r><m:t>i</m:t></m:r></m:sub></m:sSub></m:oMath></a14:m><a:r><a:rPr /><a:t>.</a:t></a:r></a:p><a:p><a:pPr lvl="0" indent="0" marL="0"><a:spcBef><a:spcPts val="3000" /></a:spcBef><a:buNone /></a:pPr><a:r><a:rPr b="1" /><a:t>Interpreting Sobol Indices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552700" /><a:gridCol w="2552700" /></a:tblGrid><a:tr h="0"><a:tc><a:txBody><a:bodyPr /><a:lstStyle /><a:p><a:pPr lvl="0" indent="0" marL="0" algn="l"><a:buNone /></a:pPr><a:r><a:rPr /><a:t>Pattern</a:t></a:r></a:p></a:txBody><a:tcPr /></a:tc><a:tc><a:txBody><a:bodyPr /><a:lstStyle /><a:p><a:pPr lvl="0" indent="0" marL="0" algn="l"><a:buNone /></a:pPr><a:r><a:rPr /><a:t>Interpretation</a:t></a:r></a:p></a:txBody><a:tcPr /></a:tc></a:tr><a:tr h="0"><a:tc><a:txBody><a:bodyPr /><a:lstStyle /><a:p><a:pPr lvl="0" indent="0" marL="0" algn="l"><a:buNone /></a:pPr><a14:m><m:oMath xmlns:m="http://schemas.openxmlformats.org/officeDocument/2006/math"><m:sSub><m:e><m:r><m:t>S</m:t></m:r></m:e><m:sub><m:r><m:t>i</m:t></m:r></m:sub></m:sSub></m:oMath></a14:m><a:r><a:rPr /><a:t> large, </a:t></a:r><a14:m><m:oMath xmlns:m="http://schemas.openxmlformats.org/officeDocument/2006/math"><m:sSub><m:e><m:r><m:t>S</m:t></m:r></m:e><m:sub><m:sSub><m:e><m:r><m:t>T</m:t></m:r></m:e><m:sub><m:r><m:t>i</m:t></m:r></m:sub></m:sSub></m:sub></m:sSub><m:r><m:rPr><m:sty m:val="p" /></m:rPr><m:t>≈</m:t></m:r><m:sSub><m:e><m:r><m:t>S</m:t></m:r></m:e><m:sub><m:r><m:t>i</m:t></m:r></m:sub></m:sSub></m:oMath></a14:m></a:p></a:txBody></a:tc><a:tc><a:txBody><a:bodyPr /><a:lstStyle /><a:p><a:pPr lvl="0" indent="0" marL="0" algn="l"><a:buNone /></a:pPr><a14:m><m:oMath xmlns:m="http://schemas.openxmlformats.org/officeDocument/2006/math"><m:sSub><m:e><m:r><m:t>X</m:t></m:r></m:e><m:sub><m:r><m:t>i</m:t></m:r></m:sub></m:sSub></m:oMath></a14:m><a:r><a:rPr /><a:t> has a strong main effect, few interactions</a:t></a:r></a:p></a:txBody></a:tc></a:tr><a:tr h="0"><a:tc><a:txBody><a:bodyPr /><a:lstStyle /><a:p><a:pPr lvl="0" indent="0" marL="0" algn="l"><a:buNone /></a:pPr><a14:m><m:oMath xmlns:m="http://schemas.openxmlformats.org/officeDocument/2006/math"><m:sSub><m:e><m:r><m:t>S</m:t></m:r></m:e><m:sub><m:r><m:t>i</m:t></m:r></m:sub></m:sSub></m:oMath></a14:m><a:r><a:rPr /><a:t> small, </a:t></a:r><a14:m><m:oMath xmlns:m="http://schemas.openxmlformats.org/officeDocument/2006/math"><m:sSub><m:e><m:r><m:t>S</m:t></m:r></m:e><m:sub><m:sSub><m:e><m:r><m:t>T</m:t></m:r></m:e><m:sub><m:r><m:t>i</m:t></m:r></m:sub></m:sSub></m:sub></m:sSub></m:oMath></a14:m><a:r><a:rPr /><a:t> large</a:t></a:r></a:p></a:txBody></a:tc><a:tc><a:txBody><a:bodyPr /><a:lstStyle /><a:p><a:pPr lvl="0" indent="0" marL="0" algn="l"><a:buNone /></a:pPr><a14:m><m:oMath xmlns:m="http://schemas.openxmlformats.org/officeDocument/2006/math"><m:sSub><m:e><m:r><m:t>X</m:t></m:r></m:e><m:sub><m:r><m:t>i</m:t></m:r></m:sub></m:sSub></m:oMath></a14:m><a:r><a:rPr /><a:t> matters mainly through interactions</a:t></a:r></a:p></a:txBody></a:tc></a:tr><a:tr h="0"><a:tc><a:txBody><a:bodyPr /><a:lstStyle /><a:p><a:pPr lvl="0" indent="0" marL="0" algn="l"><a:buNone /></a:pPr><a14:m><m:oMath xmlns:m="http://schemas.openxmlformats.org/officeDocument/2006/math"><m:sSub><m:e><m:r><m:t>S</m:t></m:r></m:e><m:sub><m:r><m:t>i</m:t></m:r></m:sub></m:sSub></m:oMath></a14:m><a:r><a:rPr /><a:t> small, </a:t></a:r><a14:m><m:oMath xmlns:m="http://schemas.openxmlformats.org/officeDocument/2006/math"><m:sSub><m:e><m:r><m:t>S</m:t></m:r></m:e><m:sub><m:sSub><m:e><m:r><m:t>T</m:t></m:r></m:e><m:sub><m:r><m:t>i</m:t></m:r></m:sub></m:sSub></m:sub></m:sSub></m:oMath></a14:m><a:r><a:rPr /><a:t> small</a:t></a:r></a:p></a:txBody></a:tc><a:tc><a:txBody><a:bodyPr /><a:lstStyle /><a:p><a:pPr lvl="0" indent="0" marL="0" algn="l"><a:buNone /></a:pPr><a14:m><m:oMath xmlns:m="http://schemas.openxmlformats.org/officeDocument/2006/math"><m:sSub><m:e><m:r><m:t>X</m:t></m:r></m:e><m:sub><m:r><m:t>i</m:t></m:r></m:sub></m:sSub></m:oMath></a14:m><a:r><a:rPr /><a:t> doesn’t matter much at all</a:t></a:r></a:p></a:txBody></a:tc></a:tr><a:tr h="0"><a:tc><a:txBody><a:bodyPr /><a:lstStyle /><a:p><a:pPr lvl="0" indent="0" marL="0" algn="l"><a:buNone /></a:pPr><a14:m><m:oMath xmlns:m="http://schemas.openxmlformats.org/officeDocument/2006/math"><m:r><m:rPr><m:sty m:val="p" /></m:rPr><m:t>∑</m:t></m:r><m:sSub><m:e><m:r><m:t>S</m:t></m:r></m:e><m:sub><m:r><m:t>i</m:t></m:r></m:sub></m:sSub><m:r><m:rPr><m:sty m:val="p" /></m:rPr><m:t>≈</m:t></m:r><m:r><m:t>1</m:t></m:r></m:oMath></a14:m></a:p></a:txBody></a:tc><a:tc><a:txBody><a:bodyPr /><a:lstStyle /><a:p><a:pPr lvl="0" indent="0" marL="0" algn="l"><a:buNone /></a:pPr><a:r><a:rPr /><a:t>Model is mostly additive (interactions are weak)</a:t></a:r></a:p></a:txBody></a:tc></a:tr></a:tbl></a:graphicData></a:graphic></p:graphicFrame></p:spTree></p:cSld>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Computing Sobol Indices</a:t>
                </a:r>
              </a:p>
              <a:p>
                <a:pPr lvl="0" indent="0" marL="0">
                  <a:buNone/>
                </a:pPr>
                <a:r>
                  <a:rPr/>
                  <a:t>The standard approach (Saltelli et al., 2010):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Define input distributions for each uncertain parameter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Generate two independent sample matrices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(e.g.,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k</m:t>
                    </m:r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Create “cross” matrices </a:t>
                </a:r>
                <a14:m>
                  <m:oMath xmlns:m="http://schemas.openxmlformats.org/officeDocument/2006/math">
                    <m:sSubSup>
                      <m:e>
                        <m:r>
                          <m:t>A</m:t>
                        </m:r>
                      </m:e>
                      <m:sub>
                        <m:r>
                          <m:t>B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i</m:t>
                            </m:r>
                          </m:e>
                        </m:d>
                      </m:sup>
                    </m:sSubSup>
                  </m:oMath>
                </a14:m>
                <a:r>
                  <a:rPr/>
                  <a:t> by swapping column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with column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Evaluate the model on all matrices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Estimate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sSub>
                          <m:e>
                            <m:r>
                              <m:t>T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sub>
                    </m:sSub>
                  </m:oMath>
                </a14:m>
                <a:r>
                  <a:rPr/>
                  <a:t> from the sample covariances</a:t>
                </a:r>
              </a:p>
              <a:p>
                <a:pPr lvl="0" indent="0" marL="0">
                  <a:buNone/>
                </a:pPr>
                <a:r>
                  <a:rPr/>
                  <a:t>This requires </a:t>
                </a:r>
                <a14:m>
                  <m:oMath xmlns:m="http://schemas.openxmlformats.org/officeDocument/2006/math">
                    <m:r>
                      <m:t>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k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e>
                    </m:d>
                  </m:oMath>
                </a14:m>
                <a:r>
                  <a:rPr/>
                  <a:t> model evaluations, where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sample size and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is the number of inputs.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Example: Dike Cost Sensitivity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Which Uncertainties Drive Total Cost?</a:t></a:r></a:p><a:p><a:pPr lvl="0" indent="0" marL="0"><a:buNone /></a:pPr><a:r><a:rPr /><a:t>Consider the ICOW dike problem with uncertain inputs: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 algn="l"><a:buNone /></a:pPr><a:r><a:rPr /><a:t>Parameter</a:t></a:r></a:p></a:txBody><a:tcPr /></a:tc><a:tc><a:txBody><a:bodyPr /><a:lstStyle /><a:p><a:pPr lvl="0" indent="0" marL="0" algn="l"><a:buNone /></a:pPr><a:r><a:rPr /><a:t>Uncertainty</a:t></a:r></a:p></a:txBody><a:tcPr /></a:tc><a:tc><a:txBody><a:bodyPr /><a:lstStyle /><a:p><a:pPr lvl="0" indent="0" marL="0" algn="l"><a:buNone /></a:pPr><a:r><a:rPr /><a:t>Type</a:t></a:r></a:p></a:txBody><a:tcPr /></a:tc></a:tr><a:tr h="0"><a:tc><a:txBody><a:bodyPr /><a:lstStyle /><a:p><a:pPr lvl="0" indent="0" marL="0" algn="l"><a:buNone /></a:pPr><a:r><a:rPr /><a:t>Sea-level rise trajectory</a:t></a:r></a:p></a:txBody></a:tc><a:tc><a:txBody><a:bodyPr /><a:lstStyle /><a:p><a:pPr lvl="0" indent="0" marL="0" algn="l"><a:buNone /></a:pPr><a:r><a:rPr /><a:t>BRICK ensemble</a:t></a:r></a:p></a:txBody></a:tc><a:tc><a:txBody><a:bodyPr /><a:lstStyle /><a:p><a:pPr lvl="0" indent="0" marL="0" algn="l"><a:buNone /></a:pPr><a:r><a:rPr /><a:t>Scenario</a:t></a:r></a:p></a:txBody></a:tc></a:tr><a:tr h="0"><a:tc><a:txBody><a:bodyPr /><a:lstStyle /><a:p><a:pPr lvl="0" indent="0" marL="0" algn="l"><a:buNone /></a:pPr><a:r><a:rPr /><a:t>Discount rate </a:t></a:r><a14:m><m:oMath xmlns:m="http://schemas.openxmlformats.org/officeDocument/2006/math"><m:r><m:t>r</m:t></m:r></m:oMath></a14:m></a:p></a:txBody></a:tc><a:tc><a:txBody><a:bodyPr /><a:lstStyle /><a:p><a:pPr lvl="0" indent="0" marL="0" algn="l"><a:buNone /></a:pPr><a:r><a:rPr /><a:t>1–7%</a:t></a:r></a:p></a:txBody></a:tc><a:tc><a:txBody><a:bodyPr /><a:lstStyle /><a:p><a:pPr lvl="0" indent="0" marL="0" algn="l"><a:buNone /></a:pPr><a:r><a:rPr /><a:t>Deep uncertainty</a:t></a:r></a:p></a:txBody></a:tc></a:tr><a:tr h="0"><a:tc><a:txBody><a:bodyPr /><a:lstStyle /><a:p><a:pPr lvl="0" indent="0" marL="0" algn="l"><a:buNone /></a:pPr><a:r><a:rPr /><a:t>GEV surge parameters </a:t></a:r><a14:m><m:oMath xmlns:m="http://schemas.openxmlformats.org/officeDocument/2006/math"><m:d><m:dPr><m:begChr m:val="(" /><m:sepChr m:val="" /><m:endChr m:val=")" /><m:grow /></m:dPr><m:e><m:r><m:t>μ</m:t></m:r><m:r><m:rPr><m:sty m:val="p" /></m:rPr><m:t>,</m:t></m:r><m:r><m:t>σ</m:t></m:r><m:r><m:rPr><m:sty m:val="p" /></m:rPr><m:t>,</m:t></m:r><m:r><m:t>ξ</m:t></m:r></m:e></m:d></m:oMath></a14:m></a:p></a:txBody></a:tc><a:tc><a:txBody><a:bodyPr /><a:lstStyle /><a:p><a:pPr lvl="0" indent="0" marL="0" algn="l"><a:buNone /></a:pPr><a:r><a:rPr /><a:t>Estimation uncertainty</a:t></a:r></a:p></a:txBody></a:tc><a:tc><a:txBody><a:bodyPr /><a:lstStyle /><a:p><a:pPr lvl="0" indent="0" marL="0" algn="l"><a:buNone /></a:pPr><a:r><a:rPr /><a:t>Statistical</a:t></a:r></a:p></a:txBody></a:tc></a:tr><a:tr h="0"><a:tc><a:txBody><a:bodyPr /><a:lstStyle /><a:p><a:pPr lvl="0" indent="0" marL="0" algn="l"><a:buNone /></a:pPr><a:r><a:rPr /><a:t>Economic growth rate</a:t></a:r></a:p></a:txBody></a:tc><a:tc><a:txBody><a:bodyPr /><a:lstStyle /><a:p><a:pPr lvl="0" indent="0" marL="0" algn="l"><a:buNone /></a:pPr><a:r><a:rPr /><a:t>0–3%</a:t></a:r></a:p></a:txBody></a:tc><a:tc><a:txBody><a:bodyPr /><a:lstStyle /><a:p><a:pPr lvl="0" indent="0" marL="0" algn="l"><a:buNone /></a:pPr><a:r><a:rPr /><a:t>Deep uncertainty</a:t></a:r></a:p></a:txBody></a:tc></a:tr></a:tbl></a:graphicData></a:graphic></p:graphicFrame></p:spTree></p:cSld>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GSA question:</a:t>
            </a:r>
            <a:r>
              <a:rPr/>
              <a:t> which of these contributes most to the variance in total cost?</a:t>
            </a:r>
          </a:p>
          <a:p>
            <a:pPr lvl="0" indent="0" marL="0">
              <a:buNone/>
            </a:pPr>
            <a:r>
              <a:rPr b="1"/>
              <a:t>VOI question:</a:t>
            </a:r>
            <a:r>
              <a:rPr/>
              <a:t> which of these, if resolved, would most change the optimal dike height?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GSA vs. VOI: They Can Disagree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High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 b="1"/>
                  <a:t>, low EVPXI:</a:t>
                </a:r>
              </a:p>
              <a:p>
                <a:pPr lvl="0" indent="0" marL="0">
                  <a:buNone/>
                </a:pPr>
                <a:r>
                  <a:rPr/>
                  <a:t>The discount rate may dominate the </a:t>
                </a:r>
                <a:r>
                  <a:rPr i="1"/>
                  <a:t>total cost</a:t>
                </a:r>
                <a:r>
                  <a:rPr/>
                  <a:t> variance, but if the optimal dike height is similar across discount rates, knowing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doesn’t help the decision.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Low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 b="1"/>
                  <a:t>, high EVPXI:</a:t>
                </a:r>
              </a:p>
              <a:p>
                <a:pPr lvl="0" indent="0" marL="0">
                  <a:buNone/>
                </a:pPr>
                <a:r>
                  <a:rPr/>
                  <a:t>A parameter might contribute little to total cost variance, but its effect is concentrated near the decision boundary, flipping which action is optimal.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Considerations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When to Use Each Tool</a:t>
                </a:r>
              </a:p>
              <a:p>
                <a:pPr lvl="0" indent="0" marL="0">
                  <a:buNone/>
                </a:pPr>
                <a:r>
                  <a:rPr b="1"/>
                  <a:t>Use GSA when:</a:t>
                </a:r>
              </a:p>
              <a:p>
                <a:pPr lvl="0"/>
                <a:r>
                  <a:rPr/>
                  <a:t>You want to understand model behavior</a:t>
                </a:r>
              </a:p>
              <a:p>
                <a:pPr lvl="0"/>
                <a:r>
                  <a:rPr/>
                  <a:t>You want to simplify a model (fix insensitive parameters)</a:t>
                </a:r>
              </a:p>
              <a:p>
                <a:pPr lvl="0"/>
                <a:r>
                  <a:rPr/>
                  <a:t>You want to prioritize research to reduce output uncertainty</a:t>
                </a:r>
              </a:p>
              <a:p>
                <a:pPr lvl="0" indent="0" marL="0">
                  <a:buNone/>
                </a:pPr>
                <a:r>
                  <a:rPr b="1"/>
                  <a:t>Use VOI when:</a:t>
                </a:r>
              </a:p>
              <a:p>
                <a:pPr lvl="0"/>
                <a:r>
                  <a:rPr/>
                  <a:t>You want to prioritize research to improve </a:t>
                </a:r>
                <a:r>
                  <a:rPr i="1"/>
                  <a:t>decisions</a:t>
                </a:r>
              </a:p>
              <a:p>
                <a:pPr lvl="0"/>
                <a:r>
                  <a:rPr/>
                  <a:t>You want to know if gathering more information is worth the cost</a:t>
                </a:r>
              </a:p>
              <a:p>
                <a:pPr lvl="0"/>
                <a:r>
                  <a:rPr/>
                  <a:t>You have a specific decision to make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GSA in Practice: Tips</a:t>
                </a:r>
              </a:p>
              <a:p>
                <a:pPr lvl="0"/>
                <a:r>
                  <a:rPr b="1"/>
                  <a:t>Sample size matters.</a:t>
                </a:r>
                <a:r>
                  <a:rPr/>
                  <a:t> Sobol indices need large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to converge (often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1000</m:t>
                    </m:r>
                  </m:oMath>
                </a14:m>
                <a:r>
                  <a:rPr/>
                  <a:t>). Start small, check convergence.</a:t>
                </a:r>
              </a:p>
              <a:p>
                <a:pPr lvl="0"/>
                <a:r>
                  <a:rPr b="1"/>
                  <a:t>Input distributions matter.</a:t>
                </a:r>
                <a:r>
                  <a:rPr/>
                  <a:t> The indices depend on what ranges and distributions you assume. Be deliberate about these choices.</a:t>
                </a:r>
              </a:p>
              <a:p>
                <a:pPr lvl="0"/>
                <a:r>
                  <a:rPr b="1"/>
                  <a:t>Screening first.</a:t>
                </a:r>
                <a:r>
                  <a:rPr/>
                  <a:t> For models with many inputs (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10</m:t>
                    </m:r>
                  </m:oMath>
                </a14:m>
                <a:r>
                  <a:rPr/>
                  <a:t>), use a cheaper method (e.g., Morris/elementary effects) to screen out unimportant parameters, then run Sobol on the survivors.</a:t>
                </a:r>
              </a:p>
              <a:p>
                <a:pPr lvl="0"/>
                <a:r>
                  <a:rPr b="1"/>
                  <a:t>Correlated inputs</a:t>
                </a:r>
                <a:r>
                  <a:rPr/>
                  <a:t> violate the independence assumption in standard Sobol decomposition. There are extensions, but they’re more complex.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Connection to the Course Arc</a:t>
                </a:r>
              </a:p>
              <a:p>
                <a:pPr lvl="0"/>
                <a:r>
                  <a:rPr b="1"/>
                  <a:t>Week 6:</a:t>
                </a:r>
                <a:r>
                  <a:rPr/>
                  <a:t> We optimized under specific scenarios (one at a time)</a:t>
                </a:r>
              </a:p>
              <a:p>
                <a:pPr lvl="0"/>
                <a:r>
                  <a:rPr b="1"/>
                  <a:t>This week:</a:t>
                </a:r>
                <a:r>
                  <a:rPr/>
                  <a:t> We ask </a:t>
                </a:r>
                <a:r>
                  <a:rPr i="1"/>
                  <a:t>which uncertainties matter</a:t>
                </a:r>
                <a:r>
                  <a:rPr/>
                  <a:t> — for the output (GSA) and for the decision (VOI)</a:t>
                </a:r>
              </a:p>
              <a:p>
                <a:pPr lvl="0"/>
                <a:r>
                  <a:rPr b="1"/>
                  <a:t>Week 8 (Robustness):</a:t>
                </a:r>
                <a:r>
                  <a:rPr/>
                  <a:t> What if we can’t even specify input distributions? Deep uncertainty methods don’t require probabilities.</a:t>
                </a:r>
              </a:p>
              <a:p>
                <a:pPr lvl="0"/>
                <a:r>
                  <a:rPr b="1"/>
                  <a:t>Week 10 (Scenario Discovery):</a:t>
                </a:r>
                <a:r>
                  <a:rPr/>
                  <a:t> Finding regions of the input space where the decision fails — a targeted form of sensitivity analysis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Complementary Tools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Sensitivity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Value of Information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Question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affects the output?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affects the decision?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Measures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Variance decomposition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Expected improvement in objective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Requires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Input distributions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Input distributions + decision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Use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Understanding models, simplification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Research prioritization, monitoring design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 both.</a:t>
            </a:r>
            <a:r>
              <a:rPr/>
              <a:t> GSA tells you what drives uncertainty. VOI tells you what’s worth learning.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Friday: Lab 6</a:t>
            </a:r>
          </a:p>
          <a:p>
            <a:pPr lvl="0" indent="0" marL="0">
              <a:buNone/>
            </a:pPr>
            <a:r>
              <a:rPr/>
              <a:t>You’ll compute </a:t>
            </a:r>
            <a:r>
              <a:rPr b="1"/>
              <a:t>EVPI</a:t>
            </a:r>
            <a:r>
              <a:rPr/>
              <a:t> and </a:t>
            </a:r>
            <a:r>
              <a:rPr b="1"/>
              <a:t>EVPXI</a:t>
            </a:r>
            <a:r>
              <a:rPr/>
              <a:t> on the ICOW dike problem.</a:t>
            </a:r>
          </a:p>
          <a:p>
            <a:pPr lvl="0" indent="0" marL="0">
              <a:buNone/>
            </a:pPr>
            <a:r>
              <a:rPr/>
              <a:t>This is the VOI side of what we discussed today — quantifying the decision value of resolving specific uncertainties.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Sensitivity Analysis</dc:title>
  <dc:creator>Dr. James Doss-Gollin</dc:creator>
  <cp:keywords/>
  <dcterms:created xsi:type="dcterms:W3CDTF">2026-02-23T14:38:09Z</dcterms:created>
  <dcterms:modified xsi:type="dcterms:W3CDTF">2026-02-23T14:38:09Z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2026-02-25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draft</vt:lpwstr>
  </property>
  <property fmtid="{D5CDD505-2E9C-101B-9397-08002B2CF9AE}" pid="16" name="subtitle">
    <vt:lpwstr>Lecture (Remote)</vt:lpwstr>
  </property>
  <property fmtid="{D5CDD505-2E9C-101B-9397-08002B2CF9AE}" pid="17" name="toc-title">
    <vt:lpwstr>Table of contents</vt:lpwstr>
  </property>
  <property fmtid="{D5CDD505-2E9C-101B-9397-08002B2CF9AE}" pid="18" name="week">
    <vt:lpwstr>7</vt:lpwstr>
  </property>
</Properties>
</file>
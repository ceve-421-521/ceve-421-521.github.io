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notesMaster" Target="notesMasters/notesMaster1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1:00. Open with the deadliest natural disaster in US history. Don’t linger—move to the problem they faced.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1:03. Introduce ICOW as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1:07. High-level overview of inputs and outputs. We’ll unpack each piece over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1:08. Build intuition for why the wedge is a good abstraction. The ICOW paper uses Lower Manhattan as its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1:10. Explain the geometry. These are the parameters students will estimate in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1:12. Use the wedge figure to build intuition about zone-based damage. Pause after each question to let students think before revealing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1:14. These are the parameters you’ll estimate in the activity. Values are from the ICOW paper—ask students if they seem reasonable.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1:15. Key vocabulary. Students don’t need to memorize—just recognize.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1:17. Contrast with simple models. Key insight: damage depends on what’s underwater and how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1:19. The fragility curve is intuitive. This creates interesting risk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1:21. Clear instructions. Make sure everyone has Google Maps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1:23. Quick prediction to create cognitive investment before the activity. Have students write down a guess before seeing any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1:25. Assign cities if students hesitate: “Table 1 takes Miami, Table 2 takes Rotterdam…”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1:27. Give 6 minutes for estimation. Students need ALL four parameters for Friday’s lab.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Circulate and address common issues: - “Where does the city end?” → Focus on the flood-prone coastal zone, not the whole metro area - “I can’t find elevation” → Try Google Earth, or search “[city] topography” - “What’s a seawall?” → Any hard barrier at the water’s edge - “My city has no seawall” → Use 0m. The model handles this—it just means no existing protection. - “The terrain isn’t really a wedge” → Focus on the flood-prone coastal zone, not the whole metropolitan area. Most waterfronts approximate a wedge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1:33. Call time. Facilitate cross-table comparisons. Look for interesting contrasts (e.g., Miami vs. Rotterdam, steep vs. flat cities).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1:41. Debrief: “Notice how different geometries suggest different strategies.”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1:44. Brief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1:47. Hook for Friday—leave them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https://dossgollin-lab.github.io/ICOW.jl/equations.html#parameters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6/j.envsoft.2019.06.01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Island City On a Wedge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Paper Discussion</a:t>
            </a:r>
            <a:br/>
            <a:br/>
            <a:r>
              <a:rPr/>
              <a:t>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Galveston, 1900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lveston-1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57300"/>
            <a:ext cx="4038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Galveston Historical Foundation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September 8, 1900: Category 4 hurricane, 8,000+ deaths</a:t>
            </a:r>
          </a:p>
          <a:p>
            <a:pPr lvl="0" indent="0" marL="0">
              <a:buNone/>
            </a:pPr>
            <a:r>
              <a:rPr/>
              <a:t>The response:</a:t>
            </a:r>
          </a:p>
          <a:p>
            <a:pPr lvl="0"/>
            <a:r>
              <a:rPr/>
              <a:t>17-foot seawall (still standing)</a:t>
            </a:r>
          </a:p>
          <a:p>
            <a:pPr lvl="0"/>
            <a:r>
              <a:rPr/>
              <a:t>Raised the entire city by up to 17 feet</a:t>
            </a:r>
          </a:p>
          <a:p>
            <a:pPr lvl="0"/>
            <a:r>
              <a:rPr/>
              <a:t>Moved thousands of buildings</a:t>
            </a:r>
          </a:p>
          <a:p>
            <a:pPr lvl="0" indent="0" marL="0">
              <a:buNone/>
            </a:pPr>
            <a:r>
              <a:rPr b="1"/>
              <a:t>The question:</a:t>
            </a:r>
            <a:r>
              <a:rPr/>
              <a:t> Build a wall? Raise the land? Retreat? </a:t>
            </a:r>
            <a:r>
              <a:rPr i="1"/>
              <a:t>All three?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ICOW: The Middle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ICOW</a:t>
            </a:r>
            <a:r>
              <a:rPr/>
              <a:t> = Island City On a Wedge (Ceres et al. 2019)</a:t>
            </a:r>
          </a:p>
          <a:p>
            <a:pPr lvl="0"/>
            <a:r>
              <a:rPr/>
              <a:t>Fast: evaluate </a:t>
            </a:r>
            <a:r>
              <a:rPr b="1"/>
              <a:t>millions</a:t>
            </a:r>
            <a:r>
              <a:rPr/>
              <a:t> of strategy combinations</a:t>
            </a:r>
          </a:p>
          <a:p>
            <a:pPr lvl="0"/>
            <a:r>
              <a:rPr/>
              <a:t>Rich: graduated damage (not binary)</a:t>
            </a:r>
          </a:p>
          <a:p>
            <a:pPr lvl="0"/>
            <a:r>
              <a:rPr/>
              <a:t>Flexible: portfolios of defenses (wall + retreat + elevate)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You don’t need every street corner—just the </a:t>
            </a:r>
            <a:r>
              <a:rPr i="1"/>
              <a:t>right abstraction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ICOW Works</a:t>
            </a:r>
          </a:p>
        </p:txBody>
      </p:sp>
      <p:pic>
        <p:nvPicPr>
          <p:cNvPr descr="icow_02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19300" y="11938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ICOW takes city geometry + defense choices → computes expected damages. Source: Ceres et al. (2019)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Wedge Geometry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Picture a Coastal City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w_0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311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ICOW paper was modeled after Lower Manhattan. Source: Ceres et al. (2019)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coastal cities share?</a:t>
            </a:r>
          </a:p>
          <a:p>
            <a:pPr lvl="0"/>
            <a:r>
              <a:rPr/>
              <a:t>Waterfront at low elevation</a:t>
            </a:r>
          </a:p>
          <a:p>
            <a:pPr lvl="0"/>
            <a:r>
              <a:rPr/>
              <a:t>Terrain rises inland</a:t>
            </a:r>
          </a:p>
          <a:p>
            <a:pPr lvl="0"/>
            <a:r>
              <a:rPr/>
              <a:t>Density highest near water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Wedge Abstraction</a:t>
            </a:r>
          </a:p>
        </p:txBody>
      </p:sp>
      <p:pic>
        <p:nvPicPr>
          <p:cNvPr descr="icow_03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74800" y="1193800"/>
            <a:ext cx="599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wedge geometry captures essential features. Source: Ceres et al. (2019)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Gets Flooded?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w_0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Source: Ceres et al. (2019)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water reaches </a:t>
            </a:r>
            <a:r>
              <a:rPr b="1"/>
              <a:t>Zone 4</a:t>
            </a:r>
            <a:r>
              <a:rPr/>
              <a:t>—what’s the damage?</a:t>
            </a:r>
          </a:p>
          <a:p>
            <a:pPr lvl="0" indent="0" marL="0">
              <a:buNone/>
            </a:pPr>
            <a:r>
              <a:rPr/>
              <a:t>→ Three zones underwater (large fraction of city value)</a:t>
            </a:r>
          </a:p>
          <a:p>
            <a:pPr lvl="0" indent="0" marL="0">
              <a:buNone/>
            </a:pPr>
            <a:r>
              <a:rPr/>
              <a:t>If water reaches </a:t>
            </a:r>
            <a:r>
              <a:rPr b="1"/>
              <a:t>Zone 3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→ Zero… </a:t>
            </a:r>
            <a:r>
              <a:rPr i="1"/>
              <a:t>unless the dike fails</a:t>
            </a:r>
          </a:p>
          <a:p>
            <a:pPr lvl="0" indent="0" marL="0">
              <a:buNone/>
            </a:pPr>
            <a:r>
              <a:rPr/>
              <a:t>What happens when dikes fail?</a:t>
            </a:r>
          </a:p>
        </p:txBody>
      </p:sp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Key Parameters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3238500" /><a:gridCol w="2349500" /><a:gridCol w="2641600" /></a:tblGrid><a:tr h="0"><a:tc><a:txBody><a:bodyPr /><a:lstStyle /><a:p><a:pPr lvl="0" indent="0" marL="0"><a:buNone /></a:pPr><a:r><a:rPr /><a:t>Parameter</a:t></a:r></a:p></a:txBody><a:tcPr /></a:tc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:r><a:rPr /><a:t>Maximum elevation</a:t></a:r></a:p></a:txBody></a:tc><a:tc><a:txBody><a:bodyPr /><a:lstStyle /><a:p><a:pPr lvl="0" indent="0" marL="0"><a:buNone /></a:pPr><a14:m><m:oMath xmlns:m="http://schemas.openxmlformats.org/officeDocument/2006/math"><m:sSub><m:e><m:r><m:t>H</m:t></m:r></m:e><m:sub><m:r><m:rPr><m:nor /><m:sty m:val="p" /></m:rPr><m:t>city</m:t></m:r></m:sub></m:sSub></m:oMath></a14:m></a:p></a:txBody></a:tc><a:tc><a:txBody><a:bodyPr /><a:lstStyle /><a:p><a:pPr lvl="0" indent="0" marL="0"><a:buNone /></a:pPr><a:r><a:rPr /><a:t>How high does the city rise?</a:t></a:r></a:p></a:txBody></a:tc></a:tr><a:tr h="0"><a:tc><a:txBody><a:bodyPr /><a:lstStyle /><a:p><a:pPr lvl="0" indent="0" marL="0"><a:buNone /></a:pPr><a:r><a:rPr /><a:t>City depth</a:t></a:r></a:p></a:txBody></a:tc><a:tc><a:txBody><a:bodyPr /><a:lstStyle /><a:p><a:pPr lvl="0" indent="0" marL="0"><a:buNone /></a:pPr><a14:m><m:oMath xmlns:m="http://schemas.openxmlformats.org/officeDocument/2006/math"><m:sSub><m:e><m:r><m:t>D</m:t></m:r></m:e><m:sub><m:r><m:rPr><m:nor /><m:sty m:val="p" /></m:rPr><m:t>city</m:t></m:r></m:sub></m:sSub></m:oMath></a14:m></a:p></a:txBody></a:tc><a:tc><a:txBody><a:bodyPr /><a:lstStyle /><a:p><a:pPr lvl="0" indent="0" marL="0"><a:buNone /></a:pPr><a:r><a:rPr /><a:t>How far inland does the city extend?</a:t></a:r></a:p></a:txBody></a:tc></a:tr><a:tr h="0"><a:tc><a:txBody><a:bodyPr /><a:lstStyle /><a:p><a:pPr lvl="0" indent="0" marL="0"><a:buNone /></a:pPr><a:r><a:rPr /><a:t>Coastline length</a:t></a:r></a:p></a:txBody></a:tc><a:tc><a:txBody><a:bodyPr /><a:lstStyle /><a:p><a:pPr lvl="0" indent="0" marL="0"><a:buNone /></a:pPr><a14:m><m:oMath xmlns:m="http://schemas.openxmlformats.org/officeDocument/2006/math"><m:sSub><m:e><m:r><m:t>W</m:t></m:r></m:e><m:sub><m:r><m:rPr><m:nor /><m:sty m:val="p" /></m:rPr><m:t>city</m:t></m:r></m:sub></m:sSub></m:oMath></a14:m></a:p></a:txBody></a:tc><a:tc><a:txBody><a:bodyPr /><a:lstStyle /><a:p><a:pPr lvl="0" indent="0" marL="0"><a:buNone /></a:pPr><a:r><a:rPr /><a:t>How long is the waterfront?</a:t></a:r></a:p></a:txBody></a:tc></a:tr><a:tr h="0"><a:tc><a:txBody><a:bodyPr /><a:lstStyle /><a:p><a:pPr lvl="0" indent="0" marL="0"><a:buNone /></a:pPr><a:r><a:rPr /><a:t>Seawall height</a:t></a:r></a:p></a:txBody></a:tc><a:tc><a:txBody><a:bodyPr /><a:lstStyle /><a:p><a:pPr lvl="0" indent="0" marL="0"><a:buNone /></a:pPr><a14:m><m:oMath xmlns:m="http://schemas.openxmlformats.org/officeDocument/2006/math"><m:sSub><m:e><m:r><m:t>H</m:t></m:r></m:e><m:sub><m:r><m:rPr><m:nor /><m:sty m:val="p" /></m:rPr><m:t>seawall</m:t></m:r></m:sub></m:sSub></m:oMath></a14:m></a:p></a:txBody></a:tc><a:tc><a:txBody><a:bodyPr /><a:lstStyle /><a:p><a:pPr lvl="0" indent="0" marL="0"><a:buNone /></a:pPr><a:r><a:rPr /><a:t>Existing protection height</a:t></a:r></a:p></a:txBody></a:tc></a:tr></a:tbl></a:graphicData></a:graphic></p:graphicFrame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From the paper (Manhattan):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17</m:t>
                    </m:r>
                  </m:oMath>
                </a14:m>
                <a:r>
                  <a:rPr/>
                  <a:t> m,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</m:t>
                    </m:r>
                  </m:oMath>
                </a14:m>
                <a:r>
                  <a:rPr/>
                  <a:t> km,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43</m:t>
                    </m:r>
                  </m:oMath>
                </a14:m>
                <a:r>
                  <a:rPr/>
                  <a:t> km</a:t>
                </a:r>
              </a:p>
              <a:p>
                <a:pPr lvl="0" indent="0" marL="0">
                  <a:buNone/>
                </a:pPr>
                <a:r>
                  <a:rPr/>
                  <a:t>Do these seem reasonable? (We’ll check in the activity.)</a:t>
                </a:r>
              </a:p>
            </p:txBody>
          </p:sp>
        </mc:Choice>
      </mc:AlternateContent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Five Defense Levers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435100" /><a:gridCol w="2882900" /><a:gridCol w="3911600" /></a:tblGrid><a:tr h="0"><a:tc><a:txBody><a:bodyPr /><a:lstStyle /><a:p><a:pPr lvl="0" indent="0" marL="0"><a:buNone /></a:pPr><a:r><a:rPr /><a:t>Lever</a:t></a:r></a:p></a:txBody><a:tcPr /></a:tc><a:tc><a:txBody><a:bodyPr /><a:lstStyle /><a:p><a:pPr lvl="0" indent="0" marL="0"><a:buNone /></a:pPr><a:r><a:rPr /><a:t>What it does</a:t></a:r></a:p></a:txBody><a:tcPr /></a:tc><a:tc><a:txBody><a:bodyPr /><a:lstStyle /><a:p><a:pPr lvl="0" indent="0" marL="0"><a:buNone /></a:pPr><a:r><a:rPr /><a:t>Real-world example</a:t></a:r></a:p></a:txBody><a:tcPr /></a:tc></a:tr><a:tr h="0"><a:tc><a:txBody><a:bodyPr /><a:lstStyle /><a:p><a:pPr lvl="0" indent="0" marL="0"><a:buNone /></a:pPr><a:r><a:rPr b="1" /><a:t>Withdrawal</a:t></a:r><a:r><a:rPr /><a:t> (</a:t></a:r><a14:m><m:oMath xmlns:m="http://schemas.openxmlformats.org/officeDocument/2006/math"><m:r><m:t>W</m:t></m:r></m:oMath></a14:m><a:r><a:rPr /><a:t>)</a:t></a:r></a:p></a:txBody></a:tc><a:tc><a:txBody><a:bodyPr /><a:lstStyle /><a:p><a:pPr lvl="0" indent="0" marL="0"><a:buNone /></a:pPr><a:r><a:rPr /><a:t>Vacate low-lying land</a:t></a:r></a:p></a:txBody></a:tc><a:tc><a:txBody><a:bodyPr /><a:lstStyle /><a:p><a:pPr lvl="0" indent="0" marL="0"><a:buNone /></a:pPr><a:r><a:rPr /><a:t>Managed retreat, buyouts</a:t></a:r></a:p></a:txBody></a:tc></a:tr><a:tr h="0"><a:tc><a:txBody><a:bodyPr /><a:lstStyle /><a:p><a:pPr lvl="0" indent="0" marL="0"><a:buNone /></a:pPr><a:r><a:rPr b="1" /><a:t>Dike Base</a:t></a:r><a:r><a:rPr /><a:t> (</a:t></a:r><a14:m><m:oMath xmlns:m="http://schemas.openxmlformats.org/officeDocument/2006/math"><m:r><m:t>B</m:t></m:r></m:oMath></a14:m><a:r><a:rPr /><a:t>)</a:t></a:r></a:p></a:txBody></a:tc><a:tc><a:txBody><a:bodyPr /><a:lstStyle /><a:p><a:pPr lvl="0" indent="0" marL="0"><a:buNone /></a:pPr><a:r><a:rPr /><a:t>Where the wall starts</a:t></a:r></a:p></a:txBody></a:tc><a:tc><a:txBody><a:bodyPr /><a:lstStyle /><a:p><a:pPr lvl="0" indent="0" marL="0"><a:buNone /></a:pPr><a:r><a:rPr /><a:t>Seawall location</a:t></a:r></a:p></a:txBody></a:tc></a:tr><a:tr h="0"><a:tc><a:txBody><a:bodyPr /><a:lstStyle /><a:p><a:pPr lvl="0" indent="0" marL="0"><a:buNone /></a:pPr><a:r><a:rPr b="1" /><a:t>Dike Height</a:t></a:r><a:r><a:rPr /><a:t> (</a:t></a:r><a14:m><m:oMath xmlns:m="http://schemas.openxmlformats.org/officeDocument/2006/math"><m:r><m:t>D</m:t></m:r></m:oMath></a14:m><a:r><a:rPr /><a:t>)</a:t></a:r></a:p></a:txBody></a:tc><a:tc><a:txBody><a:bodyPr /><a:lstStyle /><a:p><a:pPr lvl="0" indent="0" marL="0"><a:buNone /></a:pPr><a:r><a:rPr /><a:t>How tall the wall is</a:t></a:r></a:p></a:txBody></a:tc><a:tc><a:txBody><a:bodyPr /><a:lstStyle /><a:p><a:pPr lvl="0" indent="0" marL="0"><a:buNone /></a:pPr><a:r><a:rPr /><a:t>Seawall height</a:t></a:r></a:p></a:txBody></a:tc></a:tr><a:tr h="0"><a:tc><a:txBody><a:bodyPr /><a:lstStyle /><a:p><a:pPr lvl="0" indent="0" marL="0"><a:buNone /></a:pPr><a:r><a:rPr b="1" /><a:t>Resistance Height</a:t></a:r><a:r><a:rPr /><a:t> (</a:t></a:r><a14:m><m:oMath xmlns:m="http://schemas.openxmlformats.org/officeDocument/2006/math"><m:r><m:t>R</m:t></m:r></m:oMath></a14:m><a:r><a:rPr /><a:t>)</a:t></a:r></a:p></a:txBody></a:tc><a:tc><a:txBody><a:bodyPr /><a:lstStyle /><a:p><a:pPr lvl="0" indent="0" marL="0"><a:buNone /></a:pPr><a:r><a:rPr /><a:t>Flood-proof buildings</a:t></a:r></a:p></a:txBody></a:tc><a:tc><a:txBody><a:bodyPr /><a:lstStyle /><a:p><a:pPr lvl="0" indent="0" marL="0"><a:buNone /></a:pPr><a:r><a:rPr /><a:t>Elevating structures</a:t></a:r></a:p></a:txBody></a:tc></a:tr><a:tr h="0"><a:tc><a:txBody><a:bodyPr /><a:lstStyle /><a:p><a:pPr lvl="0" indent="0" marL="0"><a:buNone /></a:pPr><a:r><a:rPr b="1" /><a:t>Resistance Fraction</a:t></a:r><a:r><a:rPr /><a:t> (</a:t></a:r><a14:m><m:oMath xmlns:m="http://schemas.openxmlformats.org/officeDocument/2006/math"><m:r><m:t>P</m:t></m:r></m:oMath></a14:m><a:r><a:rPr /><a:t>)</a:t></a:r></a:p></a:txBody></a:tc><a:tc><a:txBody><a:bodyPr /><a:lstStyle /><a:p><a:pPr lvl="0" indent="0" marL="0"><a:buNone /></a:pPr><a:r><a:rPr /><a:t>What % of buildings</a:t></a:r></a:p></a:txBody></a:tc><a:tc><a:txBody><a:bodyPr /><a:lstStyle /><a:p><a:pPr lvl="0" indent="0" marL="0"><a:buNone /></a:pPr><a:r><a:rPr /><a:t>Retrofit programs</a:t></a:r></a:p></a:txBody></a:tc></a:tr></a:tbl></a:graphicData></a:graphic></p:graphicFrame></p:spTree></p:cSld>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key constraint: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W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≤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You can’t withdraw past the city limits, and you can’t build a dike taller than the land behind it.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Economics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Damage Isn’t Binary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Simple models say: flood = total loss, no flood = zero.</a:t>
                </a:r>
              </a:p>
              <a:p>
                <a:pPr lvl="0" indent="0" marL="0">
                  <a:buNone/>
                </a:pPr>
                <a:r>
                  <a:rPr b="1"/>
                  <a:t>Reality:</a:t>
                </a:r>
                <a:r>
                  <a:rPr/>
                  <a:t> A 1-foot flood ruins your carpet. A 10-foot flood destroys the structure.</a:t>
                </a:r>
              </a:p>
              <a:p>
                <a:pPr lvl="0" indent="0" marL="0">
                  <a:buNone/>
                </a:pPr>
                <a:r>
                  <a:rPr/>
                  <a:t>ICOW computes damage based on </a:t>
                </a:r>
                <a:r>
                  <a:rPr b="1"/>
                  <a:t>volume flooded: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Damage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Zone Value</m:t>
                      </m:r>
                      <m:r>
                        <m:rPr>
                          <m:sty m:val="p"/>
                        </m:rPr>
                        <m:t>×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Volume Flooded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Total Volume</m:t>
                          </m:r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0.39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0.39 is an empirically-derived depth-damage parameter: the fraction of zone value destroyed at full inundation (from flood damage curves).</a:t>
                </a:r>
              </a:p>
              <a:p>
                <a:pPr lvl="0" indent="0" marL="0">
                  <a:buNone/>
                </a:pPr>
                <a:r>
                  <a:rPr/>
                  <a:t>This connects to Monday’s EAD formula (Week 4 lecture)—but now we can compute damage for </a:t>
                </a:r>
                <a:r>
                  <a:rPr i="1"/>
                  <a:t>any</a:t>
                </a:r>
                <a:r>
                  <a:rPr/>
                  <a:t> surge height.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Dikes Aren’t Perfect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dike doesn’t magically hold until overtopped, then fail.</a:t>
            </a:r>
          </a:p>
          <a:p>
            <a:pPr lvl="0" indent="0" marL="0">
              <a:buNone/>
            </a:pPr>
            <a:r>
              <a:rPr b="1"/>
              <a:t>Fragility curve:</a:t>
            </a:r>
            <a:r>
              <a:rPr/>
              <a:t> Failure probability ramps up as water approaches the crest</a:t>
            </a:r>
          </a:p>
          <a:p>
            <a:pPr lvl="0"/>
            <a:r>
              <a:rPr/>
              <a:t>Water below 95% of crest: very low failure probability</a:t>
            </a:r>
          </a:p>
          <a:p>
            <a:pPr lvl="0"/>
            <a:r>
              <a:rPr/>
              <a:t>Water at 95%+: failure probability ramps linearly</a:t>
            </a:r>
          </a:p>
          <a:p>
            <a:pPr lvl="0"/>
            <a:r>
              <a:rPr/>
              <a:t>At 100%: certain overtopping</a:t>
            </a:r>
          </a:p>
          <a:p>
            <a:pPr lvl="0" indent="0" marL="0">
              <a:buNone/>
            </a:pPr>
            <a:r>
              <a:rPr b="1"/>
              <a:t>The levee effect:</a:t>
            </a:r>
            <a:r>
              <a:rPr/>
              <a:t> People behind dikes often </a:t>
            </a:r>
            <a:r>
              <a:rPr i="1"/>
              <a:t>don’t evacuate</a:t>
            </a:r>
            <a:r>
              <a:rPr/>
              <a:t>. If the dike fails, they’re caught off guard. ICOW models this: damage behind a failed dike is </a:t>
            </a:r>
            <a:r>
              <a:rPr b="1"/>
              <a:t>1.3× worse</a:t>
            </a:r>
            <a:r>
              <a:rPr/>
              <a:t> than open flooding.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Map Your City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in pairs. Use Google Maps to estimate ICOW geometry parameters for a real coastal city.</a:t>
            </a:r>
          </a:p>
          <a:p>
            <a:pPr lvl="0" indent="0" marL="0">
              <a:buNone/>
            </a:pPr>
            <a:r>
              <a:rPr b="1"/>
              <a:t>You’ll need:</a:t>
            </a:r>
          </a:p>
          <a:p>
            <a:pPr lvl="0"/>
            <a:r>
              <a:rPr/>
              <a:t>Google Maps with terrain view</a:t>
            </a:r>
          </a:p>
          <a:p>
            <a:pPr lvl="0"/>
            <a:r>
              <a:rPr/>
              <a:t>ICOW.jl documentation: </a:t>
            </a:r>
            <a:r>
              <a:rPr>
                <a:hlinkClick r:id="rId3"/>
              </a:rPr>
              <a:t>https://dossgollin-lab.github.io/ICOW.jl/equations.html#parameters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a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Before we look anything up—take 30 seconds:</a:t>
                </a:r>
              </a:p>
              <a:p>
                <a:pPr lvl="0" indent="0" marL="0">
                  <a:buNone/>
                </a:pPr>
                <a:r>
                  <a:rPr b="1"/>
                  <a:t>Which city do you think has the steepest geometry?</a:t>
                </a:r>
                <a:r>
                  <a:rPr/>
                  <a:t> (highest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</m:oMath>
                </a14:m>
                <a:r>
                  <a:rPr/>
                  <a:t> ratio)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Miami Beach</a:t>
            </a:r>
          </a:p>
          <a:p>
            <a:pPr lvl="0"/>
            <a:r>
              <a:rPr/>
              <a:t>Galveston</a:t>
            </a:r>
          </a:p>
          <a:p>
            <a:pPr lvl="0"/>
            <a:r>
              <a:rPr/>
              <a:t>New Orleans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Rotterdam</a:t>
            </a:r>
          </a:p>
          <a:p>
            <a:pPr lvl="0"/>
            <a:r>
              <a:rPr/>
              <a:t>Mumbai</a:t>
            </a:r>
          </a:p>
          <a:p>
            <a:pPr lvl="0"/>
            <a:r>
              <a:rPr/>
              <a:t>Venice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down your guess. We’ll check later.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a City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Galveston, TX</a:t>
            </a:r>
          </a:p>
          <a:p>
            <a:pPr lvl="0"/>
            <a:r>
              <a:rPr/>
              <a:t>Miami Beach, FL</a:t>
            </a:r>
          </a:p>
          <a:p>
            <a:pPr lvl="0"/>
            <a:r>
              <a:rPr/>
              <a:t>New Orleans, LA</a:t>
            </a:r>
          </a:p>
          <a:p>
            <a:pPr lvl="0"/>
            <a:r>
              <a:rPr/>
              <a:t>Boston, 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Mumbai, India</a:t>
            </a:r>
          </a:p>
          <a:p>
            <a:pPr lvl="0"/>
            <a:r>
              <a:rPr/>
              <a:t>Jakarta, Indonesia</a:t>
            </a:r>
          </a:p>
          <a:p>
            <a:pPr lvl="0"/>
            <a:r>
              <a:rPr/>
              <a:t>Lagos, Nigeria</a:t>
            </a:r>
          </a:p>
          <a:p>
            <a:pPr lvl="0"/>
            <a:r>
              <a:rPr/>
              <a:t>Shanghai, China</a:t>
            </a:r>
          </a:p>
        </p:txBody>
      </p:sp>
    </p:spTree>
  </p:cSld>
</p:sld>
</file>

<file path=ppt/slides/slide2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Estimate These Parameters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3238500" /><a:gridCol w="4991100" /></a:tblGrid><a:tr h="0"><a:tc><a:txBody><a:bodyPr /><a:lstStyle /><a:p><a:pPr lvl="0" indent="0" marL="0"><a:buNone /></a:pPr><a:r><a:rPr /><a:t>Parameter</a:t></a:r></a:p></a:txBody><a:tcPr /></a:tc><a:tc><a:txBody><a:bodyPr /><a:lstStyle /><a:p><a:pPr lvl="0" indent="0" marL="0"><a:buNone /></a:pPr><a:r><a:rPr /><a:t>How to Estimate</a:t></a:r></a:p></a:txBody><a:tcPr /></a:tc></a:tr><a:tr h="0"><a:tc><a:txBody><a:bodyPr /><a:lstStyle /><a:p><a:pPr lvl="0" indent="0" marL="0"><a:buNone /></a:pPr><a14:m><m:oMath xmlns:m="http://schemas.openxmlformats.org/officeDocument/2006/math"><m:sSub><m:e><m:r><m:t>H</m:t></m:r></m:e><m:sub><m:r><m:rPr><m:nor /><m:sty m:val="p" /></m:rPr><m:t>city</m:t></m:r></m:sub></m:sSub></m:oMath></a14:m></a:p></a:txBody></a:tc><a:tc><a:txBody><a:bodyPr /><a:lstStyle /><a:p><a:pPr lvl="0" indent="0" marL="0"><a:buNone /></a:pPr><a:r><a:rPr /><a:t>Elevation change: waterfront → highest urban point</a:t></a:r></a:p></a:txBody></a:tc></a:tr><a:tr h="0"><a:tc><a:txBody><a:bodyPr /><a:lstStyle /><a:p><a:pPr lvl="0" indent="0" marL="0"><a:buNone /></a:pPr><a14:m><m:oMath xmlns:m="http://schemas.openxmlformats.org/officeDocument/2006/math"><m:sSub><m:e><m:r><m:t>D</m:t></m:r></m:e><m:sub><m:r><m:rPr><m:nor /><m:sty m:val="p" /></m:rPr><m:t>city</m:t></m:r></m:sub></m:sSub></m:oMath></a14:m></a:p></a:txBody></a:tc><a:tc><a:txBody><a:bodyPr /><a:lstStyle /><a:p><a:pPr lvl="0" indent="0" marL="0"><a:buNone /></a:pPr><a:r><a:rPr /><a:t>Horizontal distance: waterfront → highest point</a:t></a:r></a:p></a:txBody></a:tc></a:tr><a:tr h="0"><a:tc><a:txBody><a:bodyPr /><a:lstStyle /><a:p><a:pPr lvl="0" indent="0" marL="0"><a:buNone /></a:pPr><a14:m><m:oMath xmlns:m="http://schemas.openxmlformats.org/officeDocument/2006/math"><m:sSub><m:e><m:r><m:t>W</m:t></m:r></m:e><m:sub><m:r><m:rPr><m:nor /><m:sty m:val="p" /></m:rPr><m:t>city</m:t></m:r></m:sub></m:sSub></m:oMath></a14:m></a:p></a:txBody></a:tc><a:tc><a:txBody><a:bodyPr /><a:lstStyle /><a:p><a:pPr lvl="0" indent="0" marL="0"><a:buNone /></a:pPr><a:r><a:rPr /><a:t>Length of exposed coastline</a:t></a:r></a:p></a:txBody></a:tc></a:tr><a:tr h="0"><a:tc><a:txBody><a:bodyPr /><a:lstStyle /><a:p><a:pPr lvl="0" indent="0" marL="0"><a:buNone /></a:pPr><a14:m><m:oMath xmlns:m="http://schemas.openxmlformats.org/officeDocument/2006/math"><m:sSub><m:e><m:r><m:t>H</m:t></m:r></m:e><m:sub><m:r><m:rPr><m:nor /><m:sty m:val="p" /></m:rPr><m:t>seawall</m:t></m:r></m:sub></m:sSub></m:oMath></a14:m></a:p></a:txBody></a:tc><a:tc><a:txBody><a:bodyPr /><a:lstStyle /><a:p><a:pPr lvl="0" indent="0" marL="0"><a:buNone /></a:pPr><a:r><a:rPr /><a:t>Existing protection height (search online)</a:t></a:r></a:p></a:txBody></a:tc></a:tr></a:tbl></a:graphicData></a:graphic></p:graphicFrame></p:spTree></p:cSld>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Tools:</a:t>
            </a:r>
            <a:r>
              <a:rPr/>
              <a:t> Google Maps terrain view, Google Earth elevation, Wikipedia</a:t>
            </a:r>
          </a:p>
          <a:p>
            <a:pPr lvl="0" indent="0" marL="0">
              <a:buNone/>
            </a:pPr>
            <a:r>
              <a:rPr/>
              <a:t>You’ll need all four parameters for Friday’s lab!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 Out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Pair up with a table that studied a different city: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Compare your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city</m:t>
                        </m:r>
                      </m:sub>
                    </m:sSub>
                  </m:oMath>
                </a14:m>
                <a:r>
                  <a:rPr/>
                  <a:t> ratios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Which city is steeper? Which is flatter?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does that imply for dike strategy?</a:t>
                </a:r>
              </a:p>
              <a:p>
                <a:pPr lvl="0" indent="0" marL="0">
                  <a:buNone/>
                </a:pPr>
                <a:r>
                  <a:rPr b="1"/>
                  <a:t>Class discussion:</a:t>
                </a:r>
                <a:r>
                  <a:rPr/>
                  <a:t> A steep city vs. a flat city—who benefits more from a 3m dike?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ICOW abstracts complex cities into a few key parameters</a:t>
            </a:r>
          </a:p>
          <a:p>
            <a:pPr lvl="0" indent="-342900" marL="342900">
              <a:buAutoNum type="arabicPeriod"/>
            </a:pPr>
            <a:r>
              <a:rPr/>
              <a:t>The wedge geometry captures essential physics: higher surges flood more area</a:t>
            </a:r>
          </a:p>
          <a:p>
            <a:pPr lvl="0" indent="-342900" marL="342900">
              <a:buAutoNum type="arabicPeriod"/>
            </a:pPr>
            <a:r>
              <a:rPr/>
              <a:t>Different cities → different optimal strategies</a:t>
            </a:r>
          </a:p>
          <a:p>
            <a:pPr lvl="0" indent="-342900" marL="342900">
              <a:buAutoNum type="arabicPeriod"/>
            </a:pPr>
            <a:r>
              <a:rPr/>
              <a:t>Friday’s lab: You’ll use ICOW.jl to compute EAD for a single year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Preview: Friday’s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 we’ll implement single-year EAD analysis:</a:t>
            </a:r>
          </a:p>
          <a:p>
            <a:pPr lvl="0"/>
            <a:r>
              <a:rPr/>
              <a:t>Use the same parameters you estimated today</a:t>
            </a:r>
          </a:p>
          <a:p>
            <a:pPr lvl="0"/>
            <a:r>
              <a:rPr/>
              <a:t>Add a storm surge distribution</a:t>
            </a:r>
          </a:p>
          <a:p>
            <a:pPr lvl="0"/>
            <a:r>
              <a:rPr/>
              <a:t>Compute expected annual damage</a:t>
            </a:r>
          </a:p>
          <a:p>
            <a:pPr lvl="0"/>
            <a:r>
              <a:rPr/>
              <a:t>Explore how the five levers change EAD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More Thing…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Rotterdam is 6 meters </a:t>
            </a:r>
            <a:r>
              <a:rPr i="1"/>
              <a:t>below</a:t>
            </a:r>
            <a:r>
              <a:rPr/>
              <a:t> sea level.</a:t>
            </a:r>
          </a:p>
          <a:p>
            <a:pPr lvl="0" indent="0" marL="0">
              <a:buNone/>
            </a:pPr>
            <a:r>
              <a:rPr/>
              <a:t>How does ICOW even work there?</a:t>
            </a:r>
          </a:p>
          <a:p>
            <a:pPr lvl="0" indent="0" marL="0">
              <a:buNone/>
            </a:pPr>
            <a:r>
              <a:rPr/>
              <a:t>(We’ll find out Friday.)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Ceres, Robert L., Chris E. Forest, and Klaus Keller. 2019. “Optimization of Multiple Storm Surge Risk Mitigation Strategies for an Island City On a Wedge.” </a:t>
            </a:r>
            <a:r>
              <a:rPr i="1"/>
              <a:t>Environmental Modelling &amp; Software</a:t>
            </a:r>
            <a:r>
              <a:rPr/>
              <a:t> 119 (September): 341–53. </a:t>
            </a:r>
            <a:r>
              <a:rPr>
                <a:hlinkClick r:id="rId2"/>
              </a:rPr>
              <a:t>https://doi.org/10.1016/j.envsoft.2019.06.011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 City On a Wedge</dc:title>
  <dc:creator>James Doss-Gollin</dc:creator>
  <cp:keywords/>
  <dcterms:created xsi:type="dcterms:W3CDTF">2026-04-09T22:24:43Z</dcterms:created>
  <dcterms:modified xsi:type="dcterms:W3CDTF">2026-04-09T22:24:43Z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>../../references.bib</vt:lpwstr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2026-02-04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ion">
    <vt:lpwstr>Rice University</vt:lpwstr>
  </property>
  <property fmtid="{D5CDD505-2E9C-101B-9397-08002B2CF9AE}" pid="15" name="labels">
    <vt:lpwstr/>
  </property>
  <property fmtid="{D5CDD505-2E9C-101B-9397-08002B2CF9AE}" pid="16" name="status">
    <vt:lpwstr>published</vt:lpwstr>
  </property>
  <property fmtid="{D5CDD505-2E9C-101B-9397-08002B2CF9AE}" pid="17" name="subtitle">
    <vt:lpwstr>Paper Discussion</vt:lpwstr>
  </property>
  <property fmtid="{D5CDD505-2E9C-101B-9397-08002B2CF9AE}" pid="18" name="toc-title">
    <vt:lpwstr>Table of contents</vt:lpwstr>
  </property>
  <property fmtid="{D5CDD505-2E9C-101B-9397-08002B2CF9AE}" pid="19" name="week">
    <vt:lpwstr>4</vt:lpwstr>
  </property>
</Properties>
</file>